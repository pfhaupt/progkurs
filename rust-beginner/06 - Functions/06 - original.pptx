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9"/>
  </p:notesMasterIdLst>
  <p:sldIdLst>
    <p:sldId id="256" r:id="rId2"/>
    <p:sldId id="257" r:id="rId3"/>
    <p:sldId id="258" r:id="rId4"/>
    <p:sldId id="260" r:id="rId5"/>
    <p:sldId id="576" r:id="rId6"/>
    <p:sldId id="261" r:id="rId7"/>
    <p:sldId id="262" r:id="rId8"/>
    <p:sldId id="263" r:id="rId9"/>
    <p:sldId id="264" r:id="rId10"/>
    <p:sldId id="265" r:id="rId11"/>
    <p:sldId id="546" r:id="rId12"/>
    <p:sldId id="266" r:id="rId13"/>
    <p:sldId id="267" r:id="rId14"/>
    <p:sldId id="268" r:id="rId15"/>
    <p:sldId id="269" r:id="rId16"/>
    <p:sldId id="270" r:id="rId17"/>
    <p:sldId id="278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459" r:id="rId41"/>
    <p:sldId id="460" r:id="rId42"/>
    <p:sldId id="463" r:id="rId43"/>
    <p:sldId id="464" r:id="rId44"/>
    <p:sldId id="465" r:id="rId45"/>
    <p:sldId id="466" r:id="rId46"/>
    <p:sldId id="544" r:id="rId47"/>
    <p:sldId id="545" r:id="rId48"/>
    <p:sldId id="471" r:id="rId49"/>
    <p:sldId id="472" r:id="rId50"/>
    <p:sldId id="473" r:id="rId51"/>
    <p:sldId id="474" r:id="rId52"/>
    <p:sldId id="475" r:id="rId53"/>
    <p:sldId id="476" r:id="rId54"/>
    <p:sldId id="477" r:id="rId55"/>
    <p:sldId id="478" r:id="rId56"/>
    <p:sldId id="479" r:id="rId57"/>
    <p:sldId id="480" r:id="rId58"/>
    <p:sldId id="500" r:id="rId59"/>
    <p:sldId id="501" r:id="rId60"/>
    <p:sldId id="502" r:id="rId61"/>
    <p:sldId id="503" r:id="rId62"/>
    <p:sldId id="504" r:id="rId63"/>
    <p:sldId id="505" r:id="rId64"/>
    <p:sldId id="506" r:id="rId65"/>
    <p:sldId id="507" r:id="rId66"/>
    <p:sldId id="508" r:id="rId67"/>
    <p:sldId id="509" r:id="rId68"/>
    <p:sldId id="510" r:id="rId69"/>
    <p:sldId id="511" r:id="rId70"/>
    <p:sldId id="512" r:id="rId71"/>
    <p:sldId id="513" r:id="rId72"/>
    <p:sldId id="514" r:id="rId73"/>
    <p:sldId id="515" r:id="rId74"/>
    <p:sldId id="516" r:id="rId75"/>
    <p:sldId id="517" r:id="rId76"/>
    <p:sldId id="518" r:id="rId77"/>
    <p:sldId id="549" r:id="rId78"/>
    <p:sldId id="550" r:id="rId79"/>
    <p:sldId id="551" r:id="rId80"/>
    <p:sldId id="552" r:id="rId81"/>
    <p:sldId id="553" r:id="rId82"/>
    <p:sldId id="554" r:id="rId83"/>
    <p:sldId id="555" r:id="rId84"/>
    <p:sldId id="556" r:id="rId85"/>
    <p:sldId id="557" r:id="rId86"/>
    <p:sldId id="558" r:id="rId87"/>
    <p:sldId id="559" r:id="rId88"/>
    <p:sldId id="560" r:id="rId89"/>
    <p:sldId id="561" r:id="rId90"/>
    <p:sldId id="562" r:id="rId91"/>
    <p:sldId id="563" r:id="rId92"/>
    <p:sldId id="564" r:id="rId93"/>
    <p:sldId id="565" r:id="rId94"/>
    <p:sldId id="566" r:id="rId95"/>
    <p:sldId id="567" r:id="rId96"/>
    <p:sldId id="299" r:id="rId97"/>
    <p:sldId id="300" r:id="rId98"/>
    <p:sldId id="301" r:id="rId99"/>
    <p:sldId id="302" r:id="rId100"/>
    <p:sldId id="303" r:id="rId101"/>
    <p:sldId id="304" r:id="rId102"/>
    <p:sldId id="305" r:id="rId103"/>
    <p:sldId id="306" r:id="rId104"/>
    <p:sldId id="307" r:id="rId105"/>
    <p:sldId id="308" r:id="rId106"/>
    <p:sldId id="309" r:id="rId107"/>
    <p:sldId id="310" r:id="rId108"/>
    <p:sldId id="311" r:id="rId109"/>
    <p:sldId id="312" r:id="rId110"/>
    <p:sldId id="313" r:id="rId111"/>
    <p:sldId id="314" r:id="rId112"/>
    <p:sldId id="315" r:id="rId113"/>
    <p:sldId id="316" r:id="rId114"/>
    <p:sldId id="317" r:id="rId115"/>
    <p:sldId id="318" r:id="rId116"/>
    <p:sldId id="320" r:id="rId117"/>
    <p:sldId id="321" r:id="rId118"/>
    <p:sldId id="322" r:id="rId119"/>
    <p:sldId id="323" r:id="rId120"/>
    <p:sldId id="324" r:id="rId121"/>
    <p:sldId id="568" r:id="rId122"/>
    <p:sldId id="569" r:id="rId123"/>
    <p:sldId id="570" r:id="rId124"/>
    <p:sldId id="331" r:id="rId125"/>
    <p:sldId id="332" r:id="rId126"/>
    <p:sldId id="333" r:id="rId127"/>
    <p:sldId id="334" r:id="rId128"/>
    <p:sldId id="335" r:id="rId129"/>
    <p:sldId id="336" r:id="rId130"/>
    <p:sldId id="337" r:id="rId131"/>
    <p:sldId id="338" r:id="rId132"/>
    <p:sldId id="339" r:id="rId133"/>
    <p:sldId id="340" r:id="rId134"/>
    <p:sldId id="341" r:id="rId135"/>
    <p:sldId id="342" r:id="rId136"/>
    <p:sldId id="343" r:id="rId137"/>
    <p:sldId id="344" r:id="rId138"/>
    <p:sldId id="345" r:id="rId139"/>
    <p:sldId id="346" r:id="rId140"/>
    <p:sldId id="347" r:id="rId141"/>
    <p:sldId id="348" r:id="rId142"/>
    <p:sldId id="349" r:id="rId143"/>
    <p:sldId id="350" r:id="rId144"/>
    <p:sldId id="351" r:id="rId145"/>
    <p:sldId id="352" r:id="rId146"/>
    <p:sldId id="353" r:id="rId147"/>
    <p:sldId id="354" r:id="rId148"/>
    <p:sldId id="355" r:id="rId149"/>
    <p:sldId id="481" r:id="rId150"/>
    <p:sldId id="577" r:id="rId151"/>
    <p:sldId id="482" r:id="rId152"/>
    <p:sldId id="483" r:id="rId153"/>
    <p:sldId id="484" r:id="rId154"/>
    <p:sldId id="485" r:id="rId155"/>
    <p:sldId id="487" r:id="rId156"/>
    <p:sldId id="488" r:id="rId157"/>
    <p:sldId id="489" r:id="rId158"/>
    <p:sldId id="490" r:id="rId159"/>
    <p:sldId id="491" r:id="rId160"/>
    <p:sldId id="578" r:id="rId161"/>
    <p:sldId id="492" r:id="rId162"/>
    <p:sldId id="493" r:id="rId163"/>
    <p:sldId id="494" r:id="rId164"/>
    <p:sldId id="584" r:id="rId165"/>
    <p:sldId id="497" r:id="rId166"/>
    <p:sldId id="579" r:id="rId167"/>
    <p:sldId id="587" r:id="rId168"/>
    <p:sldId id="580" r:id="rId169"/>
    <p:sldId id="588" r:id="rId170"/>
    <p:sldId id="581" r:id="rId171"/>
    <p:sldId id="582" r:id="rId172"/>
    <p:sldId id="583" r:id="rId173"/>
    <p:sldId id="585" r:id="rId174"/>
    <p:sldId id="589" r:id="rId175"/>
    <p:sldId id="590" r:id="rId176"/>
    <p:sldId id="586" r:id="rId177"/>
    <p:sldId id="591" r:id="rId178"/>
    <p:sldId id="519" r:id="rId179"/>
    <p:sldId id="528" r:id="rId180"/>
    <p:sldId id="529" r:id="rId181"/>
    <p:sldId id="530" r:id="rId182"/>
    <p:sldId id="531" r:id="rId183"/>
    <p:sldId id="571" r:id="rId184"/>
    <p:sldId id="572" r:id="rId185"/>
    <p:sldId id="573" r:id="rId186"/>
    <p:sldId id="574" r:id="rId187"/>
    <p:sldId id="575" r:id="rId188"/>
    <p:sldId id="532" r:id="rId189"/>
    <p:sldId id="533" r:id="rId190"/>
    <p:sldId id="534" r:id="rId191"/>
    <p:sldId id="535" r:id="rId192"/>
    <p:sldId id="536" r:id="rId193"/>
    <p:sldId id="537" r:id="rId194"/>
    <p:sldId id="538" r:id="rId195"/>
    <p:sldId id="539" r:id="rId196"/>
    <p:sldId id="540" r:id="rId197"/>
    <p:sldId id="541" r:id="rId19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0000"/>
    <a:srgbClr val="B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728" autoAdjust="0"/>
  </p:normalViewPr>
  <p:slideViewPr>
    <p:cSldViewPr snapToGrid="0">
      <p:cViewPr varScale="1">
        <p:scale>
          <a:sx n="156" d="100"/>
          <a:sy n="156" d="100"/>
        </p:scale>
        <p:origin x="34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notesMaster" Target="notesMasters/notesMaster1.xml"/><Relationship Id="rId203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viewProps" Target="view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theme" Target="theme/theme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Lato"/>
              </a:defRPr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Lato"/>
              </a:defRPr>
            </a:lvl1pPr>
          </a:lstStyle>
          <a:p>
            <a:fld id="{536D3CD3-D866-4360-A6D3-65E196EA5799}" type="datetimeFigureOut">
              <a:rPr lang="de-DE" smtClean="0"/>
              <a:pPr/>
              <a:t>02.12.2025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Lato"/>
              </a:defRPr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Lato"/>
              </a:defRPr>
            </a:lvl1pPr>
          </a:lstStyle>
          <a:p>
            <a:fld id="{5D953130-A4BB-401C-97CA-33B238796D9E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5833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400" y="673"/>
            <a:ext cx="2191600" cy="21916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Lat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1" y="654"/>
            <a:ext cx="6871607" cy="6845865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600" cy="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5E02C-1D04-C434-4012-E91BF6D3D15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4866C04B-BC3F-4C02-9990-E3C1D1E384F5}" type="datetime1">
              <a:rPr lang="de-DE" smtClean="0"/>
              <a:pPr/>
              <a:t>02.12.2025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35C2A-909A-0981-65DD-B67627BD99A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3356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200" y="1"/>
            <a:ext cx="6316800" cy="6857420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1098467" y="2737333"/>
            <a:ext cx="6116000" cy="1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322E1-1580-77E1-1968-C1D465C642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3FCD994F-FC76-4690-8795-1D7B63584B85}" type="datetime1">
              <a:rPr lang="de-DE" smtClean="0"/>
              <a:pPr/>
              <a:t>02.12.2025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BEFDD5-75D2-F22A-0239-47782139EBE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1010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600"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400"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400"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200"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F2C6A1-8DB4-CC61-9F25-552C981AC8B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60283CF9-750B-43C7-96A8-F80DC5BFBC83}" type="datetime1">
              <a:rPr lang="de-DE" smtClean="0"/>
              <a:pPr/>
              <a:t>02.12.2025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70957-C740-2757-2171-2AB52CD73CD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0822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45376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6577628" y="2090067"/>
            <a:ext cx="45376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F27596-14F9-142A-C6EE-E8288E2454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C6D84A3D-FC8B-4CDA-A43E-B99C68DC80DC}" type="datetime1">
              <a:rPr lang="de-DE" smtClean="0"/>
              <a:pPr/>
              <a:t>02.12.2025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32A97D-91AA-8A52-C97E-9F3BDF95E66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2846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84FE6-DBA5-DB3C-A653-C0ED8520414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0C03B896-147E-412E-8414-DA383F6884FB}" type="datetime1">
              <a:rPr lang="de-DE" smtClean="0"/>
              <a:pPr/>
              <a:t>02.12.2025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4B3D48-E7F2-DEE3-3035-24E59946D7E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2982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730000" y="2630067"/>
            <a:ext cx="5065200" cy="32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3DCDD-2FBE-84CF-1266-B4597B7005E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45656FCF-1F15-482D-8FF9-593195A4119C}" type="datetime1">
              <a:rPr lang="de-DE" smtClean="0"/>
              <a:pPr/>
              <a:t>02.12.2025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A6E3F-03B5-A012-AA3C-51E8681E661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7054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200" y="0"/>
            <a:ext cx="6316800" cy="68580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1098467" y="1155700"/>
            <a:ext cx="6116000" cy="4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07798-DE50-15C8-656C-CA61E9C8313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FB5238EF-9F55-46F1-BEE9-ADB6020781D0}" type="datetime1">
              <a:rPr lang="de-DE" smtClean="0"/>
              <a:pPr/>
              <a:t>02.12.2025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35FA4-1B4D-27D1-9652-2771001ADF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2505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730000" y="2211100"/>
            <a:ext cx="4048400" cy="23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730000" y="4717333"/>
            <a:ext cx="4048400" cy="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6197600" y="2262133"/>
            <a:ext cx="4902400" cy="31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6403A9-CB77-6F63-E8A2-1C909EE533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3BA165EC-E72A-4F77-9AB7-966146A009BB}" type="datetime1">
              <a:rPr lang="de-DE" smtClean="0"/>
              <a:pPr/>
              <a:t>02.12.2025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C16977-77CE-7C1B-80DA-950BC5B3F9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910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1" y="5504763"/>
            <a:ext cx="931900" cy="912876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1083633" y="5740500"/>
            <a:ext cx="9248000" cy="6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6158AE-3BA6-5196-9F05-10AA6EB27DF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C5AD97C3-BC25-41EF-8FEA-4A6FC01A2B37}" type="datetime1">
              <a:rPr lang="de-DE" smtClean="0"/>
              <a:pPr/>
              <a:t>02.12.2025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D4A692-F0C9-AF1C-145C-A45885A71D0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6792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200" y="1"/>
            <a:ext cx="6316800" cy="6857420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1098467" y="1712900"/>
            <a:ext cx="63680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1098467" y="3524165"/>
            <a:ext cx="6368000" cy="1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436DB-340F-4646-13CF-32D4D213E6B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35BC35AD-DBDE-4DAD-A828-3012B08F957F}" type="datetime1">
              <a:rPr lang="de-DE" smtClean="0"/>
              <a:pPr/>
              <a:t>02.12.2025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EA074-83FF-2A59-9E72-8DEB7C8D26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103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60905-4AF1-4212-7A94-81502EEF8A5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5D60F6FD-FEC1-42BE-8D78-18EA66B209C9}" type="datetime1">
              <a:rPr lang="de-DE" smtClean="0"/>
              <a:pPr/>
              <a:t>02.12.2025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192D9-E47E-4BA2-F2BD-45C43EE73C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8681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2DD238-3295-044E-F400-315BD3066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Lato"/>
              </a:defRPr>
            </a:lvl1pPr>
          </a:lstStyle>
          <a:p>
            <a:fld id="{62AB295D-2437-4CA6-8BC7-994FC0BDBD1E}" type="datetime1">
              <a:rPr lang="de-DE" smtClean="0"/>
              <a:pPr/>
              <a:t>02.12.2025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B2F10F-A83E-3417-0420-ACEC0274A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Lato"/>
              </a:defRPr>
            </a:lvl1pPr>
          </a:lstStyle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32574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980B-A2ED-E6BF-A8E8-BECC7CC538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510955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7AA12-CA29-8AA1-75F5-464A8305C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95CFB-AFF3-C700-BB18-20CEE0527BC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1A5E96F-8A59-48AB-8B08-8A25511F221B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7C19C-E02E-AD39-63A0-6AF2B871090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7276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2CD0-3C96-80FD-6538-92FA413A8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6F1C9-184A-7E96-B3B7-500C284D9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79BD2-E8E5-6C7A-D17B-6FA92060655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0A87B00-0ABF-497B-B5F5-B4A38478A19E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E3BC5-B538-EE4C-AAC2-F258476569F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8791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2CD0-3C96-80FD-6538-92FA413A8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6F1C9-184A-7E96-B3B7-500C284D9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de-DE"/>
              <a:t>Recap</a:t>
            </a:r>
          </a:p>
          <a:p>
            <a:pPr>
              <a:buFont typeface="+mj-lt"/>
              <a:buAutoNum type="arabicPeriod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79BD2-E8E5-6C7A-D17B-6FA92060655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AF793E-9FAC-4A87-BFEE-938569570AC3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E3BC5-B538-EE4C-AAC2-F258476569F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9118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3E553-994C-9EF3-0B8C-F0DCCD03C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22911-FA0E-57C8-DAE4-16E9FFA4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48A95-96FA-371E-9BBE-9BBC150F5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de-DE"/>
              <a:t>Recap</a:t>
            </a:r>
          </a:p>
          <a:p>
            <a:pPr>
              <a:buFont typeface="+mj-lt"/>
              <a:buAutoNum type="arabicPeriod"/>
            </a:pPr>
            <a:r>
              <a:rPr lang="de-DE"/>
              <a:t>Functions</a:t>
            </a:r>
          </a:p>
          <a:p>
            <a:pPr>
              <a:buFont typeface="+mj-lt"/>
              <a:buAutoNum type="arabicPeriod"/>
            </a:pPr>
            <a:r>
              <a:rPr lang="de-DE"/>
              <a:t>Floating Point Numbers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00235-8CD4-FD93-0183-3B47134910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AF793E-9FAC-4A87-BFEE-938569570AC3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BC643-09FA-F8E6-9410-44AC4DFB540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9105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D67FF168-D121-4EF0-A374-7BF4DE7DECA5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8959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9F48D5A-6DCC-C2D2-9144-AA1BED609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loop {}</a:t>
            </a:r>
            <a:r>
              <a:rPr lang="de-DE" dirty="0">
                <a:solidFill>
                  <a:srgbClr val="00FF00"/>
                </a:solidFill>
              </a:rPr>
              <a:t> </a:t>
            </a:r>
            <a:r>
              <a:rPr lang="de-DE" dirty="0"/>
              <a:t>to create an infinite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while condition {} </a:t>
            </a:r>
            <a:r>
              <a:rPr lang="de-DE" dirty="0"/>
              <a:t>to create a conditional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for elem in collection {} </a:t>
            </a:r>
            <a:r>
              <a:rPr lang="de-DE" dirty="0"/>
              <a:t>to create an iterator over a collection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B3A109-976E-4463-8FAD-AD8FBB5059C4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4263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9F48D5A-6DCC-C2D2-9144-AA1BED609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loop {}</a:t>
            </a:r>
            <a:r>
              <a:rPr lang="de-DE" dirty="0">
                <a:solidFill>
                  <a:srgbClr val="00FF00"/>
                </a:solidFill>
              </a:rPr>
              <a:t> </a:t>
            </a:r>
            <a:r>
              <a:rPr lang="de-DE" dirty="0"/>
              <a:t>to create an infinite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while condition {} </a:t>
            </a:r>
            <a:r>
              <a:rPr lang="de-DE" dirty="0"/>
              <a:t>to create a conditional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for elem in collection {} </a:t>
            </a:r>
            <a:r>
              <a:rPr lang="de-DE" dirty="0"/>
              <a:t>to create an iterator over a collection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Ownership-Model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Every value in Rust has </a:t>
            </a:r>
            <a:r>
              <a:rPr lang="de-DE" dirty="0">
                <a:solidFill>
                  <a:srgbClr val="00FF00"/>
                </a:solidFill>
              </a:rPr>
              <a:t>exactly one owner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Values are dropped </a:t>
            </a:r>
            <a:r>
              <a:rPr lang="de-DE" dirty="0"/>
              <a:t>(memory is freed) </a:t>
            </a:r>
            <a:r>
              <a:rPr lang="de-DE" dirty="0">
                <a:solidFill>
                  <a:srgbClr val="00FF00"/>
                </a:solidFill>
              </a:rPr>
              <a:t>when the owner is dropped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Ownership-Conflicts</a:t>
            </a:r>
            <a:r>
              <a:rPr lang="de-DE" dirty="0"/>
              <a:t> are resolved by </a:t>
            </a:r>
            <a:r>
              <a:rPr lang="de-DE" dirty="0">
                <a:solidFill>
                  <a:srgbClr val="00FF00"/>
                </a:solidFill>
              </a:rPr>
              <a:t>moving ownership, if we can‘t copy the value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F6D7166-15D4-48AA-B4C4-70ED8019783E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7624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9F48D5A-6DCC-C2D2-9144-AA1BED609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loop {}</a:t>
            </a:r>
            <a:r>
              <a:rPr lang="de-DE" dirty="0">
                <a:solidFill>
                  <a:srgbClr val="00FF00"/>
                </a:solidFill>
              </a:rPr>
              <a:t> </a:t>
            </a:r>
            <a:r>
              <a:rPr lang="de-DE" dirty="0"/>
              <a:t>to create an infinite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while condition {} </a:t>
            </a:r>
            <a:r>
              <a:rPr lang="de-DE" dirty="0"/>
              <a:t>to create a conditional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for elem in collection {} </a:t>
            </a:r>
            <a:r>
              <a:rPr lang="de-DE" dirty="0"/>
              <a:t>to create an iterator over a collection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Ownership-Model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References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Way to </a:t>
            </a:r>
            <a:r>
              <a:rPr lang="de-DE" dirty="0">
                <a:solidFill>
                  <a:srgbClr val="00FF00"/>
                </a:solidFill>
              </a:rPr>
              <a:t>borrow data without moving or copying it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Can be immutable or mutable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6B6D682-6AA4-4379-82CE-198589094E91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2123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9F48D5A-6DCC-C2D2-9144-AA1BED609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loop {}</a:t>
            </a:r>
            <a:r>
              <a:rPr lang="de-DE" dirty="0">
                <a:solidFill>
                  <a:srgbClr val="00FF00"/>
                </a:solidFill>
              </a:rPr>
              <a:t> </a:t>
            </a:r>
            <a:r>
              <a:rPr lang="de-DE" dirty="0"/>
              <a:t>to create an infinite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while condition {} </a:t>
            </a:r>
            <a:r>
              <a:rPr lang="de-DE" dirty="0"/>
              <a:t>to create a conditional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for elem in collection {} </a:t>
            </a:r>
            <a:r>
              <a:rPr lang="de-DE" dirty="0"/>
              <a:t>to create an iterator over a collection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Ownership-Model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References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Borrow Checker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zero mutable references </a:t>
            </a:r>
            <a:r>
              <a:rPr lang="de-DE" dirty="0">
                <a:solidFill>
                  <a:schemeClr val="bg1"/>
                </a:solidFill>
              </a:rPr>
              <a:t>to a value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infinite immutable references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allowed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one mutable reference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to a value 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zero immutable references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allowed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two+ mutable references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to a value  </a:t>
            </a:r>
            <a:r>
              <a:rPr lang="de-DE" dirty="0">
                <a:solidFill>
                  <a:srgbClr val="FF0000"/>
                </a:solidFill>
                <a:sym typeface="Wingdings" panose="05000000000000000000" pitchFamily="2" charset="2"/>
              </a:rPr>
              <a:t>forbidden, compiler error</a:t>
            </a:r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4ED6A6C-0FD1-47B2-B685-D86A0AE52D42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0585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94C7D-E92A-BE53-ADCE-0A9CF5EA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8EBF5-961E-9CDB-867B-23866EF5B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97C230-C6D6-594B-F556-B49E14B3D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loop {}</a:t>
            </a:r>
            <a:r>
              <a:rPr lang="de-DE" dirty="0">
                <a:solidFill>
                  <a:srgbClr val="00FF00"/>
                </a:solidFill>
              </a:rPr>
              <a:t> </a:t>
            </a:r>
            <a:r>
              <a:rPr lang="de-DE" dirty="0"/>
              <a:t>to create an infinite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while condition {} </a:t>
            </a:r>
            <a:r>
              <a:rPr lang="de-DE" dirty="0"/>
              <a:t>to create a conditional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for elem in collection {} </a:t>
            </a:r>
            <a:r>
              <a:rPr lang="de-DE" dirty="0"/>
              <a:t>to create an iterator over a collection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Ownership-Model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References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>
                <a:solidFill>
                  <a:srgbClr val="00FF00"/>
                </a:solidFill>
              </a:rPr>
              <a:t>Borrow Checker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>
                <a:solidFill>
                  <a:srgbClr val="00FF00"/>
                </a:solidFill>
              </a:rPr>
              <a:t>Lifetimes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rgbClr val="00FF00"/>
                </a:solidFill>
              </a:rPr>
              <a:t>Every reference has a lifetime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Reference must be </a:t>
            </a:r>
            <a:r>
              <a:rPr lang="de-DE">
                <a:solidFill>
                  <a:srgbClr val="00FF00"/>
                </a:solidFill>
              </a:rPr>
              <a:t>valid between creation and usage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rgbClr val="00FF00"/>
                </a:solidFill>
              </a:rPr>
              <a:t>Value it points to must be alive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rgbClr val="00FF00"/>
                </a:solidFill>
              </a:rPr>
              <a:t>Used by the Borrow Checker</a:t>
            </a:r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159D8-8D14-87CF-DF9C-DFCC3C6699B1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4ED6A6C-0FD1-47B2-B685-D86A0AE52D42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81BEF-BB11-D5E3-1559-BC7494639CB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294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C5CBFE7-1A5C-4D0E-985A-2DAA4243305D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01916B-D89D-5D71-8CD8-6A4D89F79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104" y="1616578"/>
            <a:ext cx="7753951" cy="362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622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152D4FD8-816B-4D2B-9035-0FADDA392F90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01916B-D89D-5D71-8CD8-6A4D89F79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104" y="1616578"/>
            <a:ext cx="7753951" cy="36248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042D21E-9E66-3846-03CA-C64E02E64910}"/>
              </a:ext>
            </a:extLst>
          </p:cNvPr>
          <p:cNvSpPr/>
          <p:nvPr/>
        </p:nvSpPr>
        <p:spPr>
          <a:xfrm>
            <a:off x="7061423" y="3125880"/>
            <a:ext cx="725075" cy="54783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4D4BC7-425B-5B63-C929-4D9C759E3C34}"/>
              </a:ext>
            </a:extLst>
          </p:cNvPr>
          <p:cNvSpPr txBox="1"/>
          <p:nvPr/>
        </p:nvSpPr>
        <p:spPr>
          <a:xfrm>
            <a:off x="8153400" y="3230520"/>
            <a:ext cx="18678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Immutable borrow</a:t>
            </a:r>
          </a:p>
        </p:txBody>
      </p:sp>
    </p:spTree>
    <p:extLst>
      <p:ext uri="{BB962C8B-B14F-4D97-AF65-F5344CB8AC3E}">
        <p14:creationId xmlns:p14="http://schemas.microsoft.com/office/powerpoint/2010/main" val="2998059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69ACBAF-268E-445B-8752-08654FE20B29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01916B-D89D-5D71-8CD8-6A4D89F79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104" y="1616578"/>
            <a:ext cx="7753951" cy="36248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042D21E-9E66-3846-03CA-C64E02E64910}"/>
              </a:ext>
            </a:extLst>
          </p:cNvPr>
          <p:cNvSpPr/>
          <p:nvPr/>
        </p:nvSpPr>
        <p:spPr>
          <a:xfrm flipH="1">
            <a:off x="4680761" y="3125880"/>
            <a:ext cx="1415239" cy="54783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4D4BC7-425B-5B63-C929-4D9C759E3C34}"/>
              </a:ext>
            </a:extLst>
          </p:cNvPr>
          <p:cNvSpPr txBox="1"/>
          <p:nvPr/>
        </p:nvSpPr>
        <p:spPr>
          <a:xfrm>
            <a:off x="4391151" y="4651684"/>
            <a:ext cx="2191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Type: Reference to i32</a:t>
            </a:r>
          </a:p>
        </p:txBody>
      </p:sp>
    </p:spTree>
    <p:extLst>
      <p:ext uri="{BB962C8B-B14F-4D97-AF65-F5344CB8AC3E}">
        <p14:creationId xmlns:p14="http://schemas.microsoft.com/office/powerpoint/2010/main" val="2659256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5DADF13-4771-447E-B7C0-228130A9D132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01916B-D89D-5D71-8CD8-6A4D89F79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104" y="1616578"/>
            <a:ext cx="7753951" cy="36248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042D21E-9E66-3846-03CA-C64E02E64910}"/>
              </a:ext>
            </a:extLst>
          </p:cNvPr>
          <p:cNvSpPr/>
          <p:nvPr/>
        </p:nvSpPr>
        <p:spPr>
          <a:xfrm flipH="1">
            <a:off x="7387706" y="3863039"/>
            <a:ext cx="725075" cy="54783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4D4BC7-425B-5B63-C929-4D9C759E3C34}"/>
              </a:ext>
            </a:extLst>
          </p:cNvPr>
          <p:cNvSpPr txBox="1"/>
          <p:nvPr/>
        </p:nvSpPr>
        <p:spPr>
          <a:xfrm>
            <a:off x="5913041" y="4487594"/>
            <a:ext cx="36744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Dereference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b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to get the original value</a:t>
            </a:r>
          </a:p>
        </p:txBody>
      </p:sp>
    </p:spTree>
    <p:extLst>
      <p:ext uri="{BB962C8B-B14F-4D97-AF65-F5344CB8AC3E}">
        <p14:creationId xmlns:p14="http://schemas.microsoft.com/office/powerpoint/2010/main" val="1800536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F25B81A-CD4F-46E3-AC54-7ACA59B1620D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01916B-D89D-5D71-8CD8-6A4D89F79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987" y="2773802"/>
            <a:ext cx="6882025" cy="3217233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306F2B-D88A-D387-EB39-E1E02B5B6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96588"/>
              </p:ext>
            </p:extLst>
          </p:nvPr>
        </p:nvGraphicFramePr>
        <p:xfrm>
          <a:off x="4536639" y="1204069"/>
          <a:ext cx="3118719" cy="3759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9573">
                  <a:extLst>
                    <a:ext uri="{9D8B030D-6E8A-4147-A177-3AD203B41FA5}">
                      <a16:colId xmlns:a16="http://schemas.microsoft.com/office/drawing/2014/main" val="4276234111"/>
                    </a:ext>
                  </a:extLst>
                </a:gridCol>
                <a:gridCol w="2079146">
                  <a:extLst>
                    <a:ext uri="{9D8B030D-6E8A-4147-A177-3AD203B41FA5}">
                      <a16:colId xmlns:a16="http://schemas.microsoft.com/office/drawing/2014/main" val="3805485384"/>
                    </a:ext>
                  </a:extLst>
                </a:gridCol>
              </a:tblGrid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029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6153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FA7C531-41EE-4157-9642-475697020840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01916B-D89D-5D71-8CD8-6A4D89F79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987" y="2773802"/>
            <a:ext cx="6882025" cy="3217233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306F2B-D88A-D387-EB39-E1E02B5B6F45}"/>
              </a:ext>
            </a:extLst>
          </p:cNvPr>
          <p:cNvGraphicFramePr>
            <a:graphicFrameLocks noGrp="1"/>
          </p:cNvGraphicFramePr>
          <p:nvPr/>
        </p:nvGraphicFramePr>
        <p:xfrm>
          <a:off x="4536639" y="1204069"/>
          <a:ext cx="3118719" cy="7519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9573">
                  <a:extLst>
                    <a:ext uri="{9D8B030D-6E8A-4147-A177-3AD203B41FA5}">
                      <a16:colId xmlns:a16="http://schemas.microsoft.com/office/drawing/2014/main" val="4276234111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3805485384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2035989518"/>
                    </a:ext>
                  </a:extLst>
                </a:gridCol>
              </a:tblGrid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29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0x4000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53771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A14D8BE-B8FB-05FE-EA02-7DF2160B2D15}"/>
              </a:ext>
            </a:extLst>
          </p:cNvPr>
          <p:cNvSpPr/>
          <p:nvPr/>
        </p:nvSpPr>
        <p:spPr>
          <a:xfrm>
            <a:off x="3802615" y="3429000"/>
            <a:ext cx="4805635" cy="59113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60461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3D0B55C-BB05-4E17-B7FA-2EE9A5749C4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01916B-D89D-5D71-8CD8-6A4D89F79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987" y="2773802"/>
            <a:ext cx="6882025" cy="3217233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306F2B-D88A-D387-EB39-E1E02B5B6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146935"/>
              </p:ext>
            </p:extLst>
          </p:nvPr>
        </p:nvGraphicFramePr>
        <p:xfrm>
          <a:off x="4536639" y="1204069"/>
          <a:ext cx="3118719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9573">
                  <a:extLst>
                    <a:ext uri="{9D8B030D-6E8A-4147-A177-3AD203B41FA5}">
                      <a16:colId xmlns:a16="http://schemas.microsoft.com/office/drawing/2014/main" val="4276234111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3805485384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2035989518"/>
                    </a:ext>
                  </a:extLst>
                </a:gridCol>
              </a:tblGrid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29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0x4000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537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0x4004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0x4000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39280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A14D8BE-B8FB-05FE-EA02-7DF2160B2D15}"/>
              </a:ext>
            </a:extLst>
          </p:cNvPr>
          <p:cNvSpPr/>
          <p:nvPr/>
        </p:nvSpPr>
        <p:spPr>
          <a:xfrm>
            <a:off x="3802615" y="4081569"/>
            <a:ext cx="5107750" cy="59113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C5DD18-B0EC-74DF-12D8-A0AB42F77434}"/>
              </a:ext>
            </a:extLst>
          </p:cNvPr>
          <p:cNvSpPr/>
          <p:nvPr/>
        </p:nvSpPr>
        <p:spPr>
          <a:xfrm rot="5400000">
            <a:off x="4116848" y="2054596"/>
            <a:ext cx="701376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4" name="Rectangle 32">
            <a:extLst>
              <a:ext uri="{FF2B5EF4-FFF2-40B4-BE49-F238E27FC236}">
                <a16:creationId xmlns:a16="http://schemas.microsoft.com/office/drawing/2014/main" id="{4A41CB72-684F-34D5-421E-E7D49FB56043}"/>
              </a:ext>
            </a:extLst>
          </p:cNvPr>
          <p:cNvSpPr/>
          <p:nvPr/>
        </p:nvSpPr>
        <p:spPr>
          <a:xfrm>
            <a:off x="4400549" y="2355883"/>
            <a:ext cx="3368675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5" name="Rectangle 32">
            <a:extLst>
              <a:ext uri="{FF2B5EF4-FFF2-40B4-BE49-F238E27FC236}">
                <a16:creationId xmlns:a16="http://schemas.microsoft.com/office/drawing/2014/main" id="{B73DA4D9-696B-D3F7-A01F-BBFBB54246E6}"/>
              </a:ext>
            </a:extLst>
          </p:cNvPr>
          <p:cNvSpPr/>
          <p:nvPr/>
        </p:nvSpPr>
        <p:spPr>
          <a:xfrm rot="16200000">
            <a:off x="7572354" y="2272258"/>
            <a:ext cx="301223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6" name="Rectangle 32">
            <a:extLst>
              <a:ext uri="{FF2B5EF4-FFF2-40B4-BE49-F238E27FC236}">
                <a16:creationId xmlns:a16="http://schemas.microsoft.com/office/drawing/2014/main" id="{622DF1F8-B6F9-A46A-FE0C-8DD56FAA7986}"/>
              </a:ext>
            </a:extLst>
          </p:cNvPr>
          <p:cNvSpPr/>
          <p:nvPr/>
        </p:nvSpPr>
        <p:spPr>
          <a:xfrm rot="10800000">
            <a:off x="7655978" y="2151174"/>
            <a:ext cx="133974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268910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68FA38E-C771-49EC-B799-57C21D3F7289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01916B-D89D-5D71-8CD8-6A4D89F79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987" y="2773802"/>
            <a:ext cx="6882025" cy="3217233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306F2B-D88A-D387-EB39-E1E02B5B6F45}"/>
              </a:ext>
            </a:extLst>
          </p:cNvPr>
          <p:cNvGraphicFramePr>
            <a:graphicFrameLocks noGrp="1"/>
          </p:cNvGraphicFramePr>
          <p:nvPr/>
        </p:nvGraphicFramePr>
        <p:xfrm>
          <a:off x="4536639" y="1204069"/>
          <a:ext cx="3118719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9573">
                  <a:extLst>
                    <a:ext uri="{9D8B030D-6E8A-4147-A177-3AD203B41FA5}">
                      <a16:colId xmlns:a16="http://schemas.microsoft.com/office/drawing/2014/main" val="4276234111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3805485384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2035989518"/>
                    </a:ext>
                  </a:extLst>
                </a:gridCol>
              </a:tblGrid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29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0x4000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537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0x4004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0x4000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39280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A14D8BE-B8FB-05FE-EA02-7DF2160B2D15}"/>
              </a:ext>
            </a:extLst>
          </p:cNvPr>
          <p:cNvSpPr/>
          <p:nvPr/>
        </p:nvSpPr>
        <p:spPr>
          <a:xfrm>
            <a:off x="8326277" y="4746221"/>
            <a:ext cx="652567" cy="59113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C5DD18-B0EC-74DF-12D8-A0AB42F77434}"/>
              </a:ext>
            </a:extLst>
          </p:cNvPr>
          <p:cNvSpPr/>
          <p:nvPr/>
        </p:nvSpPr>
        <p:spPr>
          <a:xfrm rot="5400000">
            <a:off x="4116848" y="2054596"/>
            <a:ext cx="701376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4" name="Rectangle 32">
            <a:extLst>
              <a:ext uri="{FF2B5EF4-FFF2-40B4-BE49-F238E27FC236}">
                <a16:creationId xmlns:a16="http://schemas.microsoft.com/office/drawing/2014/main" id="{4A41CB72-684F-34D5-421E-E7D49FB56043}"/>
              </a:ext>
            </a:extLst>
          </p:cNvPr>
          <p:cNvSpPr/>
          <p:nvPr/>
        </p:nvSpPr>
        <p:spPr>
          <a:xfrm>
            <a:off x="4400549" y="2355883"/>
            <a:ext cx="3368675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5" name="Rectangle 32">
            <a:extLst>
              <a:ext uri="{FF2B5EF4-FFF2-40B4-BE49-F238E27FC236}">
                <a16:creationId xmlns:a16="http://schemas.microsoft.com/office/drawing/2014/main" id="{B73DA4D9-696B-D3F7-A01F-BBFBB54246E6}"/>
              </a:ext>
            </a:extLst>
          </p:cNvPr>
          <p:cNvSpPr/>
          <p:nvPr/>
        </p:nvSpPr>
        <p:spPr>
          <a:xfrm rot="16200000">
            <a:off x="7572354" y="2272258"/>
            <a:ext cx="301223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6" name="Rectangle 32">
            <a:extLst>
              <a:ext uri="{FF2B5EF4-FFF2-40B4-BE49-F238E27FC236}">
                <a16:creationId xmlns:a16="http://schemas.microsoft.com/office/drawing/2014/main" id="{622DF1F8-B6F9-A46A-FE0C-8DD56FAA7986}"/>
              </a:ext>
            </a:extLst>
          </p:cNvPr>
          <p:cNvSpPr/>
          <p:nvPr/>
        </p:nvSpPr>
        <p:spPr>
          <a:xfrm rot="10800000">
            <a:off x="7655978" y="2151174"/>
            <a:ext cx="133974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FDF21B-1693-9A00-0039-60EF207D54DF}"/>
              </a:ext>
            </a:extLst>
          </p:cNvPr>
          <p:cNvSpPr/>
          <p:nvPr/>
        </p:nvSpPr>
        <p:spPr>
          <a:xfrm>
            <a:off x="6614294" y="1953674"/>
            <a:ext cx="1041063" cy="3751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8BC50A-6925-1B71-CAEA-4ECD6C257AAF}"/>
              </a:ext>
            </a:extLst>
          </p:cNvPr>
          <p:cNvSpPr txBox="1"/>
          <p:nvPr/>
        </p:nvSpPr>
        <p:spPr>
          <a:xfrm>
            <a:off x="7789952" y="1946592"/>
            <a:ext cx="3748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Read the value at that memory location</a:t>
            </a:r>
          </a:p>
        </p:txBody>
      </p:sp>
    </p:spTree>
    <p:extLst>
      <p:ext uri="{BB962C8B-B14F-4D97-AF65-F5344CB8AC3E}">
        <p14:creationId xmlns:p14="http://schemas.microsoft.com/office/powerpoint/2010/main" val="395927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10F13EC6-A353-4B4A-9682-C81ED33FEC61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01916B-D89D-5D71-8CD8-6A4D89F79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987" y="2773802"/>
            <a:ext cx="6882025" cy="3217233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306F2B-D88A-D387-EB39-E1E02B5B6F45}"/>
              </a:ext>
            </a:extLst>
          </p:cNvPr>
          <p:cNvGraphicFramePr>
            <a:graphicFrameLocks noGrp="1"/>
          </p:cNvGraphicFramePr>
          <p:nvPr/>
        </p:nvGraphicFramePr>
        <p:xfrm>
          <a:off x="4536639" y="1204069"/>
          <a:ext cx="3118719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9573">
                  <a:extLst>
                    <a:ext uri="{9D8B030D-6E8A-4147-A177-3AD203B41FA5}">
                      <a16:colId xmlns:a16="http://schemas.microsoft.com/office/drawing/2014/main" val="4276234111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3805485384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2035989518"/>
                    </a:ext>
                  </a:extLst>
                </a:gridCol>
              </a:tblGrid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29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0x4000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537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0x4004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0x4000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39280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A14D8BE-B8FB-05FE-EA02-7DF2160B2D15}"/>
              </a:ext>
            </a:extLst>
          </p:cNvPr>
          <p:cNvSpPr/>
          <p:nvPr/>
        </p:nvSpPr>
        <p:spPr>
          <a:xfrm>
            <a:off x="3822757" y="4746221"/>
            <a:ext cx="5381666" cy="59113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C5DD18-B0EC-74DF-12D8-A0AB42F77434}"/>
              </a:ext>
            </a:extLst>
          </p:cNvPr>
          <p:cNvSpPr/>
          <p:nvPr/>
        </p:nvSpPr>
        <p:spPr>
          <a:xfrm rot="5400000">
            <a:off x="4116848" y="2054596"/>
            <a:ext cx="701376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4" name="Rectangle 32">
            <a:extLst>
              <a:ext uri="{FF2B5EF4-FFF2-40B4-BE49-F238E27FC236}">
                <a16:creationId xmlns:a16="http://schemas.microsoft.com/office/drawing/2014/main" id="{4A41CB72-684F-34D5-421E-E7D49FB56043}"/>
              </a:ext>
            </a:extLst>
          </p:cNvPr>
          <p:cNvSpPr/>
          <p:nvPr/>
        </p:nvSpPr>
        <p:spPr>
          <a:xfrm>
            <a:off x="4400549" y="2355883"/>
            <a:ext cx="3368675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5" name="Rectangle 32">
            <a:extLst>
              <a:ext uri="{FF2B5EF4-FFF2-40B4-BE49-F238E27FC236}">
                <a16:creationId xmlns:a16="http://schemas.microsoft.com/office/drawing/2014/main" id="{B73DA4D9-696B-D3F7-A01F-BBFBB54246E6}"/>
              </a:ext>
            </a:extLst>
          </p:cNvPr>
          <p:cNvSpPr/>
          <p:nvPr/>
        </p:nvSpPr>
        <p:spPr>
          <a:xfrm rot="16200000">
            <a:off x="7572354" y="2272258"/>
            <a:ext cx="301223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6" name="Rectangle 32">
            <a:extLst>
              <a:ext uri="{FF2B5EF4-FFF2-40B4-BE49-F238E27FC236}">
                <a16:creationId xmlns:a16="http://schemas.microsoft.com/office/drawing/2014/main" id="{622DF1F8-B6F9-A46A-FE0C-8DD56FAA7986}"/>
              </a:ext>
            </a:extLst>
          </p:cNvPr>
          <p:cNvSpPr/>
          <p:nvPr/>
        </p:nvSpPr>
        <p:spPr>
          <a:xfrm rot="10800000">
            <a:off x="7655978" y="2151174"/>
            <a:ext cx="133974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FDF21B-1693-9A00-0039-60EF207D54DF}"/>
              </a:ext>
            </a:extLst>
          </p:cNvPr>
          <p:cNvSpPr/>
          <p:nvPr/>
        </p:nvSpPr>
        <p:spPr>
          <a:xfrm>
            <a:off x="6614295" y="1591137"/>
            <a:ext cx="1041063" cy="3636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574A39-BC96-EFFC-DA92-A4DFA297C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511" y="5368498"/>
            <a:ext cx="889338" cy="62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15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BF3724E-19F3-4390-A635-68F30D4FF777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A75D11-1E32-260B-311C-536DEF594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717" y="1490432"/>
            <a:ext cx="7189318" cy="387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811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4D1904A-02E8-4364-B5C1-8808A8F7C53E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A75D11-1E32-260B-311C-536DEF594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717" y="1490432"/>
            <a:ext cx="7189318" cy="38771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62AA4B-975E-8A99-FD73-8084AB51F10E}"/>
              </a:ext>
            </a:extLst>
          </p:cNvPr>
          <p:cNvSpPr/>
          <p:nvPr/>
        </p:nvSpPr>
        <p:spPr>
          <a:xfrm>
            <a:off x="5997981" y="2649870"/>
            <a:ext cx="563947" cy="48003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4C0BEB-BABE-5682-1DEA-650E7E0D8CB0}"/>
              </a:ext>
            </a:extLst>
          </p:cNvPr>
          <p:cNvSpPr/>
          <p:nvPr/>
        </p:nvSpPr>
        <p:spPr>
          <a:xfrm>
            <a:off x="5997981" y="3188981"/>
            <a:ext cx="563947" cy="48003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7AE48-4E20-82F5-1FA0-9E82D5DE8F0E}"/>
              </a:ext>
            </a:extLst>
          </p:cNvPr>
          <p:cNvSpPr txBox="1"/>
          <p:nvPr/>
        </p:nvSpPr>
        <p:spPr>
          <a:xfrm>
            <a:off x="6859825" y="2960630"/>
            <a:ext cx="1954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Immutable borrows</a:t>
            </a:r>
          </a:p>
        </p:txBody>
      </p:sp>
    </p:spTree>
    <p:extLst>
      <p:ext uri="{BB962C8B-B14F-4D97-AF65-F5344CB8AC3E}">
        <p14:creationId xmlns:p14="http://schemas.microsoft.com/office/powerpoint/2010/main" val="85912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C00557D-45CB-4BBD-9941-252703D450F6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A75D11-1E32-260B-311C-536DEF594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717" y="1490432"/>
            <a:ext cx="7189318" cy="38771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62AA4B-975E-8A99-FD73-8084AB51F10E}"/>
              </a:ext>
            </a:extLst>
          </p:cNvPr>
          <p:cNvSpPr/>
          <p:nvPr/>
        </p:nvSpPr>
        <p:spPr>
          <a:xfrm>
            <a:off x="7520639" y="4308220"/>
            <a:ext cx="563947" cy="48003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4C0BEB-BABE-5682-1DEA-650E7E0D8CB0}"/>
              </a:ext>
            </a:extLst>
          </p:cNvPr>
          <p:cNvSpPr/>
          <p:nvPr/>
        </p:nvSpPr>
        <p:spPr>
          <a:xfrm>
            <a:off x="7524667" y="3769190"/>
            <a:ext cx="563947" cy="48003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7AE48-4E20-82F5-1FA0-9E82D5DE8F0E}"/>
              </a:ext>
            </a:extLst>
          </p:cNvPr>
          <p:cNvSpPr txBox="1"/>
          <p:nvPr/>
        </p:nvSpPr>
        <p:spPr>
          <a:xfrm>
            <a:off x="8527687" y="4079950"/>
            <a:ext cx="19800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FFFF00"/>
                </a:solidFill>
                <a:latin typeface="Lato"/>
              </a:rPr>
              <a:t>Implicit dereference</a:t>
            </a:r>
          </a:p>
        </p:txBody>
      </p:sp>
    </p:spTree>
    <p:extLst>
      <p:ext uri="{BB962C8B-B14F-4D97-AF65-F5344CB8AC3E}">
        <p14:creationId xmlns:p14="http://schemas.microsoft.com/office/powerpoint/2010/main" val="1261611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88671B0-FEE1-4BAE-9E83-275526BD6EE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A75D11-1E32-260B-311C-536DEF594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121" y="3254781"/>
            <a:ext cx="5127757" cy="276535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B3E40F-1366-B0CB-ED79-A28DAF7BF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491318"/>
              </p:ext>
            </p:extLst>
          </p:nvPr>
        </p:nvGraphicFramePr>
        <p:xfrm>
          <a:off x="4536639" y="1179824"/>
          <a:ext cx="3118719" cy="3759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9573">
                  <a:extLst>
                    <a:ext uri="{9D8B030D-6E8A-4147-A177-3AD203B41FA5}">
                      <a16:colId xmlns:a16="http://schemas.microsoft.com/office/drawing/2014/main" val="4276234111"/>
                    </a:ext>
                  </a:extLst>
                </a:gridCol>
                <a:gridCol w="2079146">
                  <a:extLst>
                    <a:ext uri="{9D8B030D-6E8A-4147-A177-3AD203B41FA5}">
                      <a16:colId xmlns:a16="http://schemas.microsoft.com/office/drawing/2014/main" val="3805485384"/>
                    </a:ext>
                  </a:extLst>
                </a:gridCol>
              </a:tblGrid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029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B7CB427-827D-47DA-90AF-55EAF38FC923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A75D11-1E32-260B-311C-536DEF594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121" y="3254781"/>
            <a:ext cx="5127757" cy="276535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B3E40F-1366-B0CB-ED79-A28DAF7BFCEA}"/>
              </a:ext>
            </a:extLst>
          </p:cNvPr>
          <p:cNvGraphicFramePr>
            <a:graphicFrameLocks noGrp="1"/>
          </p:cNvGraphicFramePr>
          <p:nvPr/>
        </p:nvGraphicFramePr>
        <p:xfrm>
          <a:off x="4536639" y="1179824"/>
          <a:ext cx="3118719" cy="7519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9573">
                  <a:extLst>
                    <a:ext uri="{9D8B030D-6E8A-4147-A177-3AD203B41FA5}">
                      <a16:colId xmlns:a16="http://schemas.microsoft.com/office/drawing/2014/main" val="4276234111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3805485384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2035989518"/>
                    </a:ext>
                  </a:extLst>
                </a:gridCol>
              </a:tblGrid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29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53771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B17BB56-9EBF-C8D8-B36D-A531FA9F40D4}"/>
              </a:ext>
            </a:extLst>
          </p:cNvPr>
          <p:cNvSpPr/>
          <p:nvPr/>
        </p:nvSpPr>
        <p:spPr>
          <a:xfrm>
            <a:off x="4254665" y="3660428"/>
            <a:ext cx="2738279" cy="35970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91220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3E1EC5A-8B1A-4C0F-8093-FF20076639BE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A75D11-1E32-260B-311C-536DEF594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121" y="3254781"/>
            <a:ext cx="5127757" cy="276535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B3E40F-1366-B0CB-ED79-A28DAF7BF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459548"/>
              </p:ext>
            </p:extLst>
          </p:nvPr>
        </p:nvGraphicFramePr>
        <p:xfrm>
          <a:off x="4536639" y="1179824"/>
          <a:ext cx="3118719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9573">
                  <a:extLst>
                    <a:ext uri="{9D8B030D-6E8A-4147-A177-3AD203B41FA5}">
                      <a16:colId xmlns:a16="http://schemas.microsoft.com/office/drawing/2014/main" val="4276234111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3805485384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2035989518"/>
                    </a:ext>
                  </a:extLst>
                </a:gridCol>
              </a:tblGrid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29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537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22257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B17BB56-9EBF-C8D8-B36D-A531FA9F40D4}"/>
              </a:ext>
            </a:extLst>
          </p:cNvPr>
          <p:cNvSpPr/>
          <p:nvPr/>
        </p:nvSpPr>
        <p:spPr>
          <a:xfrm>
            <a:off x="4254665" y="4055191"/>
            <a:ext cx="3108873" cy="35970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B81497DA-7FB3-E633-A90A-E9F4DDE791BE}"/>
              </a:ext>
            </a:extLst>
          </p:cNvPr>
          <p:cNvSpPr/>
          <p:nvPr/>
        </p:nvSpPr>
        <p:spPr>
          <a:xfrm>
            <a:off x="4105276" y="2885716"/>
            <a:ext cx="3675060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32">
            <a:extLst>
              <a:ext uri="{FF2B5EF4-FFF2-40B4-BE49-F238E27FC236}">
                <a16:creationId xmlns:a16="http://schemas.microsoft.com/office/drawing/2014/main" id="{A7A18D13-39AE-85D9-5D23-99DE861CA2B2}"/>
              </a:ext>
            </a:extLst>
          </p:cNvPr>
          <p:cNvSpPr/>
          <p:nvPr/>
        </p:nvSpPr>
        <p:spPr>
          <a:xfrm rot="5400000">
            <a:off x="3711557" y="2137520"/>
            <a:ext cx="1218801" cy="431363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B24E2DB3-D84D-C506-4A29-1766F153E6D9}"/>
              </a:ext>
            </a:extLst>
          </p:cNvPr>
          <p:cNvSpPr/>
          <p:nvPr/>
        </p:nvSpPr>
        <p:spPr>
          <a:xfrm rot="16200000">
            <a:off x="7502612" y="2368900"/>
            <a:ext cx="870213" cy="43136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Rectangle 32">
            <a:extLst>
              <a:ext uri="{FF2B5EF4-FFF2-40B4-BE49-F238E27FC236}">
                <a16:creationId xmlns:a16="http://schemas.microsoft.com/office/drawing/2014/main" id="{0D9DA8F0-242B-8FE7-47EE-602F1DCD46CE}"/>
              </a:ext>
            </a:extLst>
          </p:cNvPr>
          <p:cNvSpPr/>
          <p:nvPr/>
        </p:nvSpPr>
        <p:spPr>
          <a:xfrm rot="10800000">
            <a:off x="7655357" y="2149474"/>
            <a:ext cx="498042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13998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2B2FC6-0D98-4113-8990-DAFDE9EEB881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A75D11-1E32-260B-311C-536DEF594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121" y="3254781"/>
            <a:ext cx="5127757" cy="276535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B3E40F-1366-B0CB-ED79-A28DAF7BF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665275"/>
              </p:ext>
            </p:extLst>
          </p:nvPr>
        </p:nvGraphicFramePr>
        <p:xfrm>
          <a:off x="4536639" y="1179824"/>
          <a:ext cx="3118719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9573">
                  <a:extLst>
                    <a:ext uri="{9D8B030D-6E8A-4147-A177-3AD203B41FA5}">
                      <a16:colId xmlns:a16="http://schemas.microsoft.com/office/drawing/2014/main" val="4276234111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3805485384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2035989518"/>
                    </a:ext>
                  </a:extLst>
                </a:gridCol>
              </a:tblGrid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29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537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222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634041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B17BB56-9EBF-C8D8-B36D-A531FA9F40D4}"/>
              </a:ext>
            </a:extLst>
          </p:cNvPr>
          <p:cNvSpPr/>
          <p:nvPr/>
        </p:nvSpPr>
        <p:spPr>
          <a:xfrm>
            <a:off x="4254665" y="4457603"/>
            <a:ext cx="3108873" cy="35970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B81497DA-7FB3-E633-A90A-E9F4DDE791BE}"/>
              </a:ext>
            </a:extLst>
          </p:cNvPr>
          <p:cNvSpPr/>
          <p:nvPr/>
        </p:nvSpPr>
        <p:spPr>
          <a:xfrm>
            <a:off x="4105276" y="2885716"/>
            <a:ext cx="3675060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32">
            <a:extLst>
              <a:ext uri="{FF2B5EF4-FFF2-40B4-BE49-F238E27FC236}">
                <a16:creationId xmlns:a16="http://schemas.microsoft.com/office/drawing/2014/main" id="{A7A18D13-39AE-85D9-5D23-99DE861CA2B2}"/>
              </a:ext>
            </a:extLst>
          </p:cNvPr>
          <p:cNvSpPr/>
          <p:nvPr/>
        </p:nvSpPr>
        <p:spPr>
          <a:xfrm rot="5400000">
            <a:off x="3711557" y="2137520"/>
            <a:ext cx="1218801" cy="431363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B24E2DB3-D84D-C506-4A29-1766F153E6D9}"/>
              </a:ext>
            </a:extLst>
          </p:cNvPr>
          <p:cNvSpPr/>
          <p:nvPr/>
        </p:nvSpPr>
        <p:spPr>
          <a:xfrm rot="16200000">
            <a:off x="7502612" y="2368900"/>
            <a:ext cx="870213" cy="43136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Rectangle 32">
            <a:extLst>
              <a:ext uri="{FF2B5EF4-FFF2-40B4-BE49-F238E27FC236}">
                <a16:creationId xmlns:a16="http://schemas.microsoft.com/office/drawing/2014/main" id="{0D9DA8F0-242B-8FE7-47EE-602F1DCD46CE}"/>
              </a:ext>
            </a:extLst>
          </p:cNvPr>
          <p:cNvSpPr/>
          <p:nvPr/>
        </p:nvSpPr>
        <p:spPr>
          <a:xfrm rot="10800000">
            <a:off x="7655357" y="2149474"/>
            <a:ext cx="498042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4" name="Rectangle 32">
            <a:extLst>
              <a:ext uri="{FF2B5EF4-FFF2-40B4-BE49-F238E27FC236}">
                <a16:creationId xmlns:a16="http://schemas.microsoft.com/office/drawing/2014/main" id="{E439A220-6F65-E579-F405-B9ADCEB6B524}"/>
              </a:ext>
            </a:extLst>
          </p:cNvPr>
          <p:cNvSpPr/>
          <p:nvPr/>
        </p:nvSpPr>
        <p:spPr>
          <a:xfrm rot="10800000">
            <a:off x="7655357" y="2508639"/>
            <a:ext cx="237693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5" name="Rectangle 32">
            <a:extLst>
              <a:ext uri="{FF2B5EF4-FFF2-40B4-BE49-F238E27FC236}">
                <a16:creationId xmlns:a16="http://schemas.microsoft.com/office/drawing/2014/main" id="{4698B30E-4BB7-2782-A2F8-7CB348083BA2}"/>
              </a:ext>
            </a:extLst>
          </p:cNvPr>
          <p:cNvSpPr/>
          <p:nvPr/>
        </p:nvSpPr>
        <p:spPr>
          <a:xfrm rot="16200000">
            <a:off x="7601169" y="2499454"/>
            <a:ext cx="152400" cy="43136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6" name="Rectangle 32">
            <a:extLst>
              <a:ext uri="{FF2B5EF4-FFF2-40B4-BE49-F238E27FC236}">
                <a16:creationId xmlns:a16="http://schemas.microsoft.com/office/drawing/2014/main" id="{5E28791C-C088-78E3-7F05-8138850D65DC}"/>
              </a:ext>
            </a:extLst>
          </p:cNvPr>
          <p:cNvSpPr/>
          <p:nvPr/>
        </p:nvSpPr>
        <p:spPr>
          <a:xfrm>
            <a:off x="4318224" y="2575624"/>
            <a:ext cx="3574826" cy="218529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7" name="Rectangle 32">
            <a:extLst>
              <a:ext uri="{FF2B5EF4-FFF2-40B4-BE49-F238E27FC236}">
                <a16:creationId xmlns:a16="http://schemas.microsoft.com/office/drawing/2014/main" id="{C0D5F115-296C-3427-DBA4-CDD1D9EBCD05}"/>
              </a:ext>
            </a:extLst>
          </p:cNvPr>
          <p:cNvSpPr/>
          <p:nvPr/>
        </p:nvSpPr>
        <p:spPr>
          <a:xfrm rot="5400000">
            <a:off x="3988990" y="2073035"/>
            <a:ext cx="876882" cy="218415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337341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073255D-5F2E-4D9F-BA32-F8460C453ABE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A75D11-1E32-260B-311C-536DEF594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121" y="3254781"/>
            <a:ext cx="5127757" cy="276535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B3E40F-1366-B0CB-ED79-A28DAF7BFCEA}"/>
              </a:ext>
            </a:extLst>
          </p:cNvPr>
          <p:cNvGraphicFramePr>
            <a:graphicFrameLocks noGrp="1"/>
          </p:cNvGraphicFramePr>
          <p:nvPr/>
        </p:nvGraphicFramePr>
        <p:xfrm>
          <a:off x="4536639" y="1179824"/>
          <a:ext cx="3118719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9573">
                  <a:extLst>
                    <a:ext uri="{9D8B030D-6E8A-4147-A177-3AD203B41FA5}">
                      <a16:colId xmlns:a16="http://schemas.microsoft.com/office/drawing/2014/main" val="4276234111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3805485384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2035989518"/>
                    </a:ext>
                  </a:extLst>
                </a:gridCol>
              </a:tblGrid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29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537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222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634041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B17BB56-9EBF-C8D8-B36D-A531FA9F40D4}"/>
              </a:ext>
            </a:extLst>
          </p:cNvPr>
          <p:cNvSpPr/>
          <p:nvPr/>
        </p:nvSpPr>
        <p:spPr>
          <a:xfrm>
            <a:off x="4254665" y="4860423"/>
            <a:ext cx="4405213" cy="76696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B81497DA-7FB3-E633-A90A-E9F4DDE791BE}"/>
              </a:ext>
            </a:extLst>
          </p:cNvPr>
          <p:cNvSpPr/>
          <p:nvPr/>
        </p:nvSpPr>
        <p:spPr>
          <a:xfrm>
            <a:off x="4105276" y="2885716"/>
            <a:ext cx="3675060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32">
            <a:extLst>
              <a:ext uri="{FF2B5EF4-FFF2-40B4-BE49-F238E27FC236}">
                <a16:creationId xmlns:a16="http://schemas.microsoft.com/office/drawing/2014/main" id="{A7A18D13-39AE-85D9-5D23-99DE861CA2B2}"/>
              </a:ext>
            </a:extLst>
          </p:cNvPr>
          <p:cNvSpPr/>
          <p:nvPr/>
        </p:nvSpPr>
        <p:spPr>
          <a:xfrm rot="5400000">
            <a:off x="3711557" y="2137520"/>
            <a:ext cx="1218801" cy="431363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B24E2DB3-D84D-C506-4A29-1766F153E6D9}"/>
              </a:ext>
            </a:extLst>
          </p:cNvPr>
          <p:cNvSpPr/>
          <p:nvPr/>
        </p:nvSpPr>
        <p:spPr>
          <a:xfrm rot="16200000">
            <a:off x="7502612" y="2368900"/>
            <a:ext cx="870213" cy="43136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Rectangle 32">
            <a:extLst>
              <a:ext uri="{FF2B5EF4-FFF2-40B4-BE49-F238E27FC236}">
                <a16:creationId xmlns:a16="http://schemas.microsoft.com/office/drawing/2014/main" id="{0D9DA8F0-242B-8FE7-47EE-602F1DCD46CE}"/>
              </a:ext>
            </a:extLst>
          </p:cNvPr>
          <p:cNvSpPr/>
          <p:nvPr/>
        </p:nvSpPr>
        <p:spPr>
          <a:xfrm rot="10800000">
            <a:off x="7655357" y="2149474"/>
            <a:ext cx="498042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4" name="Rectangle 32">
            <a:extLst>
              <a:ext uri="{FF2B5EF4-FFF2-40B4-BE49-F238E27FC236}">
                <a16:creationId xmlns:a16="http://schemas.microsoft.com/office/drawing/2014/main" id="{E439A220-6F65-E579-F405-B9ADCEB6B524}"/>
              </a:ext>
            </a:extLst>
          </p:cNvPr>
          <p:cNvSpPr/>
          <p:nvPr/>
        </p:nvSpPr>
        <p:spPr>
          <a:xfrm rot="10800000">
            <a:off x="7655357" y="2508639"/>
            <a:ext cx="237693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5" name="Rectangle 32">
            <a:extLst>
              <a:ext uri="{FF2B5EF4-FFF2-40B4-BE49-F238E27FC236}">
                <a16:creationId xmlns:a16="http://schemas.microsoft.com/office/drawing/2014/main" id="{4698B30E-4BB7-2782-A2F8-7CB348083BA2}"/>
              </a:ext>
            </a:extLst>
          </p:cNvPr>
          <p:cNvSpPr/>
          <p:nvPr/>
        </p:nvSpPr>
        <p:spPr>
          <a:xfrm rot="16200000">
            <a:off x="7601169" y="2499454"/>
            <a:ext cx="152400" cy="43136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6" name="Rectangle 32">
            <a:extLst>
              <a:ext uri="{FF2B5EF4-FFF2-40B4-BE49-F238E27FC236}">
                <a16:creationId xmlns:a16="http://schemas.microsoft.com/office/drawing/2014/main" id="{5E28791C-C088-78E3-7F05-8138850D65DC}"/>
              </a:ext>
            </a:extLst>
          </p:cNvPr>
          <p:cNvSpPr/>
          <p:nvPr/>
        </p:nvSpPr>
        <p:spPr>
          <a:xfrm>
            <a:off x="4318224" y="2575624"/>
            <a:ext cx="3574826" cy="218529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7" name="Rectangle 32">
            <a:extLst>
              <a:ext uri="{FF2B5EF4-FFF2-40B4-BE49-F238E27FC236}">
                <a16:creationId xmlns:a16="http://schemas.microsoft.com/office/drawing/2014/main" id="{C0D5F115-296C-3427-DBA4-CDD1D9EBCD05}"/>
              </a:ext>
            </a:extLst>
          </p:cNvPr>
          <p:cNvSpPr/>
          <p:nvPr/>
        </p:nvSpPr>
        <p:spPr>
          <a:xfrm rot="5400000">
            <a:off x="3988990" y="2073035"/>
            <a:ext cx="876882" cy="218415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86B215-599D-5A68-4936-BAEFBF2DB5DB}"/>
              </a:ext>
            </a:extLst>
          </p:cNvPr>
          <p:cNvSpPr txBox="1"/>
          <p:nvPr/>
        </p:nvSpPr>
        <p:spPr>
          <a:xfrm>
            <a:off x="4480401" y="5625048"/>
            <a:ext cx="38843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FFFF00"/>
                </a:solidFill>
                <a:latin typeface="Lato"/>
              </a:rPr>
              <a:t>println!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automatically dereferences for us</a:t>
            </a:r>
          </a:p>
        </p:txBody>
      </p:sp>
    </p:spTree>
    <p:extLst>
      <p:ext uri="{BB962C8B-B14F-4D97-AF65-F5344CB8AC3E}">
        <p14:creationId xmlns:p14="http://schemas.microsoft.com/office/powerpoint/2010/main" val="861868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5F0F018-BD04-4036-8230-73483CF49625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A75D11-1E32-260B-311C-536DEF594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121" y="3254781"/>
            <a:ext cx="5127757" cy="276535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B3E40F-1366-B0CB-ED79-A28DAF7BFCEA}"/>
              </a:ext>
            </a:extLst>
          </p:cNvPr>
          <p:cNvGraphicFramePr>
            <a:graphicFrameLocks noGrp="1"/>
          </p:cNvGraphicFramePr>
          <p:nvPr/>
        </p:nvGraphicFramePr>
        <p:xfrm>
          <a:off x="4536639" y="1179824"/>
          <a:ext cx="3118719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9573">
                  <a:extLst>
                    <a:ext uri="{9D8B030D-6E8A-4147-A177-3AD203B41FA5}">
                      <a16:colId xmlns:a16="http://schemas.microsoft.com/office/drawing/2014/main" val="4276234111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3805485384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2035989518"/>
                    </a:ext>
                  </a:extLst>
                </a:gridCol>
              </a:tblGrid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29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537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222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634041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B17BB56-9EBF-C8D8-B36D-A531FA9F40D4}"/>
              </a:ext>
            </a:extLst>
          </p:cNvPr>
          <p:cNvSpPr/>
          <p:nvPr/>
        </p:nvSpPr>
        <p:spPr>
          <a:xfrm>
            <a:off x="4254665" y="4860423"/>
            <a:ext cx="4405213" cy="76696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B81497DA-7FB3-E633-A90A-E9F4DDE791BE}"/>
              </a:ext>
            </a:extLst>
          </p:cNvPr>
          <p:cNvSpPr/>
          <p:nvPr/>
        </p:nvSpPr>
        <p:spPr>
          <a:xfrm>
            <a:off x="4105276" y="2885716"/>
            <a:ext cx="3675060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32">
            <a:extLst>
              <a:ext uri="{FF2B5EF4-FFF2-40B4-BE49-F238E27FC236}">
                <a16:creationId xmlns:a16="http://schemas.microsoft.com/office/drawing/2014/main" id="{A7A18D13-39AE-85D9-5D23-99DE861CA2B2}"/>
              </a:ext>
            </a:extLst>
          </p:cNvPr>
          <p:cNvSpPr/>
          <p:nvPr/>
        </p:nvSpPr>
        <p:spPr>
          <a:xfrm rot="5400000">
            <a:off x="3711557" y="2137520"/>
            <a:ext cx="1218801" cy="431363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B24E2DB3-D84D-C506-4A29-1766F153E6D9}"/>
              </a:ext>
            </a:extLst>
          </p:cNvPr>
          <p:cNvSpPr/>
          <p:nvPr/>
        </p:nvSpPr>
        <p:spPr>
          <a:xfrm rot="16200000">
            <a:off x="7502612" y="2368900"/>
            <a:ext cx="870213" cy="43136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Rectangle 32">
            <a:extLst>
              <a:ext uri="{FF2B5EF4-FFF2-40B4-BE49-F238E27FC236}">
                <a16:creationId xmlns:a16="http://schemas.microsoft.com/office/drawing/2014/main" id="{0D9DA8F0-242B-8FE7-47EE-602F1DCD46CE}"/>
              </a:ext>
            </a:extLst>
          </p:cNvPr>
          <p:cNvSpPr/>
          <p:nvPr/>
        </p:nvSpPr>
        <p:spPr>
          <a:xfrm rot="10800000">
            <a:off x="7655357" y="2149474"/>
            <a:ext cx="498042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4" name="Rectangle 32">
            <a:extLst>
              <a:ext uri="{FF2B5EF4-FFF2-40B4-BE49-F238E27FC236}">
                <a16:creationId xmlns:a16="http://schemas.microsoft.com/office/drawing/2014/main" id="{E439A220-6F65-E579-F405-B9ADCEB6B524}"/>
              </a:ext>
            </a:extLst>
          </p:cNvPr>
          <p:cNvSpPr/>
          <p:nvPr/>
        </p:nvSpPr>
        <p:spPr>
          <a:xfrm rot="10800000">
            <a:off x="7655357" y="2508639"/>
            <a:ext cx="237693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5" name="Rectangle 32">
            <a:extLst>
              <a:ext uri="{FF2B5EF4-FFF2-40B4-BE49-F238E27FC236}">
                <a16:creationId xmlns:a16="http://schemas.microsoft.com/office/drawing/2014/main" id="{4698B30E-4BB7-2782-A2F8-7CB348083BA2}"/>
              </a:ext>
            </a:extLst>
          </p:cNvPr>
          <p:cNvSpPr/>
          <p:nvPr/>
        </p:nvSpPr>
        <p:spPr>
          <a:xfrm rot="16200000">
            <a:off x="7601169" y="2499454"/>
            <a:ext cx="152400" cy="43136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6" name="Rectangle 32">
            <a:extLst>
              <a:ext uri="{FF2B5EF4-FFF2-40B4-BE49-F238E27FC236}">
                <a16:creationId xmlns:a16="http://schemas.microsoft.com/office/drawing/2014/main" id="{5E28791C-C088-78E3-7F05-8138850D65DC}"/>
              </a:ext>
            </a:extLst>
          </p:cNvPr>
          <p:cNvSpPr/>
          <p:nvPr/>
        </p:nvSpPr>
        <p:spPr>
          <a:xfrm>
            <a:off x="4318224" y="2575624"/>
            <a:ext cx="3574826" cy="218529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7" name="Rectangle 32">
            <a:extLst>
              <a:ext uri="{FF2B5EF4-FFF2-40B4-BE49-F238E27FC236}">
                <a16:creationId xmlns:a16="http://schemas.microsoft.com/office/drawing/2014/main" id="{C0D5F115-296C-3427-DBA4-CDD1D9EBCD05}"/>
              </a:ext>
            </a:extLst>
          </p:cNvPr>
          <p:cNvSpPr/>
          <p:nvPr/>
        </p:nvSpPr>
        <p:spPr>
          <a:xfrm rot="5400000">
            <a:off x="3988990" y="2073035"/>
            <a:ext cx="876882" cy="218415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A960F47-6191-BBC4-DFA6-FA24CE46A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878" y="3257319"/>
            <a:ext cx="2154101" cy="11851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2513EB2-B0A7-14E8-BB63-0D48BD681ECC}"/>
              </a:ext>
            </a:extLst>
          </p:cNvPr>
          <p:cNvSpPr txBox="1"/>
          <p:nvPr/>
        </p:nvSpPr>
        <p:spPr>
          <a:xfrm>
            <a:off x="4480401" y="5625048"/>
            <a:ext cx="38843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FFFF00"/>
                </a:solidFill>
                <a:latin typeface="Lato"/>
              </a:rPr>
              <a:t>println!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automatically dereferences for us</a:t>
            </a:r>
          </a:p>
        </p:txBody>
      </p:sp>
    </p:spTree>
    <p:extLst>
      <p:ext uri="{BB962C8B-B14F-4D97-AF65-F5344CB8AC3E}">
        <p14:creationId xmlns:p14="http://schemas.microsoft.com/office/powerpoint/2010/main" val="1130680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1367331-B9D4-4039-BBC3-86667BBC62A1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694C40-5CFD-CF5F-2325-1AC67D4D6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614" y="1881261"/>
            <a:ext cx="6968741" cy="309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216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9308E7-B915-4B03-8AE1-2DA45B6D08B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694C40-5CFD-CF5F-2325-1AC67D4D6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614" y="1881261"/>
            <a:ext cx="6968741" cy="309547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BE903F-0634-91A2-A183-5E0860A87EEB}"/>
              </a:ext>
            </a:extLst>
          </p:cNvPr>
          <p:cNvSpPr/>
          <p:nvPr/>
        </p:nvSpPr>
        <p:spPr>
          <a:xfrm>
            <a:off x="6670689" y="2940581"/>
            <a:ext cx="1482712" cy="43907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E3B68-31A0-C2ED-33EC-1E2C8F5B0C36}"/>
              </a:ext>
            </a:extLst>
          </p:cNvPr>
          <p:cNvSpPr txBox="1"/>
          <p:nvPr/>
        </p:nvSpPr>
        <p:spPr>
          <a:xfrm>
            <a:off x="8342355" y="2990841"/>
            <a:ext cx="16450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Mutable borrow</a:t>
            </a:r>
          </a:p>
        </p:txBody>
      </p:sp>
    </p:spTree>
    <p:extLst>
      <p:ext uri="{BB962C8B-B14F-4D97-AF65-F5344CB8AC3E}">
        <p14:creationId xmlns:p14="http://schemas.microsoft.com/office/powerpoint/2010/main" val="32083987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185CF03-F90E-41C1-9007-AC309CCCA911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694C40-5CFD-CF5F-2325-1AC67D4D6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614" y="1881261"/>
            <a:ext cx="6968741" cy="309547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BE903F-0634-91A2-A183-5E0860A87EEB}"/>
              </a:ext>
            </a:extLst>
          </p:cNvPr>
          <p:cNvSpPr/>
          <p:nvPr/>
        </p:nvSpPr>
        <p:spPr>
          <a:xfrm>
            <a:off x="6670689" y="2940581"/>
            <a:ext cx="1482712" cy="43907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E3B68-31A0-C2ED-33EC-1E2C8F5B0C36}"/>
              </a:ext>
            </a:extLst>
          </p:cNvPr>
          <p:cNvSpPr txBox="1"/>
          <p:nvPr/>
        </p:nvSpPr>
        <p:spPr>
          <a:xfrm>
            <a:off x="8342355" y="2990841"/>
            <a:ext cx="16450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Mutable borrow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728242-DC3C-32C6-CB81-616906E1DF60}"/>
              </a:ext>
            </a:extLst>
          </p:cNvPr>
          <p:cNvSpPr/>
          <p:nvPr/>
        </p:nvSpPr>
        <p:spPr>
          <a:xfrm>
            <a:off x="3254781" y="2453171"/>
            <a:ext cx="1272909" cy="39073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69EA91-C743-51F0-1D44-3682843F12EC}"/>
              </a:ext>
            </a:extLst>
          </p:cNvPr>
          <p:cNvSpPr txBox="1"/>
          <p:nvPr/>
        </p:nvSpPr>
        <p:spPr>
          <a:xfrm>
            <a:off x="4038600" y="2028766"/>
            <a:ext cx="54296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Mutable borrow only possible when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value itself is mutable</a:t>
            </a:r>
          </a:p>
        </p:txBody>
      </p:sp>
    </p:spTree>
    <p:extLst>
      <p:ext uri="{BB962C8B-B14F-4D97-AF65-F5344CB8AC3E}">
        <p14:creationId xmlns:p14="http://schemas.microsoft.com/office/powerpoint/2010/main" val="24905459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6BFF228-1B81-403E-AC4C-7FAD42472DA6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694C40-5CFD-CF5F-2325-1AC67D4D6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488" y="3716255"/>
            <a:ext cx="5501024" cy="2443526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930DC07-75E1-A6FF-90DA-7A18622A5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687306"/>
              </p:ext>
            </p:extLst>
          </p:nvPr>
        </p:nvGraphicFramePr>
        <p:xfrm>
          <a:off x="4536639" y="1179824"/>
          <a:ext cx="3118719" cy="3759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9573">
                  <a:extLst>
                    <a:ext uri="{9D8B030D-6E8A-4147-A177-3AD203B41FA5}">
                      <a16:colId xmlns:a16="http://schemas.microsoft.com/office/drawing/2014/main" val="4276234111"/>
                    </a:ext>
                  </a:extLst>
                </a:gridCol>
                <a:gridCol w="2079146">
                  <a:extLst>
                    <a:ext uri="{9D8B030D-6E8A-4147-A177-3AD203B41FA5}">
                      <a16:colId xmlns:a16="http://schemas.microsoft.com/office/drawing/2014/main" val="3805485384"/>
                    </a:ext>
                  </a:extLst>
                </a:gridCol>
              </a:tblGrid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029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44390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14F77C8A-F8F1-4282-99F0-ED0911DA607C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694C40-5CFD-CF5F-2325-1AC67D4D6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488" y="3716255"/>
            <a:ext cx="5501024" cy="2443526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930DC07-75E1-A6FF-90DA-7A18622A5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594410"/>
              </p:ext>
            </p:extLst>
          </p:nvPr>
        </p:nvGraphicFramePr>
        <p:xfrm>
          <a:off x="4536639" y="1179824"/>
          <a:ext cx="3118719" cy="7519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9573">
                  <a:extLst>
                    <a:ext uri="{9D8B030D-6E8A-4147-A177-3AD203B41FA5}">
                      <a16:colId xmlns:a16="http://schemas.microsoft.com/office/drawing/2014/main" val="4276234111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3805485384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2172649302"/>
                    </a:ext>
                  </a:extLst>
                </a:gridCol>
              </a:tblGrid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29368"/>
                  </a:ext>
                </a:extLst>
              </a:tr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0x8000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0190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FE17BF4-7EE7-7185-006C-5A19CE524151}"/>
              </a:ext>
            </a:extLst>
          </p:cNvPr>
          <p:cNvSpPr/>
          <p:nvPr/>
        </p:nvSpPr>
        <p:spPr>
          <a:xfrm>
            <a:off x="4074852" y="4140982"/>
            <a:ext cx="4045985" cy="35448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61647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991AC9B-9D6F-4B5E-84D2-BFBFF2A785C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694C40-5CFD-CF5F-2325-1AC67D4D6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488" y="3716255"/>
            <a:ext cx="5501024" cy="2443526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930DC07-75E1-A6FF-90DA-7A18622A5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021537"/>
              </p:ext>
            </p:extLst>
          </p:nvPr>
        </p:nvGraphicFramePr>
        <p:xfrm>
          <a:off x="4536639" y="1179824"/>
          <a:ext cx="3118719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9573">
                  <a:extLst>
                    <a:ext uri="{9D8B030D-6E8A-4147-A177-3AD203B41FA5}">
                      <a16:colId xmlns:a16="http://schemas.microsoft.com/office/drawing/2014/main" val="4276234111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3805485384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2172649302"/>
                    </a:ext>
                  </a:extLst>
                </a:gridCol>
              </a:tblGrid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29368"/>
                  </a:ext>
                </a:extLst>
              </a:tr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0x8000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01907"/>
                  </a:ext>
                </a:extLst>
              </a:tr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0x8002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0x8000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37354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FE17BF4-7EE7-7185-006C-5A19CE524151}"/>
              </a:ext>
            </a:extLst>
          </p:cNvPr>
          <p:cNvSpPr/>
          <p:nvPr/>
        </p:nvSpPr>
        <p:spPr>
          <a:xfrm>
            <a:off x="4074852" y="4551855"/>
            <a:ext cx="4771660" cy="35448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C3BF319E-7F5A-B643-9C05-CCE869612351}"/>
              </a:ext>
            </a:extLst>
          </p:cNvPr>
          <p:cNvSpPr/>
          <p:nvPr/>
        </p:nvSpPr>
        <p:spPr>
          <a:xfrm>
            <a:off x="4330303" y="2398623"/>
            <a:ext cx="3506428" cy="70661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Rectangle 32">
            <a:extLst>
              <a:ext uri="{FF2B5EF4-FFF2-40B4-BE49-F238E27FC236}">
                <a16:creationId xmlns:a16="http://schemas.microsoft.com/office/drawing/2014/main" id="{11150737-4D00-3C56-41F8-8353297F28EE}"/>
              </a:ext>
            </a:extLst>
          </p:cNvPr>
          <p:cNvSpPr/>
          <p:nvPr/>
        </p:nvSpPr>
        <p:spPr>
          <a:xfrm rot="5400000">
            <a:off x="4070731" y="2003377"/>
            <a:ext cx="725482" cy="206331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Rectangle 32">
            <a:extLst>
              <a:ext uri="{FF2B5EF4-FFF2-40B4-BE49-F238E27FC236}">
                <a16:creationId xmlns:a16="http://schemas.microsoft.com/office/drawing/2014/main" id="{E8B27CEB-3E82-1045-5213-B3D7DBA751F6}"/>
              </a:ext>
            </a:extLst>
          </p:cNvPr>
          <p:cNvSpPr/>
          <p:nvPr/>
        </p:nvSpPr>
        <p:spPr>
          <a:xfrm rot="16200000">
            <a:off x="7632640" y="2230828"/>
            <a:ext cx="319810" cy="157101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32">
            <a:extLst>
              <a:ext uri="{FF2B5EF4-FFF2-40B4-BE49-F238E27FC236}">
                <a16:creationId xmlns:a16="http://schemas.microsoft.com/office/drawing/2014/main" id="{E81103A7-FB97-5870-B546-F4991FBBFDDE}"/>
              </a:ext>
            </a:extLst>
          </p:cNvPr>
          <p:cNvSpPr/>
          <p:nvPr/>
        </p:nvSpPr>
        <p:spPr>
          <a:xfrm rot="10800000">
            <a:off x="7655356" y="2149474"/>
            <a:ext cx="215737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680946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A69AA94-40AB-4FFF-A97E-BE73FE087CED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694C40-5CFD-CF5F-2325-1AC67D4D6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488" y="3716255"/>
            <a:ext cx="5501024" cy="2443526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930DC07-75E1-A6FF-90DA-7A18622A5A2F}"/>
              </a:ext>
            </a:extLst>
          </p:cNvPr>
          <p:cNvGraphicFramePr>
            <a:graphicFrameLocks noGrp="1"/>
          </p:cNvGraphicFramePr>
          <p:nvPr/>
        </p:nvGraphicFramePr>
        <p:xfrm>
          <a:off x="4536639" y="1179824"/>
          <a:ext cx="3118719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9573">
                  <a:extLst>
                    <a:ext uri="{9D8B030D-6E8A-4147-A177-3AD203B41FA5}">
                      <a16:colId xmlns:a16="http://schemas.microsoft.com/office/drawing/2014/main" val="4276234111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3805485384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2172649302"/>
                    </a:ext>
                  </a:extLst>
                </a:gridCol>
              </a:tblGrid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29368"/>
                  </a:ext>
                </a:extLst>
              </a:tr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0x8000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01907"/>
                  </a:ext>
                </a:extLst>
              </a:tr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0x8002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0x8000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37354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FE17BF4-7EE7-7185-006C-5A19CE524151}"/>
              </a:ext>
            </a:extLst>
          </p:cNvPr>
          <p:cNvSpPr/>
          <p:nvPr/>
        </p:nvSpPr>
        <p:spPr>
          <a:xfrm>
            <a:off x="4074851" y="4970787"/>
            <a:ext cx="1923129" cy="35448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C3BF319E-7F5A-B643-9C05-CCE869612351}"/>
              </a:ext>
            </a:extLst>
          </p:cNvPr>
          <p:cNvSpPr/>
          <p:nvPr/>
        </p:nvSpPr>
        <p:spPr>
          <a:xfrm>
            <a:off x="4330303" y="2398623"/>
            <a:ext cx="3506428" cy="70661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Rectangle 32">
            <a:extLst>
              <a:ext uri="{FF2B5EF4-FFF2-40B4-BE49-F238E27FC236}">
                <a16:creationId xmlns:a16="http://schemas.microsoft.com/office/drawing/2014/main" id="{11150737-4D00-3C56-41F8-8353297F28EE}"/>
              </a:ext>
            </a:extLst>
          </p:cNvPr>
          <p:cNvSpPr/>
          <p:nvPr/>
        </p:nvSpPr>
        <p:spPr>
          <a:xfrm rot="5400000">
            <a:off x="4070731" y="2003377"/>
            <a:ext cx="725482" cy="206331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Rectangle 32">
            <a:extLst>
              <a:ext uri="{FF2B5EF4-FFF2-40B4-BE49-F238E27FC236}">
                <a16:creationId xmlns:a16="http://schemas.microsoft.com/office/drawing/2014/main" id="{E8B27CEB-3E82-1045-5213-B3D7DBA751F6}"/>
              </a:ext>
            </a:extLst>
          </p:cNvPr>
          <p:cNvSpPr/>
          <p:nvPr/>
        </p:nvSpPr>
        <p:spPr>
          <a:xfrm rot="16200000">
            <a:off x="7632640" y="2230828"/>
            <a:ext cx="319810" cy="157101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32">
            <a:extLst>
              <a:ext uri="{FF2B5EF4-FFF2-40B4-BE49-F238E27FC236}">
                <a16:creationId xmlns:a16="http://schemas.microsoft.com/office/drawing/2014/main" id="{E81103A7-FB97-5870-B546-F4991FBBFDDE}"/>
              </a:ext>
            </a:extLst>
          </p:cNvPr>
          <p:cNvSpPr/>
          <p:nvPr/>
        </p:nvSpPr>
        <p:spPr>
          <a:xfrm rot="10800000">
            <a:off x="7655356" y="2149474"/>
            <a:ext cx="215737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2BC224-EFA5-9026-AEA5-02C026E57FE5}"/>
              </a:ext>
            </a:extLst>
          </p:cNvPr>
          <p:cNvSpPr txBox="1"/>
          <p:nvPr/>
        </p:nvSpPr>
        <p:spPr>
          <a:xfrm>
            <a:off x="838200" y="4855639"/>
            <a:ext cx="2468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Write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1337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into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location pointed to by b</a:t>
            </a:r>
          </a:p>
        </p:txBody>
      </p:sp>
    </p:spTree>
    <p:extLst>
      <p:ext uri="{BB962C8B-B14F-4D97-AF65-F5344CB8AC3E}">
        <p14:creationId xmlns:p14="http://schemas.microsoft.com/office/powerpoint/2010/main" val="22920893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0D6D021F-ACDD-4824-932A-45AA735B7966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694C40-5CFD-CF5F-2325-1AC67D4D6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488" y="3716255"/>
            <a:ext cx="5501024" cy="2443526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930DC07-75E1-A6FF-90DA-7A18622A5A2F}"/>
              </a:ext>
            </a:extLst>
          </p:cNvPr>
          <p:cNvGraphicFramePr>
            <a:graphicFrameLocks noGrp="1"/>
          </p:cNvGraphicFramePr>
          <p:nvPr/>
        </p:nvGraphicFramePr>
        <p:xfrm>
          <a:off x="4536639" y="1179824"/>
          <a:ext cx="3118719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9573">
                  <a:extLst>
                    <a:ext uri="{9D8B030D-6E8A-4147-A177-3AD203B41FA5}">
                      <a16:colId xmlns:a16="http://schemas.microsoft.com/office/drawing/2014/main" val="4276234111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3805485384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2172649302"/>
                    </a:ext>
                  </a:extLst>
                </a:gridCol>
              </a:tblGrid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29368"/>
                  </a:ext>
                </a:extLst>
              </a:tr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0x8000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01907"/>
                  </a:ext>
                </a:extLst>
              </a:tr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0x8002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0x8000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37354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FE17BF4-7EE7-7185-006C-5A19CE524151}"/>
              </a:ext>
            </a:extLst>
          </p:cNvPr>
          <p:cNvSpPr/>
          <p:nvPr/>
        </p:nvSpPr>
        <p:spPr>
          <a:xfrm>
            <a:off x="4074851" y="4970787"/>
            <a:ext cx="461787" cy="35448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C3BF319E-7F5A-B643-9C05-CCE869612351}"/>
              </a:ext>
            </a:extLst>
          </p:cNvPr>
          <p:cNvSpPr/>
          <p:nvPr/>
        </p:nvSpPr>
        <p:spPr>
          <a:xfrm>
            <a:off x="4330303" y="2398623"/>
            <a:ext cx="3506428" cy="70661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Rectangle 32">
            <a:extLst>
              <a:ext uri="{FF2B5EF4-FFF2-40B4-BE49-F238E27FC236}">
                <a16:creationId xmlns:a16="http://schemas.microsoft.com/office/drawing/2014/main" id="{11150737-4D00-3C56-41F8-8353297F28EE}"/>
              </a:ext>
            </a:extLst>
          </p:cNvPr>
          <p:cNvSpPr/>
          <p:nvPr/>
        </p:nvSpPr>
        <p:spPr>
          <a:xfrm rot="5400000">
            <a:off x="4070731" y="2003377"/>
            <a:ext cx="725482" cy="206331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Rectangle 32">
            <a:extLst>
              <a:ext uri="{FF2B5EF4-FFF2-40B4-BE49-F238E27FC236}">
                <a16:creationId xmlns:a16="http://schemas.microsoft.com/office/drawing/2014/main" id="{E8B27CEB-3E82-1045-5213-B3D7DBA751F6}"/>
              </a:ext>
            </a:extLst>
          </p:cNvPr>
          <p:cNvSpPr/>
          <p:nvPr/>
        </p:nvSpPr>
        <p:spPr>
          <a:xfrm rot="16200000">
            <a:off x="7632640" y="2230828"/>
            <a:ext cx="319810" cy="157101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32">
            <a:extLst>
              <a:ext uri="{FF2B5EF4-FFF2-40B4-BE49-F238E27FC236}">
                <a16:creationId xmlns:a16="http://schemas.microsoft.com/office/drawing/2014/main" id="{E81103A7-FB97-5870-B546-F4991FBBFDDE}"/>
              </a:ext>
            </a:extLst>
          </p:cNvPr>
          <p:cNvSpPr/>
          <p:nvPr/>
        </p:nvSpPr>
        <p:spPr>
          <a:xfrm rot="10800000">
            <a:off x="7655356" y="2149474"/>
            <a:ext cx="215737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8F3589-96E4-577A-DE45-C48A7CCF4492}"/>
              </a:ext>
            </a:extLst>
          </p:cNvPr>
          <p:cNvSpPr/>
          <p:nvPr/>
        </p:nvSpPr>
        <p:spPr>
          <a:xfrm>
            <a:off x="6611941" y="1940369"/>
            <a:ext cx="1043412" cy="3674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F4E3BD-27CB-5241-B5B1-C97636016C2F}"/>
              </a:ext>
            </a:extLst>
          </p:cNvPr>
          <p:cNvSpPr txBox="1"/>
          <p:nvPr/>
        </p:nvSpPr>
        <p:spPr>
          <a:xfrm>
            <a:off x="838200" y="4855639"/>
            <a:ext cx="2468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Write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1337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into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location pointed to by b</a:t>
            </a:r>
          </a:p>
        </p:txBody>
      </p:sp>
    </p:spTree>
    <p:extLst>
      <p:ext uri="{BB962C8B-B14F-4D97-AF65-F5344CB8AC3E}">
        <p14:creationId xmlns:p14="http://schemas.microsoft.com/office/powerpoint/2010/main" val="36087869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C09737B-F089-4CD1-B664-2481E08DB83F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694C40-5CFD-CF5F-2325-1AC67D4D6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488" y="3716255"/>
            <a:ext cx="5501024" cy="2443526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930DC07-75E1-A6FF-90DA-7A18622A5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068963"/>
              </p:ext>
            </p:extLst>
          </p:nvPr>
        </p:nvGraphicFramePr>
        <p:xfrm>
          <a:off x="4536639" y="1179824"/>
          <a:ext cx="3118719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9573">
                  <a:extLst>
                    <a:ext uri="{9D8B030D-6E8A-4147-A177-3AD203B41FA5}">
                      <a16:colId xmlns:a16="http://schemas.microsoft.com/office/drawing/2014/main" val="4276234111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3805485384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2172649302"/>
                    </a:ext>
                  </a:extLst>
                </a:gridCol>
              </a:tblGrid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29368"/>
                  </a:ext>
                </a:extLst>
              </a:tr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0x8000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  <a:latin typeface="Lato"/>
                        </a:rPr>
                        <a:t>1337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01907"/>
                  </a:ext>
                </a:extLst>
              </a:tr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0x8002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0x8000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373545"/>
                  </a:ext>
                </a:extLst>
              </a:tr>
            </a:tbl>
          </a:graphicData>
        </a:graphic>
      </p:graphicFrame>
      <p:sp>
        <p:nvSpPr>
          <p:cNvPr id="7" name="Rectangle 32">
            <a:extLst>
              <a:ext uri="{FF2B5EF4-FFF2-40B4-BE49-F238E27FC236}">
                <a16:creationId xmlns:a16="http://schemas.microsoft.com/office/drawing/2014/main" id="{C3BF319E-7F5A-B643-9C05-CCE869612351}"/>
              </a:ext>
            </a:extLst>
          </p:cNvPr>
          <p:cNvSpPr/>
          <p:nvPr/>
        </p:nvSpPr>
        <p:spPr>
          <a:xfrm>
            <a:off x="4330303" y="2398623"/>
            <a:ext cx="3506428" cy="70661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Rectangle 32">
            <a:extLst>
              <a:ext uri="{FF2B5EF4-FFF2-40B4-BE49-F238E27FC236}">
                <a16:creationId xmlns:a16="http://schemas.microsoft.com/office/drawing/2014/main" id="{11150737-4D00-3C56-41F8-8353297F28EE}"/>
              </a:ext>
            </a:extLst>
          </p:cNvPr>
          <p:cNvSpPr/>
          <p:nvPr/>
        </p:nvSpPr>
        <p:spPr>
          <a:xfrm rot="5400000">
            <a:off x="4070731" y="2003377"/>
            <a:ext cx="725482" cy="206331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Rectangle 32">
            <a:extLst>
              <a:ext uri="{FF2B5EF4-FFF2-40B4-BE49-F238E27FC236}">
                <a16:creationId xmlns:a16="http://schemas.microsoft.com/office/drawing/2014/main" id="{E8B27CEB-3E82-1045-5213-B3D7DBA751F6}"/>
              </a:ext>
            </a:extLst>
          </p:cNvPr>
          <p:cNvSpPr/>
          <p:nvPr/>
        </p:nvSpPr>
        <p:spPr>
          <a:xfrm rot="16200000">
            <a:off x="7632640" y="2230828"/>
            <a:ext cx="319810" cy="157101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32">
            <a:extLst>
              <a:ext uri="{FF2B5EF4-FFF2-40B4-BE49-F238E27FC236}">
                <a16:creationId xmlns:a16="http://schemas.microsoft.com/office/drawing/2014/main" id="{E81103A7-FB97-5870-B546-F4991FBBFDDE}"/>
              </a:ext>
            </a:extLst>
          </p:cNvPr>
          <p:cNvSpPr/>
          <p:nvPr/>
        </p:nvSpPr>
        <p:spPr>
          <a:xfrm rot="10800000">
            <a:off x="7655356" y="2149474"/>
            <a:ext cx="215737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8F3589-96E4-577A-DE45-C48A7CCF4492}"/>
              </a:ext>
            </a:extLst>
          </p:cNvPr>
          <p:cNvSpPr/>
          <p:nvPr/>
        </p:nvSpPr>
        <p:spPr>
          <a:xfrm>
            <a:off x="6611941" y="1560097"/>
            <a:ext cx="1043412" cy="3674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A34342-F3E3-3312-BC60-ECDAF473369D}"/>
              </a:ext>
            </a:extLst>
          </p:cNvPr>
          <p:cNvSpPr/>
          <p:nvPr/>
        </p:nvSpPr>
        <p:spPr>
          <a:xfrm flipH="1">
            <a:off x="4536638" y="4970787"/>
            <a:ext cx="1308271" cy="35448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05C447-B0D7-C16C-5C9E-3A3360ECE080}"/>
              </a:ext>
            </a:extLst>
          </p:cNvPr>
          <p:cNvSpPr txBox="1"/>
          <p:nvPr/>
        </p:nvSpPr>
        <p:spPr>
          <a:xfrm>
            <a:off x="838200" y="4855639"/>
            <a:ext cx="2468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Write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1337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into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location pointed to by b</a:t>
            </a:r>
          </a:p>
        </p:txBody>
      </p:sp>
    </p:spTree>
    <p:extLst>
      <p:ext uri="{BB962C8B-B14F-4D97-AF65-F5344CB8AC3E}">
        <p14:creationId xmlns:p14="http://schemas.microsoft.com/office/powerpoint/2010/main" val="3740225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1977-3FCC-FA71-97DA-9586BD32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CB13-F20C-00C9-3F2B-FB68FA0F62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B8484EF-01C4-40CA-9368-A51CD444ED6B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17F6-CB9F-5933-81ED-5AD8B5E59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RUSTikales Rust for beginners</a:t>
            </a:r>
            <a:endParaRPr lang="de-DE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694C40-5CFD-CF5F-2325-1AC67D4D6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488" y="3716255"/>
            <a:ext cx="5501024" cy="2443526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930DC07-75E1-A6FF-90DA-7A18622A5A2F}"/>
              </a:ext>
            </a:extLst>
          </p:cNvPr>
          <p:cNvGraphicFramePr>
            <a:graphicFrameLocks noGrp="1"/>
          </p:cNvGraphicFramePr>
          <p:nvPr/>
        </p:nvGraphicFramePr>
        <p:xfrm>
          <a:off x="4536639" y="1179824"/>
          <a:ext cx="3118719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9573">
                  <a:extLst>
                    <a:ext uri="{9D8B030D-6E8A-4147-A177-3AD203B41FA5}">
                      <a16:colId xmlns:a16="http://schemas.microsoft.com/office/drawing/2014/main" val="4276234111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3805485384"/>
                    </a:ext>
                  </a:extLst>
                </a:gridCol>
                <a:gridCol w="1039573">
                  <a:extLst>
                    <a:ext uri="{9D8B030D-6E8A-4147-A177-3AD203B41FA5}">
                      <a16:colId xmlns:a16="http://schemas.microsoft.com/office/drawing/2014/main" val="2172649302"/>
                    </a:ext>
                  </a:extLst>
                </a:gridCol>
              </a:tblGrid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29368"/>
                  </a:ext>
                </a:extLst>
              </a:tr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0x8000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  <a:latin typeface="Lato"/>
                        </a:rPr>
                        <a:t>1337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01907"/>
                  </a:ext>
                </a:extLst>
              </a:tr>
              <a:tr h="36945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0x8002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0x8000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37354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FE17BF4-7EE7-7185-006C-5A19CE524151}"/>
              </a:ext>
            </a:extLst>
          </p:cNvPr>
          <p:cNvSpPr/>
          <p:nvPr/>
        </p:nvSpPr>
        <p:spPr>
          <a:xfrm>
            <a:off x="4074851" y="5397553"/>
            <a:ext cx="4021819" cy="35448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C3BF319E-7F5A-B643-9C05-CCE869612351}"/>
              </a:ext>
            </a:extLst>
          </p:cNvPr>
          <p:cNvSpPr/>
          <p:nvPr/>
        </p:nvSpPr>
        <p:spPr>
          <a:xfrm>
            <a:off x="4330303" y="2398623"/>
            <a:ext cx="3506428" cy="70661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Rectangle 32">
            <a:extLst>
              <a:ext uri="{FF2B5EF4-FFF2-40B4-BE49-F238E27FC236}">
                <a16:creationId xmlns:a16="http://schemas.microsoft.com/office/drawing/2014/main" id="{11150737-4D00-3C56-41F8-8353297F28EE}"/>
              </a:ext>
            </a:extLst>
          </p:cNvPr>
          <p:cNvSpPr/>
          <p:nvPr/>
        </p:nvSpPr>
        <p:spPr>
          <a:xfrm rot="5400000">
            <a:off x="4070731" y="2003377"/>
            <a:ext cx="725482" cy="206331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Rectangle 32">
            <a:extLst>
              <a:ext uri="{FF2B5EF4-FFF2-40B4-BE49-F238E27FC236}">
                <a16:creationId xmlns:a16="http://schemas.microsoft.com/office/drawing/2014/main" id="{E8B27CEB-3E82-1045-5213-B3D7DBA751F6}"/>
              </a:ext>
            </a:extLst>
          </p:cNvPr>
          <p:cNvSpPr/>
          <p:nvPr/>
        </p:nvSpPr>
        <p:spPr>
          <a:xfrm rot="16200000">
            <a:off x="7632640" y="2230828"/>
            <a:ext cx="319810" cy="157101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32">
            <a:extLst>
              <a:ext uri="{FF2B5EF4-FFF2-40B4-BE49-F238E27FC236}">
                <a16:creationId xmlns:a16="http://schemas.microsoft.com/office/drawing/2014/main" id="{E81103A7-FB97-5870-B546-F4991FBBFDDE}"/>
              </a:ext>
            </a:extLst>
          </p:cNvPr>
          <p:cNvSpPr/>
          <p:nvPr/>
        </p:nvSpPr>
        <p:spPr>
          <a:xfrm rot="10800000">
            <a:off x="7655356" y="2149474"/>
            <a:ext cx="215737" cy="133972"/>
          </a:xfrm>
          <a:custGeom>
            <a:avLst/>
            <a:gdLst>
              <a:gd name="connsiteX0" fmla="*/ 0 w 533400"/>
              <a:gd name="connsiteY0" fmla="*/ 0 h 692784"/>
              <a:gd name="connsiteX1" fmla="*/ 533400 w 533400"/>
              <a:gd name="connsiteY1" fmla="*/ 0 h 692784"/>
              <a:gd name="connsiteX2" fmla="*/ 533400 w 533400"/>
              <a:gd name="connsiteY2" fmla="*/ 692784 h 692784"/>
              <a:gd name="connsiteX3" fmla="*/ 0 w 533400"/>
              <a:gd name="connsiteY3" fmla="*/ 692784 h 692784"/>
              <a:gd name="connsiteX4" fmla="*/ 0 w 533400"/>
              <a:gd name="connsiteY4" fmla="*/ 0 h 692784"/>
              <a:gd name="connsiteX0" fmla="*/ 0 w 533400"/>
              <a:gd name="connsiteY0" fmla="*/ 0 h 692784"/>
              <a:gd name="connsiteX1" fmla="*/ 533400 w 533400"/>
              <a:gd name="connsiteY1" fmla="*/ 692784 h 692784"/>
              <a:gd name="connsiteX2" fmla="*/ 0 w 533400"/>
              <a:gd name="connsiteY2" fmla="*/ 692784 h 692784"/>
              <a:gd name="connsiteX3" fmla="*/ 0 w 533400"/>
              <a:gd name="connsiteY3" fmla="*/ 0 h 692784"/>
              <a:gd name="connsiteX0" fmla="*/ 533400 w 624840"/>
              <a:gd name="connsiteY0" fmla="*/ 692784 h 784224"/>
              <a:gd name="connsiteX1" fmla="*/ 0 w 624840"/>
              <a:gd name="connsiteY1" fmla="*/ 692784 h 784224"/>
              <a:gd name="connsiteX2" fmla="*/ 0 w 624840"/>
              <a:gd name="connsiteY2" fmla="*/ 0 h 784224"/>
              <a:gd name="connsiteX3" fmla="*/ 624840 w 624840"/>
              <a:gd name="connsiteY3" fmla="*/ 784224 h 784224"/>
              <a:gd name="connsiteX0" fmla="*/ 533400 w 533400"/>
              <a:gd name="connsiteY0" fmla="*/ 692784 h 692784"/>
              <a:gd name="connsiteX1" fmla="*/ 0 w 533400"/>
              <a:gd name="connsiteY1" fmla="*/ 692784 h 692784"/>
              <a:gd name="connsiteX2" fmla="*/ 0 w 533400"/>
              <a:gd name="connsiteY2" fmla="*/ 0 h 692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92784">
                <a:moveTo>
                  <a:pt x="533400" y="692784"/>
                </a:moveTo>
                <a:lnTo>
                  <a:pt x="0" y="69278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2762BE-71FD-F180-71AA-59DD26996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233" y="2876529"/>
            <a:ext cx="2905530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336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13951591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9A0C6-1F4E-DABC-79CA-B08DD062D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600"/>
          </a:xfrm>
        </p:spPr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Programming languages come with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many control </a:t>
            </a:r>
            <a:r>
              <a:rPr lang="de-DE">
                <a:solidFill>
                  <a:srgbClr val="00FF00"/>
                </a:solidFill>
                <a:sym typeface="Wingdings" panose="05000000000000000000" pitchFamily="2" charset="2"/>
              </a:rPr>
              <a:t>flow abstractions</a:t>
            </a:r>
            <a:endParaRPr lang="de-DE" dirty="0">
              <a:solidFill>
                <a:srgbClr val="00FF00"/>
              </a:solidFill>
              <a:sym typeface="Wingdings" panose="05000000000000000000" pitchFamily="2" charset="2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34708031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9A0C6-1F4E-DABC-79CA-B08DD062D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600"/>
          </a:xfrm>
        </p:spPr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Programming languages come with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many control </a:t>
            </a:r>
            <a:r>
              <a:rPr lang="de-DE">
                <a:solidFill>
                  <a:srgbClr val="00FF00"/>
                </a:solidFill>
                <a:sym typeface="Wingdings" panose="05000000000000000000" pitchFamily="2" charset="2"/>
              </a:rPr>
              <a:t>flow abstractions</a:t>
            </a:r>
            <a:endParaRPr lang="de-DE" dirty="0">
              <a:solidFill>
                <a:srgbClr val="00FF00"/>
              </a:solidFill>
              <a:sym typeface="Wingdings" panose="05000000000000000000" pitchFamily="2" charset="2"/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if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loops, break, continue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21407372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9A0C6-1F4E-DABC-79CA-B08DD062D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600"/>
          </a:xfrm>
        </p:spPr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Programming languages come with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many control </a:t>
            </a:r>
            <a:r>
              <a:rPr lang="de-DE">
                <a:solidFill>
                  <a:srgbClr val="00FF00"/>
                </a:solidFill>
                <a:sym typeface="Wingdings" panose="05000000000000000000" pitchFamily="2" charset="2"/>
              </a:rPr>
              <a:t>flow abstractions</a:t>
            </a:r>
            <a:endParaRPr lang="de-DE" dirty="0">
              <a:solidFill>
                <a:srgbClr val="00FF00"/>
              </a:solidFill>
              <a:sym typeface="Wingdings" panose="05000000000000000000" pitchFamily="2" charset="2"/>
            </a:endParaRP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Functions are another way of controlling your code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19255208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9A0C6-1F4E-DABC-79CA-B08DD062D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600"/>
          </a:xfrm>
        </p:spPr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Programming languages come with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many control </a:t>
            </a:r>
            <a:r>
              <a:rPr lang="de-DE">
                <a:solidFill>
                  <a:srgbClr val="00FF00"/>
                </a:solidFill>
                <a:sym typeface="Wingdings" panose="05000000000000000000" pitchFamily="2" charset="2"/>
              </a:rPr>
              <a:t>flow abstractions</a:t>
            </a:r>
            <a:endParaRPr lang="de-DE" dirty="0">
              <a:solidFill>
                <a:srgbClr val="00FF00"/>
              </a:solidFill>
              <a:sym typeface="Wingdings" panose="05000000000000000000" pitchFamily="2" charset="2"/>
            </a:endParaRP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Functions are another way of controlling your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Functions allow us to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isolate pieces of logic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instead of writing one big blob of code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7305632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9A0C6-1F4E-DABC-79CA-B08DD062D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600"/>
          </a:xfrm>
        </p:spPr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Programming languages come with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many control </a:t>
            </a:r>
            <a:r>
              <a:rPr lang="de-DE">
                <a:solidFill>
                  <a:srgbClr val="00FF00"/>
                </a:solidFill>
                <a:sym typeface="Wingdings" panose="05000000000000000000" pitchFamily="2" charset="2"/>
              </a:rPr>
              <a:t>flow abstractions</a:t>
            </a:r>
            <a:endParaRPr lang="de-DE" dirty="0">
              <a:solidFill>
                <a:srgbClr val="00FF00"/>
              </a:solidFill>
              <a:sym typeface="Wingdings" panose="05000000000000000000" pitchFamily="2" charset="2"/>
            </a:endParaRP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Functions are another way of controlling your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Functions allow us to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isolate pieces of logic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instead of writing one big blob of code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We can write a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function that calculates prime numbers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We can write a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function that checks if a vector contains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a given number</a:t>
            </a:r>
            <a:endParaRPr lang="de-DE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We can write a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function that checks if a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vector only contains prime numbers</a:t>
            </a:r>
            <a:endParaRPr lang="de-DE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32847851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B41A9-9A16-229A-D9C1-EF3B381B7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7026B-FD84-4BC8-1C21-3F88898FF14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4FD32-E11E-55BD-B05F-56DA9E7A0EA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445B859-727D-A43C-B174-D61D43BE9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F6F6672-CC8A-27BD-9B3B-496DD9EC9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600"/>
          </a:xfrm>
        </p:spPr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Programming languages come with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many control </a:t>
            </a:r>
            <a:r>
              <a:rPr lang="de-DE">
                <a:solidFill>
                  <a:srgbClr val="00FF00"/>
                </a:solidFill>
                <a:sym typeface="Wingdings" panose="05000000000000000000" pitchFamily="2" charset="2"/>
              </a:rPr>
              <a:t>flow abstractions</a:t>
            </a:r>
            <a:endParaRPr lang="de-DE" dirty="0">
              <a:solidFill>
                <a:srgbClr val="00FF00"/>
              </a:solidFill>
              <a:sym typeface="Wingdings" panose="05000000000000000000" pitchFamily="2" charset="2"/>
            </a:endParaRP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Functions are another way of controlling your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Functions allow us to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isolate pieces of logic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instead of writing one big blob of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Functions in programming are almost* identical to mathematical functions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They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 take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in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some inputs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They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do something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with those inputs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They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return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some output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In programming, functions can have </a:t>
            </a:r>
            <a:r>
              <a:rPr lang="de-DE">
                <a:solidFill>
                  <a:srgbClr val="00FF00"/>
                </a:solidFill>
                <a:sym typeface="Wingdings" panose="05000000000000000000" pitchFamily="2" charset="2"/>
              </a:rPr>
              <a:t>side effects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Writing to a file, printing to the console, ...</a:t>
            </a:r>
            <a:endParaRPr lang="de-DE" dirty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35458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82036-B63E-0CEC-0F03-429419F93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EDBEA-08D9-25EB-2EAF-47C0288DCA2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B4741-6AE4-BCC0-2FA7-E4E00602FF5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5608D7-81F1-E32A-7341-5701921F9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B35CBED-DE35-4A3C-429F-8318C59FE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600"/>
          </a:xfrm>
        </p:spPr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Programming languages come with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many control </a:t>
            </a:r>
            <a:r>
              <a:rPr lang="de-DE">
                <a:solidFill>
                  <a:srgbClr val="00FF00"/>
                </a:solidFill>
                <a:sym typeface="Wingdings" panose="05000000000000000000" pitchFamily="2" charset="2"/>
              </a:rPr>
              <a:t>flow abstractions</a:t>
            </a:r>
            <a:endParaRPr lang="de-DE" dirty="0">
              <a:solidFill>
                <a:srgbClr val="00FF00"/>
              </a:solidFill>
              <a:sym typeface="Wingdings" panose="05000000000000000000" pitchFamily="2" charset="2"/>
            </a:endParaRP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Functions are another way of controlling your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Functions allow us to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isolate pieces of logic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instead of writing one big blob of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Functions in programming are almost* identical to 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mathematical functions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Functions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fn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The most important one –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fn main()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– always needs to be declared</a:t>
            </a:r>
          </a:p>
        </p:txBody>
      </p:sp>
    </p:spTree>
    <p:extLst>
      <p:ext uri="{BB962C8B-B14F-4D97-AF65-F5344CB8AC3E}">
        <p14:creationId xmlns:p14="http://schemas.microsoft.com/office/powerpoint/2010/main" val="13517973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BAB12F-277B-9239-3750-413D4FCFC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97" y="2096055"/>
            <a:ext cx="10871405" cy="266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0899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BAB12F-277B-9239-3750-413D4FCFC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97" y="2096055"/>
            <a:ext cx="10871405" cy="26658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16CF236-65BC-A0C4-D9C0-308B1C64458F}"/>
              </a:ext>
            </a:extLst>
          </p:cNvPr>
          <p:cNvSpPr/>
          <p:nvPr/>
        </p:nvSpPr>
        <p:spPr>
          <a:xfrm>
            <a:off x="4797580" y="2126887"/>
            <a:ext cx="2574016" cy="70493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0CB820-8F3C-DF1E-6F7C-24D233260683}"/>
              </a:ext>
            </a:extLst>
          </p:cNvPr>
          <p:cNvSpPr txBox="1"/>
          <p:nvPr/>
        </p:nvSpPr>
        <p:spPr>
          <a:xfrm>
            <a:off x="5496315" y="1757501"/>
            <a:ext cx="11993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27555532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BAB12F-277B-9239-3750-413D4FCFC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97" y="2096055"/>
            <a:ext cx="10871405" cy="26658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16CF236-65BC-A0C4-D9C0-308B1C64458F}"/>
              </a:ext>
            </a:extLst>
          </p:cNvPr>
          <p:cNvSpPr/>
          <p:nvPr/>
        </p:nvSpPr>
        <p:spPr>
          <a:xfrm>
            <a:off x="4797580" y="2126887"/>
            <a:ext cx="2574016" cy="70493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49A07F-6B48-9811-13C5-F2D229451431}"/>
              </a:ext>
            </a:extLst>
          </p:cNvPr>
          <p:cNvSpPr/>
          <p:nvPr/>
        </p:nvSpPr>
        <p:spPr>
          <a:xfrm>
            <a:off x="8164641" y="2126887"/>
            <a:ext cx="2574016" cy="70493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7AA5A3-ABD5-6B17-0DCE-28FB817EC2D5}"/>
              </a:ext>
            </a:extLst>
          </p:cNvPr>
          <p:cNvSpPr txBox="1"/>
          <p:nvPr/>
        </p:nvSpPr>
        <p:spPr>
          <a:xfrm>
            <a:off x="8347821" y="1750650"/>
            <a:ext cx="2207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Return Type (optional)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FFE4E6-6403-55BC-0DB7-689E39382360}"/>
              </a:ext>
            </a:extLst>
          </p:cNvPr>
          <p:cNvSpPr txBox="1"/>
          <p:nvPr/>
        </p:nvSpPr>
        <p:spPr>
          <a:xfrm>
            <a:off x="5496315" y="1757501"/>
            <a:ext cx="11993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13183201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BAB12F-277B-9239-3750-413D4FCFC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97" y="2096055"/>
            <a:ext cx="10871405" cy="26658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16CF236-65BC-A0C4-D9C0-308B1C64458F}"/>
              </a:ext>
            </a:extLst>
          </p:cNvPr>
          <p:cNvSpPr/>
          <p:nvPr/>
        </p:nvSpPr>
        <p:spPr>
          <a:xfrm>
            <a:off x="4797580" y="2126887"/>
            <a:ext cx="2574016" cy="70493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49A07F-6B48-9811-13C5-F2D229451431}"/>
              </a:ext>
            </a:extLst>
          </p:cNvPr>
          <p:cNvSpPr/>
          <p:nvPr/>
        </p:nvSpPr>
        <p:spPr>
          <a:xfrm>
            <a:off x="8164641" y="2126887"/>
            <a:ext cx="2574016" cy="70493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B4F92B-25E6-6E26-9EB6-9340BC05DD61}"/>
              </a:ext>
            </a:extLst>
          </p:cNvPr>
          <p:cNvSpPr/>
          <p:nvPr/>
        </p:nvSpPr>
        <p:spPr>
          <a:xfrm>
            <a:off x="2283986" y="3076532"/>
            <a:ext cx="5405836" cy="70493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2F9D5A-66FF-04A6-568C-6E6385AA0BBD}"/>
              </a:ext>
            </a:extLst>
          </p:cNvPr>
          <p:cNvSpPr txBox="1"/>
          <p:nvPr/>
        </p:nvSpPr>
        <p:spPr>
          <a:xfrm>
            <a:off x="4056832" y="3812298"/>
            <a:ext cx="1481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Function body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645895-8D6E-D49B-4337-EEF4D15EFD38}"/>
              </a:ext>
            </a:extLst>
          </p:cNvPr>
          <p:cNvSpPr txBox="1"/>
          <p:nvPr/>
        </p:nvSpPr>
        <p:spPr>
          <a:xfrm>
            <a:off x="8347821" y="1750650"/>
            <a:ext cx="2207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Return Type (optional)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9D004B-1FEA-D907-8944-AF63D9253686}"/>
              </a:ext>
            </a:extLst>
          </p:cNvPr>
          <p:cNvSpPr txBox="1"/>
          <p:nvPr/>
        </p:nvSpPr>
        <p:spPr>
          <a:xfrm>
            <a:off x="5496315" y="1757501"/>
            <a:ext cx="11993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13196937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BAB12F-277B-9239-3750-413D4FCFC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97" y="2096055"/>
            <a:ext cx="10871405" cy="26658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16CF236-65BC-A0C4-D9C0-308B1C64458F}"/>
              </a:ext>
            </a:extLst>
          </p:cNvPr>
          <p:cNvSpPr/>
          <p:nvPr/>
        </p:nvSpPr>
        <p:spPr>
          <a:xfrm>
            <a:off x="4797580" y="2126887"/>
            <a:ext cx="2574016" cy="70493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49A07F-6B48-9811-13C5-F2D229451431}"/>
              </a:ext>
            </a:extLst>
          </p:cNvPr>
          <p:cNvSpPr/>
          <p:nvPr/>
        </p:nvSpPr>
        <p:spPr>
          <a:xfrm>
            <a:off x="8164641" y="2126887"/>
            <a:ext cx="2574016" cy="70493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B4F92B-25E6-6E26-9EB6-9340BC05DD61}"/>
              </a:ext>
            </a:extLst>
          </p:cNvPr>
          <p:cNvSpPr/>
          <p:nvPr/>
        </p:nvSpPr>
        <p:spPr>
          <a:xfrm>
            <a:off x="2283986" y="3076532"/>
            <a:ext cx="2574016" cy="70493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2F9D5A-66FF-04A6-568C-6E6385AA0BBD}"/>
              </a:ext>
            </a:extLst>
          </p:cNvPr>
          <p:cNvSpPr txBox="1"/>
          <p:nvPr/>
        </p:nvSpPr>
        <p:spPr>
          <a:xfrm>
            <a:off x="838200" y="3776457"/>
            <a:ext cx="57102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rgbClr val="00FF00"/>
                </a:solidFill>
                <a:latin typeface="Lato"/>
              </a:rPr>
              <a:t>return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keyword</a:t>
            </a:r>
            <a:br>
              <a:rPr lang="de-DE" sz="1600" dirty="0">
                <a:solidFill>
                  <a:schemeClr val="bg1"/>
                </a:solidFill>
                <a:latin typeface="Lato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we return the provided value (here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x * x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) from the 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1CCE4C-AE24-C1AD-9DC5-2F05C1010120}"/>
              </a:ext>
            </a:extLst>
          </p:cNvPr>
          <p:cNvSpPr txBox="1"/>
          <p:nvPr/>
        </p:nvSpPr>
        <p:spPr>
          <a:xfrm>
            <a:off x="8347821" y="1750650"/>
            <a:ext cx="2207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Return Type (optional)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39212D-79EA-F3A4-915C-A07F766A49F3}"/>
              </a:ext>
            </a:extLst>
          </p:cNvPr>
          <p:cNvSpPr txBox="1"/>
          <p:nvPr/>
        </p:nvSpPr>
        <p:spPr>
          <a:xfrm>
            <a:off x="5496315" y="1757501"/>
            <a:ext cx="11993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26893056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BAB12F-277B-9239-3750-413D4FCFC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97" y="2096055"/>
            <a:ext cx="10871405" cy="26658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16CF236-65BC-A0C4-D9C0-308B1C64458F}"/>
              </a:ext>
            </a:extLst>
          </p:cNvPr>
          <p:cNvSpPr/>
          <p:nvPr/>
        </p:nvSpPr>
        <p:spPr>
          <a:xfrm>
            <a:off x="4797580" y="2126887"/>
            <a:ext cx="2574016" cy="70493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49A07F-6B48-9811-13C5-F2D229451431}"/>
              </a:ext>
            </a:extLst>
          </p:cNvPr>
          <p:cNvSpPr/>
          <p:nvPr/>
        </p:nvSpPr>
        <p:spPr>
          <a:xfrm>
            <a:off x="8164641" y="2126887"/>
            <a:ext cx="2574016" cy="70493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B4F92B-25E6-6E26-9EB6-9340BC05DD61}"/>
              </a:ext>
            </a:extLst>
          </p:cNvPr>
          <p:cNvSpPr/>
          <p:nvPr/>
        </p:nvSpPr>
        <p:spPr>
          <a:xfrm>
            <a:off x="2283986" y="3076532"/>
            <a:ext cx="2574016" cy="70493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E3BEB3-9002-9C1E-2C03-83891EA13FD6}"/>
              </a:ext>
            </a:extLst>
          </p:cNvPr>
          <p:cNvSpPr/>
          <p:nvPr/>
        </p:nvSpPr>
        <p:spPr>
          <a:xfrm>
            <a:off x="1869136" y="2126887"/>
            <a:ext cx="2574016" cy="70493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898BF9-BB3E-E598-6435-18EDEF828AC8}"/>
              </a:ext>
            </a:extLst>
          </p:cNvPr>
          <p:cNvSpPr txBox="1"/>
          <p:nvPr/>
        </p:nvSpPr>
        <p:spPr>
          <a:xfrm>
            <a:off x="2393756" y="1750650"/>
            <a:ext cx="15247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Function name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E85F04-17C6-ADB5-93C8-564D282572D1}"/>
              </a:ext>
            </a:extLst>
          </p:cNvPr>
          <p:cNvSpPr txBox="1"/>
          <p:nvPr/>
        </p:nvSpPr>
        <p:spPr>
          <a:xfrm>
            <a:off x="838200" y="3776457"/>
            <a:ext cx="57102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rgbClr val="00FF00"/>
                </a:solidFill>
                <a:latin typeface="Lato"/>
              </a:rPr>
              <a:t>return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keyword</a:t>
            </a:r>
            <a:br>
              <a:rPr lang="de-DE" sz="1600" dirty="0">
                <a:solidFill>
                  <a:schemeClr val="bg1"/>
                </a:solidFill>
                <a:latin typeface="Lato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we return the provided value (here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x * x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) from the function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4AB034-023F-1E20-CF2F-E60ACFD1C71B}"/>
              </a:ext>
            </a:extLst>
          </p:cNvPr>
          <p:cNvSpPr txBox="1"/>
          <p:nvPr/>
        </p:nvSpPr>
        <p:spPr>
          <a:xfrm>
            <a:off x="8347821" y="1750650"/>
            <a:ext cx="2207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Return Type (optional)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BCD0A5-A017-5A0F-E1C1-25A2DF3CCB4F}"/>
              </a:ext>
            </a:extLst>
          </p:cNvPr>
          <p:cNvSpPr txBox="1"/>
          <p:nvPr/>
        </p:nvSpPr>
        <p:spPr>
          <a:xfrm>
            <a:off x="5496315" y="1757501"/>
            <a:ext cx="11993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3586668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6B2631B-E6EB-C519-E52F-49B928F9B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92" y="1908547"/>
            <a:ext cx="11080216" cy="304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1969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E6D951-4B59-2DA8-F6C0-3BD245E8A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92" y="1908547"/>
            <a:ext cx="11080216" cy="304090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5CB053-4063-4A54-6ED1-54224CA12CB6}"/>
              </a:ext>
            </a:extLst>
          </p:cNvPr>
          <p:cNvSpPr/>
          <p:nvPr/>
        </p:nvSpPr>
        <p:spPr>
          <a:xfrm>
            <a:off x="2787564" y="1918987"/>
            <a:ext cx="8024108" cy="573648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0EECF-1DD3-813A-70AA-1971BF437660}"/>
              </a:ext>
            </a:extLst>
          </p:cNvPr>
          <p:cNvSpPr txBox="1"/>
          <p:nvPr/>
        </p:nvSpPr>
        <p:spPr>
          <a:xfrm>
            <a:off x="4416593" y="1564773"/>
            <a:ext cx="47660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Parameters are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comma-separated name-type pairs</a:t>
            </a:r>
          </a:p>
        </p:txBody>
      </p:sp>
    </p:spTree>
    <p:extLst>
      <p:ext uri="{BB962C8B-B14F-4D97-AF65-F5344CB8AC3E}">
        <p14:creationId xmlns:p14="http://schemas.microsoft.com/office/powerpoint/2010/main" val="14406705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CDAD84-41F1-2A2B-2B8A-741DF7D62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92" y="1908547"/>
            <a:ext cx="11080216" cy="30409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C23B35B-4BF4-1B9A-8C8F-FD793D390DEF}"/>
              </a:ext>
            </a:extLst>
          </p:cNvPr>
          <p:cNvSpPr/>
          <p:nvPr/>
        </p:nvSpPr>
        <p:spPr>
          <a:xfrm>
            <a:off x="1599247" y="2577050"/>
            <a:ext cx="5732066" cy="177742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E584DB-DA75-5712-00DF-BC7F179F4C19}"/>
              </a:ext>
            </a:extLst>
          </p:cNvPr>
          <p:cNvSpPr txBox="1"/>
          <p:nvPr/>
        </p:nvSpPr>
        <p:spPr>
          <a:xfrm>
            <a:off x="2366788" y="4354477"/>
            <a:ext cx="41969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Parameters are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treated like normal variables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: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Mutability rules apply</a:t>
            </a:r>
            <a:b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Ownership rules apply</a:t>
            </a:r>
            <a:b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Borrow Checker rules apply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261614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15FFA2-3899-8A60-5520-7EBC836A6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075" y="2509709"/>
            <a:ext cx="4829849" cy="18385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BE9222-882F-665A-50D3-29D8ACAD0644}"/>
              </a:ext>
            </a:extLst>
          </p:cNvPr>
          <p:cNvSpPr txBox="1"/>
          <p:nvPr/>
        </p:nvSpPr>
        <p:spPr>
          <a:xfrm>
            <a:off x="4194677" y="2171155"/>
            <a:ext cx="3802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Functions can also take zero parameters</a:t>
            </a:r>
          </a:p>
        </p:txBody>
      </p:sp>
    </p:spTree>
    <p:extLst>
      <p:ext uri="{BB962C8B-B14F-4D97-AF65-F5344CB8AC3E}">
        <p14:creationId xmlns:p14="http://schemas.microsoft.com/office/powerpoint/2010/main" val="5185334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4D6156-FA56-0DD7-D881-543DFF509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Not all functions return values, some just do stuff with the inputs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It might just write to a file, or print something in the console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143017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4D6156-FA56-0DD7-D881-543DFF509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Not all functions return values, some just do stuff with the inputs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It might just write to a file, or print something in the console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The </a:t>
            </a:r>
            <a:r>
              <a:rPr lang="de-DE" dirty="0">
                <a:solidFill>
                  <a:srgbClr val="00FF00"/>
                </a:solidFill>
              </a:rPr>
              <a:t>return type is optional</a:t>
            </a:r>
            <a:r>
              <a:rPr lang="de-DE" dirty="0"/>
              <a:t>, and declared using the </a:t>
            </a:r>
            <a:r>
              <a:rPr lang="de-DE" dirty="0">
                <a:solidFill>
                  <a:srgbClr val="00FF00"/>
                </a:solidFill>
              </a:rPr>
              <a:t>Arrow syntax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163815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4D6156-FA56-0DD7-D881-543DFF509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The </a:t>
            </a:r>
            <a:r>
              <a:rPr lang="de-DE" dirty="0">
                <a:solidFill>
                  <a:srgbClr val="00FF00"/>
                </a:solidFill>
              </a:rPr>
              <a:t>return type is optional</a:t>
            </a:r>
            <a:r>
              <a:rPr lang="de-DE" dirty="0"/>
              <a:t>, and declared using the </a:t>
            </a:r>
            <a:r>
              <a:rPr lang="de-DE" dirty="0">
                <a:solidFill>
                  <a:srgbClr val="00FF00"/>
                </a:solidFill>
              </a:rPr>
              <a:t>Arrow syntax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808478-59AC-1773-7353-AC08A1A0C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236" y="3094423"/>
            <a:ext cx="6965528" cy="283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210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4D6156-FA56-0DD7-D881-543DFF509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The </a:t>
            </a:r>
            <a:r>
              <a:rPr lang="de-DE" dirty="0">
                <a:solidFill>
                  <a:srgbClr val="00FF00"/>
                </a:solidFill>
              </a:rPr>
              <a:t>return type is optional</a:t>
            </a:r>
            <a:r>
              <a:rPr lang="de-DE" dirty="0"/>
              <a:t>, and declared using the </a:t>
            </a:r>
            <a:r>
              <a:rPr lang="de-DE" dirty="0">
                <a:solidFill>
                  <a:srgbClr val="00FF00"/>
                </a:solidFill>
              </a:rPr>
              <a:t>Arrow syntax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808478-59AC-1773-7353-AC08A1A0C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236" y="3094423"/>
            <a:ext cx="6965528" cy="28308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CED4E3-2A36-8CC6-1CE3-BFA1A336BB62}"/>
              </a:ext>
            </a:extLst>
          </p:cNvPr>
          <p:cNvSpPr/>
          <p:nvPr/>
        </p:nvSpPr>
        <p:spPr>
          <a:xfrm>
            <a:off x="6835845" y="3094423"/>
            <a:ext cx="837864" cy="619572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4A0078-66A6-00DC-864D-9A30CE9E7F6E}"/>
              </a:ext>
            </a:extLst>
          </p:cNvPr>
          <p:cNvSpPr txBox="1"/>
          <p:nvPr/>
        </p:nvSpPr>
        <p:spPr>
          <a:xfrm>
            <a:off x="6565325" y="2755869"/>
            <a:ext cx="1378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Arrow Syntax</a:t>
            </a:r>
          </a:p>
        </p:txBody>
      </p:sp>
    </p:spTree>
    <p:extLst>
      <p:ext uri="{BB962C8B-B14F-4D97-AF65-F5344CB8AC3E}">
        <p14:creationId xmlns:p14="http://schemas.microsoft.com/office/powerpoint/2010/main" val="14326258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4D6156-FA56-0DD7-D881-543DFF509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The </a:t>
            </a:r>
            <a:r>
              <a:rPr lang="de-DE" dirty="0">
                <a:solidFill>
                  <a:srgbClr val="00FF00"/>
                </a:solidFill>
              </a:rPr>
              <a:t>return type is optional</a:t>
            </a:r>
            <a:r>
              <a:rPr lang="de-DE" dirty="0"/>
              <a:t>, and declared using the </a:t>
            </a:r>
            <a:r>
              <a:rPr lang="de-DE" dirty="0">
                <a:solidFill>
                  <a:srgbClr val="00FF00"/>
                </a:solidFill>
              </a:rPr>
              <a:t>Arrow syntax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808478-59AC-1773-7353-AC08A1A0C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236" y="3094423"/>
            <a:ext cx="6965528" cy="28308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CED4E3-2A36-8CC6-1CE3-BFA1A336BB62}"/>
              </a:ext>
            </a:extLst>
          </p:cNvPr>
          <p:cNvSpPr/>
          <p:nvPr/>
        </p:nvSpPr>
        <p:spPr>
          <a:xfrm>
            <a:off x="6835844" y="3094423"/>
            <a:ext cx="2187309" cy="619572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4A0078-66A6-00DC-864D-9A30CE9E7F6E}"/>
              </a:ext>
            </a:extLst>
          </p:cNvPr>
          <p:cNvSpPr txBox="1"/>
          <p:nvPr/>
        </p:nvSpPr>
        <p:spPr>
          <a:xfrm>
            <a:off x="6279329" y="2755869"/>
            <a:ext cx="3748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This function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returns a value of type i32</a:t>
            </a:r>
          </a:p>
        </p:txBody>
      </p:sp>
    </p:spTree>
    <p:extLst>
      <p:ext uri="{BB962C8B-B14F-4D97-AF65-F5344CB8AC3E}">
        <p14:creationId xmlns:p14="http://schemas.microsoft.com/office/powerpoint/2010/main" val="17317760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4D6156-FA56-0DD7-D881-543DFF509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The </a:t>
            </a:r>
            <a:r>
              <a:rPr lang="de-DE" dirty="0">
                <a:solidFill>
                  <a:srgbClr val="00FF00"/>
                </a:solidFill>
              </a:rPr>
              <a:t>return type is optional</a:t>
            </a:r>
            <a:r>
              <a:rPr lang="de-DE" dirty="0"/>
              <a:t>, and declared using the </a:t>
            </a:r>
            <a:r>
              <a:rPr lang="de-DE" dirty="0">
                <a:solidFill>
                  <a:srgbClr val="00FF00"/>
                </a:solidFill>
              </a:rPr>
              <a:t>Arrow syntax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808478-59AC-1773-7353-AC08A1A0C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236" y="3094423"/>
            <a:ext cx="6965528" cy="28308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CED4E3-2A36-8CC6-1CE3-BFA1A336BB62}"/>
              </a:ext>
            </a:extLst>
          </p:cNvPr>
          <p:cNvSpPr/>
          <p:nvPr/>
        </p:nvSpPr>
        <p:spPr>
          <a:xfrm>
            <a:off x="3908691" y="4596939"/>
            <a:ext cx="2979520" cy="619572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4A0078-66A6-00DC-864D-9A30CE9E7F6E}"/>
              </a:ext>
            </a:extLst>
          </p:cNvPr>
          <p:cNvSpPr txBox="1"/>
          <p:nvPr/>
        </p:nvSpPr>
        <p:spPr>
          <a:xfrm>
            <a:off x="3029187" y="5216511"/>
            <a:ext cx="5769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All return statements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must return a value of the specified type</a:t>
            </a:r>
          </a:p>
        </p:txBody>
      </p:sp>
    </p:spTree>
    <p:extLst>
      <p:ext uri="{BB962C8B-B14F-4D97-AF65-F5344CB8AC3E}">
        <p14:creationId xmlns:p14="http://schemas.microsoft.com/office/powerpoint/2010/main" val="16308117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462045-289D-1C6B-D515-A2C038517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701" y="1841981"/>
            <a:ext cx="7882597" cy="317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8464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462045-289D-1C6B-D515-A2C038517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701" y="1841981"/>
            <a:ext cx="7882597" cy="31740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37388C-8D82-68C2-9EFA-361E0E1692E5}"/>
              </a:ext>
            </a:extLst>
          </p:cNvPr>
          <p:cNvSpPr/>
          <p:nvPr/>
        </p:nvSpPr>
        <p:spPr>
          <a:xfrm>
            <a:off x="3646858" y="3569749"/>
            <a:ext cx="3325946" cy="619572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CFB46F-8232-34C3-E55D-63294C9BC840}"/>
              </a:ext>
            </a:extLst>
          </p:cNvPr>
          <p:cNvSpPr txBox="1"/>
          <p:nvPr/>
        </p:nvSpPr>
        <p:spPr>
          <a:xfrm>
            <a:off x="4098602" y="4189331"/>
            <a:ext cx="24224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rgbClr val="FFFF00"/>
                </a:solidFill>
                <a:latin typeface="Lato"/>
              </a:rPr>
              <a:t>returns a value of type i8</a:t>
            </a:r>
            <a:br>
              <a:rPr lang="de-DE" sz="1600" dirty="0">
                <a:solidFill>
                  <a:srgbClr val="FFFF00"/>
                </a:solidFill>
                <a:latin typeface="Lato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i8 is not i32</a:t>
            </a:r>
            <a:b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Compiler error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2774646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9B8A1A-EF92-D69D-B032-00BFD2292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525" y="1477452"/>
            <a:ext cx="8008950" cy="390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125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9B8A1A-EF92-D69D-B032-00BFD2292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525" y="1477452"/>
            <a:ext cx="8008950" cy="390309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D2B0916-2EA3-4BEA-AD58-0E42ADE53383}"/>
              </a:ext>
            </a:extLst>
          </p:cNvPr>
          <p:cNvSpPr/>
          <p:nvPr/>
        </p:nvSpPr>
        <p:spPr>
          <a:xfrm>
            <a:off x="6708285" y="1477452"/>
            <a:ext cx="1678415" cy="46010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F7A1FD-9F64-2D81-AFAE-DB588E5CF882}"/>
              </a:ext>
            </a:extLst>
          </p:cNvPr>
          <p:cNvSpPr txBox="1"/>
          <p:nvPr/>
        </p:nvSpPr>
        <p:spPr>
          <a:xfrm>
            <a:off x="6408259" y="4549551"/>
            <a:ext cx="3692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If a function is declared to return something,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every possible control flow path 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must end with a return statement</a:t>
            </a:r>
          </a:p>
        </p:txBody>
      </p:sp>
    </p:spTree>
    <p:extLst>
      <p:ext uri="{BB962C8B-B14F-4D97-AF65-F5344CB8AC3E}">
        <p14:creationId xmlns:p14="http://schemas.microsoft.com/office/powerpoint/2010/main" val="30473777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9B8A1A-EF92-D69D-B032-00BFD2292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525" y="1477452"/>
            <a:ext cx="8008950" cy="390309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D2B0916-2EA3-4BEA-AD58-0E42ADE53383}"/>
              </a:ext>
            </a:extLst>
          </p:cNvPr>
          <p:cNvSpPr/>
          <p:nvPr/>
        </p:nvSpPr>
        <p:spPr>
          <a:xfrm>
            <a:off x="6708285" y="1477452"/>
            <a:ext cx="1678415" cy="46010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38BA4A-7398-1346-739B-2D9B6603CAB4}"/>
              </a:ext>
            </a:extLst>
          </p:cNvPr>
          <p:cNvSpPr/>
          <p:nvPr/>
        </p:nvSpPr>
        <p:spPr>
          <a:xfrm>
            <a:off x="3090296" y="2048785"/>
            <a:ext cx="7010179" cy="106903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84CE2-6194-7836-AE5D-97C6B2435B6C}"/>
              </a:ext>
            </a:extLst>
          </p:cNvPr>
          <p:cNvSpPr txBox="1"/>
          <p:nvPr/>
        </p:nvSpPr>
        <p:spPr>
          <a:xfrm>
            <a:off x="6050996" y="2068650"/>
            <a:ext cx="3499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This branch does not return a value, not even after the if-block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7DFC37-A491-B153-8526-3BE6998557E1}"/>
              </a:ext>
            </a:extLst>
          </p:cNvPr>
          <p:cNvSpPr txBox="1"/>
          <p:nvPr/>
        </p:nvSpPr>
        <p:spPr>
          <a:xfrm>
            <a:off x="6408259" y="4549551"/>
            <a:ext cx="3692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If a function is declared to return something,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every possible control flow path 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must end with a return statement</a:t>
            </a:r>
          </a:p>
        </p:txBody>
      </p:sp>
    </p:spTree>
    <p:extLst>
      <p:ext uri="{BB962C8B-B14F-4D97-AF65-F5344CB8AC3E}">
        <p14:creationId xmlns:p14="http://schemas.microsoft.com/office/powerpoint/2010/main" val="10807783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7FFE9B-EEDB-98F6-8015-5712DF2E8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276" y="1494460"/>
            <a:ext cx="8661447" cy="419218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00F3DE0-BE16-1974-F57A-1FA90945750C}"/>
              </a:ext>
            </a:extLst>
          </p:cNvPr>
          <p:cNvSpPr/>
          <p:nvPr/>
        </p:nvSpPr>
        <p:spPr>
          <a:xfrm>
            <a:off x="1115811" y="1494459"/>
            <a:ext cx="649466" cy="447129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19532352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7FFE9B-EEDB-98F6-8015-5712DF2E8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276" y="1494460"/>
            <a:ext cx="8661447" cy="419218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00F3DE0-BE16-1974-F57A-1FA90945750C}"/>
              </a:ext>
            </a:extLst>
          </p:cNvPr>
          <p:cNvSpPr/>
          <p:nvPr/>
        </p:nvSpPr>
        <p:spPr>
          <a:xfrm>
            <a:off x="1115811" y="1494459"/>
            <a:ext cx="649466" cy="447129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1/3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223EE3-FF4E-2C33-2801-EF488BBD3483}"/>
              </a:ext>
            </a:extLst>
          </p:cNvPr>
          <p:cNvSpPr txBox="1"/>
          <p:nvPr/>
        </p:nvSpPr>
        <p:spPr>
          <a:xfrm>
            <a:off x="6779451" y="4092645"/>
            <a:ext cx="35990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 all possible paths lead to a return?</a:t>
            </a:r>
          </a:p>
        </p:txBody>
      </p:sp>
    </p:spTree>
    <p:extLst>
      <p:ext uri="{BB962C8B-B14F-4D97-AF65-F5344CB8AC3E}">
        <p14:creationId xmlns:p14="http://schemas.microsoft.com/office/powerpoint/2010/main" val="25001928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7FFE9B-EEDB-98F6-8015-5712DF2E8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276" y="1494460"/>
            <a:ext cx="8661447" cy="419218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00F3DE0-BE16-1974-F57A-1FA90945750C}"/>
              </a:ext>
            </a:extLst>
          </p:cNvPr>
          <p:cNvSpPr/>
          <p:nvPr/>
        </p:nvSpPr>
        <p:spPr>
          <a:xfrm>
            <a:off x="1115811" y="1494459"/>
            <a:ext cx="649466" cy="447129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1/3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223EE3-FF4E-2C33-2801-EF488BBD3483}"/>
              </a:ext>
            </a:extLst>
          </p:cNvPr>
          <p:cNvSpPr txBox="1"/>
          <p:nvPr/>
        </p:nvSpPr>
        <p:spPr>
          <a:xfrm>
            <a:off x="6779451" y="4092645"/>
            <a:ext cx="35990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 all possible paths lead to a return?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7806A-5192-7137-6F8E-1884E38FA75F}"/>
              </a:ext>
            </a:extLst>
          </p:cNvPr>
          <p:cNvSpPr txBox="1"/>
          <p:nvPr/>
        </p:nvSpPr>
        <p:spPr>
          <a:xfrm>
            <a:off x="3415909" y="4674203"/>
            <a:ext cx="67874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Nope. Imagine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was 4 in the beginning :^)</a:t>
            </a:r>
          </a:p>
          <a:p>
            <a:pPr algn="l"/>
            <a:endParaRPr lang="de-DE" sz="1600" dirty="0">
              <a:solidFill>
                <a:schemeClr val="bg1"/>
              </a:solidFill>
              <a:latin typeface="Lato"/>
            </a:endParaRP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We get to the end of the function, but there is no return statement there!</a:t>
            </a:r>
          </a:p>
        </p:txBody>
      </p:sp>
    </p:spTree>
    <p:extLst>
      <p:ext uri="{BB962C8B-B14F-4D97-AF65-F5344CB8AC3E}">
        <p14:creationId xmlns:p14="http://schemas.microsoft.com/office/powerpoint/2010/main" val="12946648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7FFE9B-EEDB-98F6-8015-5712DF2E8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276" y="1494460"/>
            <a:ext cx="8661447" cy="419218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00F3DE0-BE16-1974-F57A-1FA90945750C}"/>
              </a:ext>
            </a:extLst>
          </p:cNvPr>
          <p:cNvSpPr/>
          <p:nvPr/>
        </p:nvSpPr>
        <p:spPr>
          <a:xfrm>
            <a:off x="1115811" y="1494459"/>
            <a:ext cx="649466" cy="447129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1/3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056D0B-1905-4B3E-CFFA-894AFCE6D755}"/>
              </a:ext>
            </a:extLst>
          </p:cNvPr>
          <p:cNvSpPr/>
          <p:nvPr/>
        </p:nvSpPr>
        <p:spPr>
          <a:xfrm>
            <a:off x="4839203" y="1513745"/>
            <a:ext cx="1678415" cy="46010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0FB47D-B103-753A-837D-9F25E8F2EC47}"/>
              </a:ext>
            </a:extLst>
          </p:cNvPr>
          <p:cNvSpPr/>
          <p:nvPr/>
        </p:nvSpPr>
        <p:spPr>
          <a:xfrm>
            <a:off x="3999995" y="3958188"/>
            <a:ext cx="1678415" cy="46010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4525DE-5523-84D6-A8F6-81C70EF0BD51}"/>
              </a:ext>
            </a:extLst>
          </p:cNvPr>
          <p:cNvSpPr txBox="1"/>
          <p:nvPr/>
        </p:nvSpPr>
        <p:spPr>
          <a:xfrm>
            <a:off x="5907130" y="4018965"/>
            <a:ext cx="4863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Code wouldn‘t compile anyway,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is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not mutable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:^)</a:t>
            </a:r>
          </a:p>
        </p:txBody>
      </p:sp>
    </p:spTree>
    <p:extLst>
      <p:ext uri="{BB962C8B-B14F-4D97-AF65-F5344CB8AC3E}">
        <p14:creationId xmlns:p14="http://schemas.microsoft.com/office/powerpoint/2010/main" val="12888466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D3AABA-78D8-8C4C-DD61-818E3A28F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723" y="1607249"/>
            <a:ext cx="7058553" cy="422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7282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D3AABA-78D8-8C4C-DD61-818E3A28F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723" y="1607249"/>
            <a:ext cx="7058553" cy="42235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86AC234-FFC0-FA64-83D9-17A9ED1C06C7}"/>
              </a:ext>
            </a:extLst>
          </p:cNvPr>
          <p:cNvSpPr/>
          <p:nvPr/>
        </p:nvSpPr>
        <p:spPr>
          <a:xfrm>
            <a:off x="6920437" y="1641977"/>
            <a:ext cx="261833" cy="46010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A0644-90CD-3178-62BA-AA77B7639CA7}"/>
              </a:ext>
            </a:extLst>
          </p:cNvPr>
          <p:cNvSpPr txBox="1"/>
          <p:nvPr/>
        </p:nvSpPr>
        <p:spPr>
          <a:xfrm>
            <a:off x="5819285" y="1268695"/>
            <a:ext cx="2464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 don‘t return anything</a:t>
            </a:r>
          </a:p>
        </p:txBody>
      </p:sp>
    </p:spTree>
    <p:extLst>
      <p:ext uri="{BB962C8B-B14F-4D97-AF65-F5344CB8AC3E}">
        <p14:creationId xmlns:p14="http://schemas.microsoft.com/office/powerpoint/2010/main" val="193497810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D3AABA-78D8-8C4C-DD61-818E3A28F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723" y="1607249"/>
            <a:ext cx="7058553" cy="42235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86AC234-FFC0-FA64-83D9-17A9ED1C06C7}"/>
              </a:ext>
            </a:extLst>
          </p:cNvPr>
          <p:cNvSpPr/>
          <p:nvPr/>
        </p:nvSpPr>
        <p:spPr>
          <a:xfrm>
            <a:off x="6422600" y="2167778"/>
            <a:ext cx="1730800" cy="46010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A0644-90CD-3178-62BA-AA77B7639CA7}"/>
              </a:ext>
            </a:extLst>
          </p:cNvPr>
          <p:cNvSpPr txBox="1"/>
          <p:nvPr/>
        </p:nvSpPr>
        <p:spPr>
          <a:xfrm>
            <a:off x="6924708" y="2721380"/>
            <a:ext cx="37593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Now we simply return – without a value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B52540-F7DB-AE5D-F765-FE7EB7BE9256}"/>
              </a:ext>
            </a:extLst>
          </p:cNvPr>
          <p:cNvSpPr/>
          <p:nvPr/>
        </p:nvSpPr>
        <p:spPr>
          <a:xfrm>
            <a:off x="7372583" y="3250027"/>
            <a:ext cx="1730800" cy="46010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2394483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D3AABA-78D8-8C4C-DD61-818E3A28F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723" y="1607249"/>
            <a:ext cx="7058553" cy="42235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5A0644-90CD-3178-62BA-AA77B7639CA7}"/>
              </a:ext>
            </a:extLst>
          </p:cNvPr>
          <p:cNvSpPr txBox="1"/>
          <p:nvPr/>
        </p:nvSpPr>
        <p:spPr>
          <a:xfrm>
            <a:off x="4225071" y="5216418"/>
            <a:ext cx="52319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There‘s an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implicit return at the end of every function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not every control flow path 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needs to end in a return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B52540-F7DB-AE5D-F765-FE7EB7BE9256}"/>
              </a:ext>
            </a:extLst>
          </p:cNvPr>
          <p:cNvSpPr/>
          <p:nvPr/>
        </p:nvSpPr>
        <p:spPr>
          <a:xfrm>
            <a:off x="2566723" y="5114201"/>
            <a:ext cx="1730800" cy="46010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5231177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637FC-C3DE-BCFA-6B0E-1937ACABA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8F04051-DF56-7F0B-17DF-951151BDC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6B9B-FF32-5772-1246-2377B41645A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96E86-CE13-E435-573D-C688F26A73A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2D81A8-A153-B2E3-9180-5EB15353B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77" y="1799094"/>
            <a:ext cx="9042845" cy="325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81937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7DEE-BB4E-FC88-5762-C1FFF1723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9EF6401-783C-F128-8454-AC522BC4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06BBD-38DA-19C5-9F99-1067F141676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1DAE4-51A5-2E34-0345-E4308680180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21DC41-A004-B241-7ADB-7BB192706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77" y="1799094"/>
            <a:ext cx="9042845" cy="32598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C4B0A00-8212-C5A4-2B67-0BDAE92D9FB2}"/>
              </a:ext>
            </a:extLst>
          </p:cNvPr>
          <p:cNvSpPr/>
          <p:nvPr/>
        </p:nvSpPr>
        <p:spPr>
          <a:xfrm>
            <a:off x="1575024" y="1809476"/>
            <a:ext cx="8987460" cy="161952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E9A8FF-3676-70EB-104A-C43DE97FBEB1}"/>
              </a:ext>
            </a:extLst>
          </p:cNvPr>
          <p:cNvSpPr txBox="1"/>
          <p:nvPr/>
        </p:nvSpPr>
        <p:spPr>
          <a:xfrm>
            <a:off x="5054694" y="2887355"/>
            <a:ext cx="20281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Function declaration</a:t>
            </a:r>
          </a:p>
        </p:txBody>
      </p:sp>
    </p:spTree>
    <p:extLst>
      <p:ext uri="{BB962C8B-B14F-4D97-AF65-F5344CB8AC3E}">
        <p14:creationId xmlns:p14="http://schemas.microsoft.com/office/powerpoint/2010/main" val="31315759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6AA94-D601-35B1-E778-A95BA765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F82EDC-5E9F-CECF-2834-B893F7AAC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1695B-C9F1-59BF-D4DA-B10B190A5C0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B3FFC-3E49-D16A-F042-22E8E3B880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E355BD-8EE7-ACDB-D197-C05878109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77" y="1799094"/>
            <a:ext cx="9042845" cy="32598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9F8F72D-6583-7E2D-BC35-FB4DFF0D1561}"/>
              </a:ext>
            </a:extLst>
          </p:cNvPr>
          <p:cNvSpPr/>
          <p:nvPr/>
        </p:nvSpPr>
        <p:spPr>
          <a:xfrm>
            <a:off x="1575024" y="1809476"/>
            <a:ext cx="8987460" cy="161952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3F7EE3-2F83-DE72-D0DB-19616BE7D553}"/>
              </a:ext>
            </a:extLst>
          </p:cNvPr>
          <p:cNvSpPr txBox="1"/>
          <p:nvPr/>
        </p:nvSpPr>
        <p:spPr>
          <a:xfrm>
            <a:off x="5054694" y="2887355"/>
            <a:ext cx="20281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Function declaration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193CD5-77DB-4287-38FE-9C62D75F4B69}"/>
              </a:ext>
            </a:extLst>
          </p:cNvPr>
          <p:cNvSpPr/>
          <p:nvPr/>
        </p:nvSpPr>
        <p:spPr>
          <a:xfrm>
            <a:off x="2479313" y="4001266"/>
            <a:ext cx="3148236" cy="52208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BDAA3B-0BE7-1C65-A748-69B06CE94135}"/>
              </a:ext>
            </a:extLst>
          </p:cNvPr>
          <p:cNvSpPr txBox="1"/>
          <p:nvPr/>
        </p:nvSpPr>
        <p:spPr>
          <a:xfrm>
            <a:off x="5748794" y="4093032"/>
            <a:ext cx="1334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>
                <a:solidFill>
                  <a:schemeClr val="bg1"/>
                </a:solidFill>
                <a:latin typeface="Lato"/>
              </a:rPr>
              <a:t>Function call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8286046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28EE9-80B7-B5DB-A4D1-DC695FEF8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A1FDA66-CFB2-05EC-2E1E-2C39880D5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47708-8234-232C-C1B5-875F16CA51E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F1FF-4BB8-759C-CA3D-F3F83B4DF19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57E9A3-40C3-72FC-A1D0-DB8AC1B4F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77" y="1799094"/>
            <a:ext cx="9042845" cy="32598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7B717C2-227E-E5B0-CC4C-74443B2D709B}"/>
              </a:ext>
            </a:extLst>
          </p:cNvPr>
          <p:cNvSpPr/>
          <p:nvPr/>
        </p:nvSpPr>
        <p:spPr>
          <a:xfrm>
            <a:off x="4627232" y="1809476"/>
            <a:ext cx="472542" cy="52208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B1BDB-862F-D84B-36E9-8C6A12B5193F}"/>
              </a:ext>
            </a:extLst>
          </p:cNvPr>
          <p:cNvSpPr txBox="1"/>
          <p:nvPr/>
        </p:nvSpPr>
        <p:spPr>
          <a:xfrm>
            <a:off x="5527703" y="3041244"/>
            <a:ext cx="5046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>
                <a:solidFill>
                  <a:schemeClr val="bg1"/>
                </a:solidFill>
                <a:latin typeface="Lato"/>
              </a:rPr>
              <a:t>For every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parameter</a:t>
            </a:r>
            <a:r>
              <a:rPr lang="de-DE" sz="1600">
                <a:solidFill>
                  <a:schemeClr val="bg1"/>
                </a:solidFill>
                <a:latin typeface="Lato"/>
              </a:rPr>
              <a:t>, we have to provide an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argument</a:t>
            </a:r>
          </a:p>
          <a:p>
            <a:pPr algn="ctr"/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call_this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has no parameters, so we can call it as is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B5998E-66BE-266C-9DFE-C89DE74FDD38}"/>
              </a:ext>
            </a:extLst>
          </p:cNvPr>
          <p:cNvSpPr/>
          <p:nvPr/>
        </p:nvSpPr>
        <p:spPr>
          <a:xfrm>
            <a:off x="4860435" y="4001266"/>
            <a:ext cx="472542" cy="52208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453589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6D3A2-B243-D2C9-B477-55431904A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12B08DE-4652-A078-616E-3108484EC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07" y="1516705"/>
            <a:ext cx="8961386" cy="38245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430E30F-CFFE-A4A3-5ED1-C6D88BE13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EF799-ABF0-0C2E-4CE7-24CB90FAA7C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41256-9211-3589-46DE-2761691BBF3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4898837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58D6C-6DCA-8410-3135-74DFF8531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691F68-4D55-4C1C-B6D7-EA26F3634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07" y="1516705"/>
            <a:ext cx="8961386" cy="38245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AE37D46-BCBE-4C92-960A-9F2450F9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CF8F7-AD25-BE3A-C512-B98FA5D22BE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83691-5039-5FFC-9255-5F5CBF091C0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4ACF1A-8029-169E-368A-1DD9C645D14D}"/>
              </a:ext>
            </a:extLst>
          </p:cNvPr>
          <p:cNvSpPr/>
          <p:nvPr/>
        </p:nvSpPr>
        <p:spPr>
          <a:xfrm>
            <a:off x="4762244" y="1516705"/>
            <a:ext cx="3743517" cy="45938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1D4579-C43C-2E67-3675-5012DEE7A8CA}"/>
              </a:ext>
            </a:extLst>
          </p:cNvPr>
          <p:cNvSpPr/>
          <p:nvPr/>
        </p:nvSpPr>
        <p:spPr>
          <a:xfrm>
            <a:off x="5000562" y="4314114"/>
            <a:ext cx="1811412" cy="45938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B0C6F5-038F-A6B9-C075-F3D20989A653}"/>
              </a:ext>
            </a:extLst>
          </p:cNvPr>
          <p:cNvSpPr txBox="1"/>
          <p:nvPr/>
        </p:nvSpPr>
        <p:spPr>
          <a:xfrm>
            <a:off x="2653614" y="4773495"/>
            <a:ext cx="65053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>
                <a:solidFill>
                  <a:schemeClr val="bg1"/>
                </a:solidFill>
                <a:latin typeface="Lato"/>
              </a:rPr>
              <a:t>Every argument has to have the same type as the matching parameter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469986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DDEF-C545-EC83-3ED3-D8C44DC63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5BFCAAE-A7E1-3182-33BE-FCA756A2F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07" y="1516705"/>
            <a:ext cx="8961386" cy="38245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D6B890A-43DC-B68D-7F83-02321CB52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E4B20-875B-DAD7-38FC-5DDB497DF97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9C253-0014-908D-64AF-4888C2DC3F4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FF43FE-FCB0-B759-BC0A-BFBE083B7D3C}"/>
              </a:ext>
            </a:extLst>
          </p:cNvPr>
          <p:cNvSpPr/>
          <p:nvPr/>
        </p:nvSpPr>
        <p:spPr>
          <a:xfrm>
            <a:off x="4762244" y="1516705"/>
            <a:ext cx="3743517" cy="45938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13B0B0-8E8E-AF80-0DD9-2D0E02981C24}"/>
              </a:ext>
            </a:extLst>
          </p:cNvPr>
          <p:cNvSpPr/>
          <p:nvPr/>
        </p:nvSpPr>
        <p:spPr>
          <a:xfrm>
            <a:off x="5000562" y="4314114"/>
            <a:ext cx="1811412" cy="45938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EAC3EE-6EC7-E02D-F180-786BB8F9B39E}"/>
              </a:ext>
            </a:extLst>
          </p:cNvPr>
          <p:cNvSpPr txBox="1"/>
          <p:nvPr/>
        </p:nvSpPr>
        <p:spPr>
          <a:xfrm>
            <a:off x="2653614" y="4773495"/>
            <a:ext cx="65053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>
                <a:solidFill>
                  <a:schemeClr val="bg1"/>
                </a:solidFill>
                <a:latin typeface="Lato"/>
              </a:rPr>
              <a:t>Every argument has to have the same type as the matching parameter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D04DF7-039A-EACE-1D65-D26AB0521E49}"/>
              </a:ext>
            </a:extLst>
          </p:cNvPr>
          <p:cNvSpPr/>
          <p:nvPr/>
        </p:nvSpPr>
        <p:spPr>
          <a:xfrm>
            <a:off x="4410395" y="3745869"/>
            <a:ext cx="1811412" cy="45938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1684A2-FC94-85F4-E5CB-1DE20D9C3B36}"/>
              </a:ext>
            </a:extLst>
          </p:cNvPr>
          <p:cNvSpPr txBox="1"/>
          <p:nvPr/>
        </p:nvSpPr>
        <p:spPr>
          <a:xfrm>
            <a:off x="6521897" y="3089370"/>
            <a:ext cx="35910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>
                <a:solidFill>
                  <a:schemeClr val="bg1"/>
                </a:solidFill>
                <a:latin typeface="Lato"/>
              </a:rPr>
              <a:t>Type doesn‘t match 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Compiler error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2706005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E39FA-0667-9EE4-031A-B119B5AB7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4B2B348-A3FD-F66C-17BD-5933843B4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77479-C52F-195C-6008-55B83ED6053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FB3C1-BA94-2B39-EFFD-EC1CCACF09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EC4AE2-477C-333F-68BE-9566F56D1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796" y="1929505"/>
            <a:ext cx="5831708" cy="30170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9B74A8-6D92-CFDD-8CD8-0C6C7377D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07489"/>
            <a:ext cx="4772738" cy="204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15784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15F65-0A62-B3D3-C9C7-646516958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A15AF58-B136-6D6B-669A-E7288A8C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EF533-4F5B-7183-EB0F-9A869449D2B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0C72D-209E-238E-E0D1-856EDB0BB80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2C182F-A1CE-3A1D-1D99-F3EFBB467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330" y="1632585"/>
            <a:ext cx="8859340" cy="359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262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91301-CB2C-129B-9F4D-F57800DF5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6594D93-DFCD-9657-5786-143F3B97F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8B7E6-6AC6-D660-B0AB-77C3FE973DF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F2BCA-28A7-2513-B666-138D81952C9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3D3198-1E74-2236-24E0-504DC52AA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330" y="1632585"/>
            <a:ext cx="8859340" cy="35928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19C839-F519-FAB6-124B-26BBB3647F71}"/>
              </a:ext>
            </a:extLst>
          </p:cNvPr>
          <p:cNvSpPr/>
          <p:nvPr/>
        </p:nvSpPr>
        <p:spPr>
          <a:xfrm>
            <a:off x="8076529" y="3742192"/>
            <a:ext cx="2207450" cy="46727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F42647-8353-1283-DA34-E755C2E9670B}"/>
              </a:ext>
            </a:extLst>
          </p:cNvPr>
          <p:cNvSpPr txBox="1"/>
          <p:nvPr/>
        </p:nvSpPr>
        <p:spPr>
          <a:xfrm>
            <a:off x="7685293" y="3315330"/>
            <a:ext cx="29899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Return value can be used here</a:t>
            </a:r>
          </a:p>
        </p:txBody>
      </p:sp>
    </p:spTree>
    <p:extLst>
      <p:ext uri="{BB962C8B-B14F-4D97-AF65-F5344CB8AC3E}">
        <p14:creationId xmlns:p14="http://schemas.microsoft.com/office/powerpoint/2010/main" val="25886289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AFB80-C145-D5F9-28E6-8BC44C8AA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E523B37-963C-D98A-6750-DC4DA4AF2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924EE-F8E8-AB12-BB6E-AB70073D192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809AE-99FD-239E-C9C7-1D7BB908FDA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AD7277-44F5-9816-6B23-DCECE61F7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330" y="1632585"/>
            <a:ext cx="8859340" cy="359283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279FB7-804E-A0E0-A8B7-2F0D68509BDF}"/>
              </a:ext>
            </a:extLst>
          </p:cNvPr>
          <p:cNvSpPr/>
          <p:nvPr/>
        </p:nvSpPr>
        <p:spPr>
          <a:xfrm>
            <a:off x="4269884" y="2171197"/>
            <a:ext cx="3159801" cy="46727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522468-A7BF-431B-3A53-EE9F73C7D1A2}"/>
              </a:ext>
            </a:extLst>
          </p:cNvPr>
          <p:cNvSpPr txBox="1"/>
          <p:nvPr/>
        </p:nvSpPr>
        <p:spPr>
          <a:xfrm>
            <a:off x="5534794" y="2860577"/>
            <a:ext cx="51122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rgbClr val="FFFF00"/>
                </a:solidFill>
                <a:latin typeface="Lato"/>
              </a:rPr>
              <a:t>result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in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example3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has this value after the function call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FE1C1E-2D67-5011-6B36-C4F835CB8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314" y="4796730"/>
            <a:ext cx="2667372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78985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D1E92-D8D8-EA07-C69D-E5062F19F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62A3CAC-C0E2-53ED-1C36-F48D618B0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4345F-FBE5-A0DD-9C18-CCA55EC6E56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4DB55-9E95-C358-72AB-C05C25DF9BF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E3688-1060-684A-1709-79FE1481F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328" y="1501542"/>
            <a:ext cx="6383344" cy="385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72636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04EEB-CCA8-D4AC-AA6B-5BF5FE535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3CD368D-6043-64E2-4527-4E8EAA13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66ECF-B450-A890-CFB1-8B058F49640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6F56A-B7A5-D721-A41A-AED515C136C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FB5624-DD53-855D-A084-3653F08AF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328" y="1501542"/>
            <a:ext cx="6383344" cy="385491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2E1DE33-1DB9-631E-6DFC-24E58EF6EFD5}"/>
              </a:ext>
            </a:extLst>
          </p:cNvPr>
          <p:cNvSpPr/>
          <p:nvPr/>
        </p:nvSpPr>
        <p:spPr>
          <a:xfrm>
            <a:off x="4124870" y="1501542"/>
            <a:ext cx="3158104" cy="3796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19E027-4D77-3EF0-3830-DFCA2072C844}"/>
              </a:ext>
            </a:extLst>
          </p:cNvPr>
          <p:cNvSpPr txBox="1"/>
          <p:nvPr/>
        </p:nvSpPr>
        <p:spPr>
          <a:xfrm>
            <a:off x="6675310" y="2183282"/>
            <a:ext cx="37561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Function declared to take 2 parameters</a:t>
            </a:r>
          </a:p>
        </p:txBody>
      </p:sp>
    </p:spTree>
    <p:extLst>
      <p:ext uri="{BB962C8B-B14F-4D97-AF65-F5344CB8AC3E}">
        <p14:creationId xmlns:p14="http://schemas.microsoft.com/office/powerpoint/2010/main" val="356409341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F19F9-BE91-3E42-E9C3-8A86A005C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D5CC09E-73B7-9C77-AD86-2BC2C1FDC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296B3-128A-A6CC-9285-DB6BC8B73D4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F4040-C79C-F079-4954-9BD3E29D347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868572-742B-71CC-7B31-1BD119D84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328" y="1501542"/>
            <a:ext cx="6383344" cy="385491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4186CD-EA82-8957-5E7A-13C6E46FFC2C}"/>
              </a:ext>
            </a:extLst>
          </p:cNvPr>
          <p:cNvSpPr/>
          <p:nvPr/>
        </p:nvSpPr>
        <p:spPr>
          <a:xfrm>
            <a:off x="6946985" y="4114492"/>
            <a:ext cx="2129509" cy="3796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C899C8-45E4-369F-2536-97CD9A2FEC28}"/>
              </a:ext>
            </a:extLst>
          </p:cNvPr>
          <p:cNvSpPr txBox="1"/>
          <p:nvPr/>
        </p:nvSpPr>
        <p:spPr>
          <a:xfrm>
            <a:off x="6691340" y="2183282"/>
            <a:ext cx="3724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Function declared to take </a:t>
            </a:r>
            <a:r>
              <a:rPr lang="de-DE" sz="1600">
                <a:solidFill>
                  <a:schemeClr val="bg1"/>
                </a:solidFill>
                <a:latin typeface="Lato"/>
              </a:rPr>
              <a:t>2 parameters</a:t>
            </a:r>
          </a:p>
          <a:p>
            <a:pPr algn="ctr"/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Function takes 2 arguments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2567369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854E1-F47F-8542-4848-A1F6F5BD2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6FC9554-26E4-EEB2-6016-388B31FD1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0739C-6B67-E621-FD62-F2E5AB2EC83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C6942-6B21-6345-EBF9-7CD9005AEFD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3193EC-0220-4ECC-69FB-15622B3D9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328" y="1501542"/>
            <a:ext cx="6383344" cy="38549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3F30A2-8086-58A3-F3FF-E9C630705B45}"/>
              </a:ext>
            </a:extLst>
          </p:cNvPr>
          <p:cNvSpPr txBox="1"/>
          <p:nvPr/>
        </p:nvSpPr>
        <p:spPr>
          <a:xfrm>
            <a:off x="6691340" y="2183282"/>
            <a:ext cx="372409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Function declared to take </a:t>
            </a:r>
            <a:r>
              <a:rPr lang="de-DE" sz="1600">
                <a:solidFill>
                  <a:schemeClr val="bg1"/>
                </a:solidFill>
                <a:latin typeface="Lato"/>
              </a:rPr>
              <a:t>2 parameters</a:t>
            </a:r>
          </a:p>
          <a:p>
            <a:pPr algn="ctr"/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Function takes 2 arguments</a:t>
            </a:r>
          </a:p>
          <a:p>
            <a:pPr algn="ctr"/>
            <a:br>
              <a:rPr lang="de-DE" sz="1600">
                <a:solidFill>
                  <a:schemeClr val="bg1"/>
                </a:solidFill>
                <a:latin typeface="Lato"/>
              </a:rPr>
            </a:br>
            <a:r>
              <a:rPr lang="de-DE" sz="1600">
                <a:solidFill>
                  <a:schemeClr val="bg1"/>
                </a:solidFill>
                <a:latin typeface="Lato"/>
              </a:rPr>
              <a:t>Function declared to return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i32</a:t>
            </a:r>
            <a:endParaRPr lang="de-DE" sz="1600" dirty="0">
              <a:solidFill>
                <a:srgbClr val="FFFF00"/>
              </a:solidFill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D31901-49BD-B5E2-ED33-54AC10BD9D62}"/>
              </a:ext>
            </a:extLst>
          </p:cNvPr>
          <p:cNvSpPr/>
          <p:nvPr/>
        </p:nvSpPr>
        <p:spPr>
          <a:xfrm>
            <a:off x="7462486" y="1501542"/>
            <a:ext cx="1301024" cy="3796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040050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A9D80-8F75-3D6D-D4B5-97A3C5EAD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95FA723-918A-74F4-8633-F69324C61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8FD55-7907-601A-F9FD-F4C183CAD99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CB9BF-634E-D8C2-CE9C-0478A2B97AE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A16BBF-99CC-F3AF-A9AE-DC5CFC744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328" y="1501542"/>
            <a:ext cx="6383344" cy="38549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69B97E-0CC4-AE32-8719-97A254EF19F3}"/>
              </a:ext>
            </a:extLst>
          </p:cNvPr>
          <p:cNvSpPr txBox="1"/>
          <p:nvPr/>
        </p:nvSpPr>
        <p:spPr>
          <a:xfrm>
            <a:off x="6691340" y="2183282"/>
            <a:ext cx="37240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Function declared to take </a:t>
            </a:r>
            <a:r>
              <a:rPr lang="de-DE" sz="1600">
                <a:solidFill>
                  <a:schemeClr val="bg1"/>
                </a:solidFill>
                <a:latin typeface="Lato"/>
              </a:rPr>
              <a:t>2 parameters</a:t>
            </a:r>
          </a:p>
          <a:p>
            <a:pPr algn="ctr"/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Function takes 2 arguments</a:t>
            </a:r>
          </a:p>
          <a:p>
            <a:pPr algn="ctr"/>
            <a:br>
              <a:rPr lang="de-DE" sz="1600">
                <a:solidFill>
                  <a:schemeClr val="bg1"/>
                </a:solidFill>
                <a:latin typeface="Lato"/>
              </a:rPr>
            </a:br>
            <a:r>
              <a:rPr lang="de-DE" sz="1600">
                <a:solidFill>
                  <a:schemeClr val="bg1"/>
                </a:solidFill>
                <a:latin typeface="Lato"/>
              </a:rPr>
              <a:t>Function declared to return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i32</a:t>
            </a:r>
            <a:br>
              <a:rPr lang="de-DE" sz="1600">
                <a:solidFill>
                  <a:srgbClr val="FFFF00"/>
                </a:solidFill>
                <a:latin typeface="Lato"/>
              </a:rPr>
            </a:b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add(x, y)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evaluates to an </a:t>
            </a:r>
            <a:r>
              <a:rPr lang="de-DE" sz="160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i32</a:t>
            </a:r>
            <a:endParaRPr lang="de-DE" sz="1600" dirty="0">
              <a:solidFill>
                <a:srgbClr val="FFFF00"/>
              </a:solidFill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99AE2E-AFF8-AEB7-5590-435D52D915D2}"/>
              </a:ext>
            </a:extLst>
          </p:cNvPr>
          <p:cNvSpPr/>
          <p:nvPr/>
        </p:nvSpPr>
        <p:spPr>
          <a:xfrm>
            <a:off x="6296472" y="4114492"/>
            <a:ext cx="2780022" cy="3796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71077690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99539-AA75-C222-874F-B053D8D6A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54FD841-0F8A-C1E4-A189-3CC7124B3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B9BD1-1100-8A5E-9DA2-62CC405F181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8F8CC-33B5-92FB-3E57-C941F7633D2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57D200-1D3D-B7A1-C330-A1B6C4C53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328" y="1501542"/>
            <a:ext cx="6383344" cy="38549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9EF85A-950A-E88B-4E9F-0D6EE8DC7C74}"/>
              </a:ext>
            </a:extLst>
          </p:cNvPr>
          <p:cNvSpPr txBox="1"/>
          <p:nvPr/>
        </p:nvSpPr>
        <p:spPr>
          <a:xfrm>
            <a:off x="6691340" y="2183282"/>
            <a:ext cx="372409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Function declared to take </a:t>
            </a:r>
            <a:r>
              <a:rPr lang="de-DE" sz="1600">
                <a:solidFill>
                  <a:schemeClr val="bg1"/>
                </a:solidFill>
                <a:latin typeface="Lato"/>
              </a:rPr>
              <a:t>2 parameters</a:t>
            </a:r>
          </a:p>
          <a:p>
            <a:pPr algn="ctr"/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Function takes 2 arguments</a:t>
            </a:r>
          </a:p>
          <a:p>
            <a:pPr algn="ctr"/>
            <a:br>
              <a:rPr lang="de-DE" sz="1600">
                <a:solidFill>
                  <a:schemeClr val="bg1"/>
                </a:solidFill>
                <a:latin typeface="Lato"/>
              </a:rPr>
            </a:br>
            <a:r>
              <a:rPr lang="de-DE" sz="1600">
                <a:solidFill>
                  <a:schemeClr val="bg1"/>
                </a:solidFill>
                <a:latin typeface="Lato"/>
              </a:rPr>
              <a:t>Function declared to return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i32</a:t>
            </a:r>
            <a:br>
              <a:rPr lang="de-DE" sz="1600">
                <a:solidFill>
                  <a:srgbClr val="FFFF00"/>
                </a:solidFill>
                <a:latin typeface="Lato"/>
              </a:rPr>
            </a:b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add(x, y)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evaluates to an </a:t>
            </a:r>
            <a:r>
              <a:rPr lang="de-DE" sz="160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i32</a:t>
            </a:r>
            <a:br>
              <a:rPr lang="de-DE" sz="160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</a:t>
            </a:r>
            <a:r>
              <a:rPr lang="de-DE" sz="160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 z 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is of type </a:t>
            </a:r>
            <a:r>
              <a:rPr lang="de-DE" sz="160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i32</a:t>
            </a:r>
            <a:endParaRPr lang="de-DE" sz="1600" dirty="0">
              <a:solidFill>
                <a:srgbClr val="FFFF00"/>
              </a:solidFill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E71E37-DE1D-25B2-8353-09FA6144DAD4}"/>
              </a:ext>
            </a:extLst>
          </p:cNvPr>
          <p:cNvSpPr/>
          <p:nvPr/>
        </p:nvSpPr>
        <p:spPr>
          <a:xfrm flipH="1">
            <a:off x="4455399" y="4114492"/>
            <a:ext cx="1282614" cy="3796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11120057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BB22D-277A-2458-81BC-862C58C76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BBCBB0B-0E27-5804-DBF9-D80843C9A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00476-6ABA-7F4C-3F7F-E6FD86E5C14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E9A55-10F8-E3D1-82D7-15BFEC40911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226D17-4CEA-4B93-F2BC-193B23414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328" y="1501542"/>
            <a:ext cx="6383344" cy="38549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A7C7F5-ABCA-E68A-B9F8-3A82C156B6EB}"/>
              </a:ext>
            </a:extLst>
          </p:cNvPr>
          <p:cNvSpPr txBox="1"/>
          <p:nvPr/>
        </p:nvSpPr>
        <p:spPr>
          <a:xfrm>
            <a:off x="6691340" y="2183282"/>
            <a:ext cx="372409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Function declared to take </a:t>
            </a:r>
            <a:r>
              <a:rPr lang="de-DE" sz="1600">
                <a:solidFill>
                  <a:schemeClr val="bg1"/>
                </a:solidFill>
                <a:latin typeface="Lato"/>
              </a:rPr>
              <a:t>2 parameters</a:t>
            </a:r>
          </a:p>
          <a:p>
            <a:pPr algn="ctr"/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Function takes 2 arguments</a:t>
            </a:r>
          </a:p>
          <a:p>
            <a:pPr algn="ctr"/>
            <a:br>
              <a:rPr lang="de-DE" sz="1600">
                <a:solidFill>
                  <a:schemeClr val="bg1"/>
                </a:solidFill>
                <a:latin typeface="Lato"/>
              </a:rPr>
            </a:br>
            <a:r>
              <a:rPr lang="de-DE" sz="1600">
                <a:solidFill>
                  <a:schemeClr val="bg1"/>
                </a:solidFill>
                <a:latin typeface="Lato"/>
              </a:rPr>
              <a:t>Function declared to return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i32</a:t>
            </a:r>
            <a:br>
              <a:rPr lang="de-DE" sz="1600">
                <a:solidFill>
                  <a:srgbClr val="FFFF00"/>
                </a:solidFill>
                <a:latin typeface="Lato"/>
              </a:rPr>
            </a:b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add(x, y)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evaluates to an </a:t>
            </a:r>
            <a:r>
              <a:rPr lang="de-DE" sz="160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i32</a:t>
            </a:r>
            <a:br>
              <a:rPr lang="de-DE" sz="160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</a:t>
            </a:r>
            <a:r>
              <a:rPr lang="de-DE" sz="160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 z 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is of type </a:t>
            </a:r>
            <a:r>
              <a:rPr lang="de-DE" sz="160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i32</a:t>
            </a:r>
            <a:br>
              <a:rPr lang="de-DE" sz="160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Code compiles, and prints 31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7405E9-509A-4946-FA2B-2AABBD143518}"/>
              </a:ext>
            </a:extLst>
          </p:cNvPr>
          <p:cNvSpPr/>
          <p:nvPr/>
        </p:nvSpPr>
        <p:spPr>
          <a:xfrm>
            <a:off x="3699417" y="4561061"/>
            <a:ext cx="4018602" cy="3796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06625D-57BB-8C64-BBA2-52C543A04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400" y="4986983"/>
            <a:ext cx="995200" cy="36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36058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0581E-6115-CF0D-B61E-D2DBCF407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EB58150-965D-CB30-5E22-F0B565636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3FCD2-8B9D-B46F-0860-2C9B375E36F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D17E5-4081-30DA-15FB-4487215B712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F73DB0-B8DE-AD94-4983-98BC7225B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328" y="1501542"/>
            <a:ext cx="6383344" cy="38549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642A32-0245-42F8-8005-D0615F41DDB9}"/>
              </a:ext>
            </a:extLst>
          </p:cNvPr>
          <p:cNvSpPr txBox="1"/>
          <p:nvPr/>
        </p:nvSpPr>
        <p:spPr>
          <a:xfrm>
            <a:off x="7072931" y="2302782"/>
            <a:ext cx="338906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>
                <a:solidFill>
                  <a:schemeClr val="bg1"/>
                </a:solidFill>
                <a:latin typeface="Lato"/>
              </a:rPr>
              <a:t>But how does this work?</a:t>
            </a:r>
          </a:p>
          <a:p>
            <a:pPr algn="ctr"/>
            <a:endParaRPr lang="de-DE" sz="1600">
              <a:solidFill>
                <a:schemeClr val="bg1"/>
              </a:solidFill>
              <a:latin typeface="Lato"/>
            </a:endParaRPr>
          </a:p>
          <a:p>
            <a:pPr algn="ctr"/>
            <a:r>
              <a:rPr lang="de-DE" sz="1600">
                <a:solidFill>
                  <a:schemeClr val="bg1"/>
                </a:solidFill>
                <a:latin typeface="Lato"/>
              </a:rPr>
              <a:t>How does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a</a:t>
            </a:r>
            <a:r>
              <a:rPr lang="de-DE" sz="1600">
                <a:solidFill>
                  <a:schemeClr val="bg1"/>
                </a:solidFill>
                <a:latin typeface="Lato"/>
              </a:rPr>
              <a:t> know the value of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x</a:t>
            </a:r>
            <a:r>
              <a:rPr lang="de-DE" sz="1600">
                <a:solidFill>
                  <a:schemeClr val="bg1"/>
                </a:solidFill>
                <a:latin typeface="Lato"/>
              </a:rPr>
              <a:t>?</a:t>
            </a:r>
          </a:p>
          <a:p>
            <a:pPr algn="ctr"/>
            <a:r>
              <a:rPr lang="de-DE" sz="1600">
                <a:solidFill>
                  <a:schemeClr val="bg1"/>
                </a:solidFill>
                <a:latin typeface="Lato"/>
              </a:rPr>
              <a:t>How does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b</a:t>
            </a:r>
            <a:r>
              <a:rPr lang="de-DE" sz="1600">
                <a:solidFill>
                  <a:schemeClr val="bg1"/>
                </a:solidFill>
                <a:latin typeface="Lato"/>
              </a:rPr>
              <a:t> know the value of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y</a:t>
            </a:r>
            <a:r>
              <a:rPr lang="de-DE" sz="1600">
                <a:solidFill>
                  <a:schemeClr val="bg1"/>
                </a:solidFill>
                <a:latin typeface="Lato"/>
              </a:rPr>
              <a:t>?</a:t>
            </a:r>
          </a:p>
          <a:p>
            <a:pPr algn="ctr"/>
            <a:r>
              <a:rPr lang="de-DE" sz="1600">
                <a:solidFill>
                  <a:schemeClr val="bg1"/>
                </a:solidFill>
                <a:latin typeface="Lato"/>
              </a:rPr>
              <a:t>How does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z</a:t>
            </a:r>
            <a:r>
              <a:rPr lang="de-DE" sz="1600">
                <a:solidFill>
                  <a:schemeClr val="bg1"/>
                </a:solidFill>
                <a:latin typeface="Lato"/>
              </a:rPr>
              <a:t> know the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return value</a:t>
            </a:r>
            <a:r>
              <a:rPr lang="de-DE" sz="1600">
                <a:solidFill>
                  <a:schemeClr val="bg1"/>
                </a:solidFill>
                <a:latin typeface="Lato"/>
              </a:rPr>
              <a:t>?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AD8B4C-BF14-7499-3553-5A45C9EE2C62}"/>
              </a:ext>
            </a:extLst>
          </p:cNvPr>
          <p:cNvSpPr/>
          <p:nvPr/>
        </p:nvSpPr>
        <p:spPr>
          <a:xfrm flipH="1">
            <a:off x="3700557" y="4114492"/>
            <a:ext cx="5587113" cy="37962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9349971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AAAE79-4917-CE1F-D47F-9B462F49301E}"/>
              </a:ext>
            </a:extLst>
          </p:cNvPr>
          <p:cNvSpPr/>
          <p:nvPr/>
        </p:nvSpPr>
        <p:spPr>
          <a:xfrm>
            <a:off x="3162132" y="3904467"/>
            <a:ext cx="1985900" cy="28485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8F035-63E9-EFC4-B5B2-E72926DFE3A8}"/>
              </a:ext>
            </a:extLst>
          </p:cNvPr>
          <p:cNvSpPr txBox="1"/>
          <p:nvPr/>
        </p:nvSpPr>
        <p:spPr>
          <a:xfrm>
            <a:off x="5290026" y="2084766"/>
            <a:ext cx="59089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To understand this, we need to </a:t>
            </a:r>
            <a:r>
              <a:rPr lang="de-DE" sz="1600">
                <a:solidFill>
                  <a:schemeClr val="bg1"/>
                </a:solidFill>
                <a:latin typeface="Lato"/>
              </a:rPr>
              <a:t>revisit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memory and control flow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29845962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AAAE79-4917-CE1F-D47F-9B462F49301E}"/>
              </a:ext>
            </a:extLst>
          </p:cNvPr>
          <p:cNvSpPr/>
          <p:nvPr/>
        </p:nvSpPr>
        <p:spPr>
          <a:xfrm>
            <a:off x="3162132" y="3904467"/>
            <a:ext cx="1985900" cy="28485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8F035-63E9-EFC4-B5B2-E72926DFE3A8}"/>
              </a:ext>
            </a:extLst>
          </p:cNvPr>
          <p:cNvSpPr txBox="1"/>
          <p:nvPr/>
        </p:nvSpPr>
        <p:spPr>
          <a:xfrm>
            <a:off x="5290026" y="2084766"/>
            <a:ext cx="59089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To understand this, we need to </a:t>
            </a:r>
            <a:r>
              <a:rPr lang="de-DE" sz="1600">
                <a:solidFill>
                  <a:schemeClr val="bg1"/>
                </a:solidFill>
                <a:latin typeface="Lato"/>
              </a:rPr>
              <a:t>revisit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memory and control flow</a:t>
            </a:r>
            <a:br>
              <a:rPr lang="de-DE" sz="1600" dirty="0">
                <a:solidFill>
                  <a:schemeClr val="bg1"/>
                </a:solidFill>
                <a:latin typeface="Lato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Instructions are stored in memory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9700202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AAAE79-4917-CE1F-D47F-9B462F49301E}"/>
              </a:ext>
            </a:extLst>
          </p:cNvPr>
          <p:cNvSpPr/>
          <p:nvPr/>
        </p:nvSpPr>
        <p:spPr>
          <a:xfrm>
            <a:off x="3162132" y="3904467"/>
            <a:ext cx="1985900" cy="28485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8F035-63E9-EFC4-B5B2-E72926DFE3A8}"/>
              </a:ext>
            </a:extLst>
          </p:cNvPr>
          <p:cNvSpPr txBox="1"/>
          <p:nvPr/>
        </p:nvSpPr>
        <p:spPr>
          <a:xfrm>
            <a:off x="5290025" y="2084766"/>
            <a:ext cx="59282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To understand this, we need to </a:t>
            </a:r>
            <a:r>
              <a:rPr lang="de-DE" sz="1600">
                <a:solidFill>
                  <a:schemeClr val="bg1"/>
                </a:solidFill>
                <a:latin typeface="Lato"/>
              </a:rPr>
              <a:t>revisit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memory and control flow</a:t>
            </a:r>
            <a:br>
              <a:rPr lang="de-DE" sz="1600" dirty="0">
                <a:solidFill>
                  <a:schemeClr val="bg1"/>
                </a:solidFill>
                <a:latin typeface="Lato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Instructions are stored in memory</a:t>
            </a:r>
            <a:b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Whenever we call a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function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, the computer </a:t>
            </a:r>
            <a:r>
              <a:rPr lang="de-DE" sz="160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jumps there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and executes that code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77727238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AAAE79-4917-CE1F-D47F-9B462F49301E}"/>
              </a:ext>
            </a:extLst>
          </p:cNvPr>
          <p:cNvSpPr/>
          <p:nvPr/>
        </p:nvSpPr>
        <p:spPr>
          <a:xfrm>
            <a:off x="1365558" y="3286571"/>
            <a:ext cx="781469" cy="88260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8F035-63E9-EFC4-B5B2-E72926DFE3A8}"/>
              </a:ext>
            </a:extLst>
          </p:cNvPr>
          <p:cNvSpPr txBox="1"/>
          <p:nvPr/>
        </p:nvSpPr>
        <p:spPr>
          <a:xfrm>
            <a:off x="5290026" y="2084766"/>
            <a:ext cx="60637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To understand this, we need to </a:t>
            </a:r>
            <a:r>
              <a:rPr lang="de-DE" sz="1600">
                <a:solidFill>
                  <a:schemeClr val="bg1"/>
                </a:solidFill>
                <a:latin typeface="Lato"/>
              </a:rPr>
              <a:t>revisit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memory and control flow</a:t>
            </a:r>
            <a:br>
              <a:rPr lang="de-DE" sz="1600" dirty="0">
                <a:solidFill>
                  <a:schemeClr val="bg1"/>
                </a:solidFill>
                <a:latin typeface="Lato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Instructions are stored in memory</a:t>
            </a:r>
            <a:b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Whenever we call a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function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, the computer</a:t>
            </a:r>
            <a:r>
              <a:rPr lang="de-DE" sz="160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 jumps there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and executes that code</a:t>
            </a:r>
            <a:b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Variables and parameters are stored on </a:t>
            </a:r>
            <a:r>
              <a:rPr lang="de-DE" sz="160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the stack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(usually)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2DAC1B-7644-9DB6-EA66-C81D323B2DA4}"/>
              </a:ext>
            </a:extLst>
          </p:cNvPr>
          <p:cNvSpPr/>
          <p:nvPr/>
        </p:nvSpPr>
        <p:spPr>
          <a:xfrm>
            <a:off x="1755620" y="2084767"/>
            <a:ext cx="2034910" cy="239502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2625607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AAAE79-4917-CE1F-D47F-9B462F49301E}"/>
              </a:ext>
            </a:extLst>
          </p:cNvPr>
          <p:cNvSpPr/>
          <p:nvPr/>
        </p:nvSpPr>
        <p:spPr>
          <a:xfrm>
            <a:off x="1365558" y="3286571"/>
            <a:ext cx="781469" cy="88260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8F035-63E9-EFC4-B5B2-E72926DFE3A8}"/>
              </a:ext>
            </a:extLst>
          </p:cNvPr>
          <p:cNvSpPr txBox="1"/>
          <p:nvPr/>
        </p:nvSpPr>
        <p:spPr>
          <a:xfrm>
            <a:off x="5290026" y="2084766"/>
            <a:ext cx="59773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To understand this, we need to </a:t>
            </a:r>
            <a:r>
              <a:rPr lang="de-DE" sz="1600">
                <a:solidFill>
                  <a:schemeClr val="bg1"/>
                </a:solidFill>
                <a:latin typeface="Lato"/>
              </a:rPr>
              <a:t>revisit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memory and control flow</a:t>
            </a:r>
            <a:br>
              <a:rPr lang="de-DE" sz="1600" dirty="0">
                <a:solidFill>
                  <a:schemeClr val="bg1"/>
                </a:solidFill>
                <a:latin typeface="Lato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Instructions are stored in memory</a:t>
            </a:r>
            <a:b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Whenever we call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a function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, the computer</a:t>
            </a:r>
            <a:r>
              <a:rPr lang="de-DE" sz="160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 jumps there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and executes that code</a:t>
            </a:r>
            <a:b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Variables and parameters are stored on </a:t>
            </a:r>
            <a:r>
              <a:rPr lang="de-DE" sz="160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the stack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(usually)</a:t>
            </a:r>
            <a:b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Every function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allocates its own stack region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, and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frees it when you leave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2DAC1B-7644-9DB6-EA66-C81D323B2DA4}"/>
              </a:ext>
            </a:extLst>
          </p:cNvPr>
          <p:cNvSpPr/>
          <p:nvPr/>
        </p:nvSpPr>
        <p:spPr>
          <a:xfrm>
            <a:off x="1755620" y="2084767"/>
            <a:ext cx="2034910" cy="239502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97353630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7519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de-DE">
                        <a:latin typeface="Lat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dirty="0">
                        <a:latin typeface="Lato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90743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5AAAE79-4917-CE1F-D47F-9B462F49301E}"/>
              </a:ext>
            </a:extLst>
          </p:cNvPr>
          <p:cNvSpPr/>
          <p:nvPr/>
        </p:nvSpPr>
        <p:spPr>
          <a:xfrm>
            <a:off x="838200" y="2987695"/>
            <a:ext cx="2114466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7734462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5AAAE79-4917-CE1F-D47F-9B462F49301E}"/>
              </a:ext>
            </a:extLst>
          </p:cNvPr>
          <p:cNvSpPr/>
          <p:nvPr/>
        </p:nvSpPr>
        <p:spPr>
          <a:xfrm>
            <a:off x="1353808" y="3283372"/>
            <a:ext cx="2259481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3197831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5AAAE79-4917-CE1F-D47F-9B462F49301E}"/>
              </a:ext>
            </a:extLst>
          </p:cNvPr>
          <p:cNvSpPr/>
          <p:nvPr/>
        </p:nvSpPr>
        <p:spPr>
          <a:xfrm>
            <a:off x="1353808" y="3581458"/>
            <a:ext cx="2259481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15905069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5AAAE79-4917-CE1F-D47F-9B462F49301E}"/>
              </a:ext>
            </a:extLst>
          </p:cNvPr>
          <p:cNvSpPr/>
          <p:nvPr/>
        </p:nvSpPr>
        <p:spPr>
          <a:xfrm>
            <a:off x="3174553" y="3896391"/>
            <a:ext cx="1985563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95E8CF-2208-CD5F-5554-28AFF6654248}"/>
              </a:ext>
            </a:extLst>
          </p:cNvPr>
          <p:cNvSpPr txBox="1"/>
          <p:nvPr/>
        </p:nvSpPr>
        <p:spPr>
          <a:xfrm>
            <a:off x="283377" y="4920164"/>
            <a:ext cx="5782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 want to jump to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add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but we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need to pass the arguments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.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But we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can‘t assign 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to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and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b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yet, they don‘t exist in memory!</a:t>
            </a:r>
          </a:p>
        </p:txBody>
      </p:sp>
    </p:spTree>
    <p:extLst>
      <p:ext uri="{BB962C8B-B14F-4D97-AF65-F5344CB8AC3E}">
        <p14:creationId xmlns:p14="http://schemas.microsoft.com/office/powerpoint/2010/main" val="76923050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5AAAE79-4917-CE1F-D47F-9B462F49301E}"/>
              </a:ext>
            </a:extLst>
          </p:cNvPr>
          <p:cNvSpPr/>
          <p:nvPr/>
        </p:nvSpPr>
        <p:spPr>
          <a:xfrm>
            <a:off x="3174553" y="3896391"/>
            <a:ext cx="1985563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95E8CF-2208-CD5F-5554-28AFF6654248}"/>
              </a:ext>
            </a:extLst>
          </p:cNvPr>
          <p:cNvSpPr txBox="1"/>
          <p:nvPr/>
        </p:nvSpPr>
        <p:spPr>
          <a:xfrm>
            <a:off x="283377" y="4920164"/>
            <a:ext cx="578235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 want to jump to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add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but we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need to pass the arguments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.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But we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can‘t assign 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to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and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b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yet, they don‘t exist in memory!</a:t>
            </a:r>
          </a:p>
          <a:p>
            <a:pPr algn="ctr"/>
            <a:endParaRPr lang="de-DE" sz="1600" dirty="0">
              <a:solidFill>
                <a:schemeClr val="bg1"/>
              </a:solidFill>
              <a:latin typeface="Lato"/>
            </a:endParaRP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Solution: Our computer </a:t>
            </a:r>
            <a:r>
              <a:rPr lang="de-DE" sz="1600">
                <a:solidFill>
                  <a:schemeClr val="bg1"/>
                </a:solidFill>
                <a:latin typeface="Lato"/>
              </a:rPr>
              <a:t>has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registers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FF01F3-0F94-68A2-E3A3-0383540ED110}"/>
              </a:ext>
            </a:extLst>
          </p:cNvPr>
          <p:cNvGraphicFramePr>
            <a:graphicFrameLocks noGrp="1"/>
          </p:cNvGraphicFramePr>
          <p:nvPr/>
        </p:nvGraphicFramePr>
        <p:xfrm>
          <a:off x="6922117" y="5067400"/>
          <a:ext cx="3336240" cy="75196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68120">
                  <a:extLst>
                    <a:ext uri="{9D8B030D-6E8A-4147-A177-3AD203B41FA5}">
                      <a16:colId xmlns:a16="http://schemas.microsoft.com/office/drawing/2014/main" val="3677536162"/>
                    </a:ext>
                  </a:extLst>
                </a:gridCol>
                <a:gridCol w="1668120">
                  <a:extLst>
                    <a:ext uri="{9D8B030D-6E8A-4147-A177-3AD203B41FA5}">
                      <a16:colId xmlns:a16="http://schemas.microsoft.com/office/drawing/2014/main" val="2802827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880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649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06884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5AAAE79-4917-CE1F-D47F-9B462F49301E}"/>
              </a:ext>
            </a:extLst>
          </p:cNvPr>
          <p:cNvSpPr/>
          <p:nvPr/>
        </p:nvSpPr>
        <p:spPr>
          <a:xfrm>
            <a:off x="4072504" y="3896391"/>
            <a:ext cx="225580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95E8CF-2208-CD5F-5554-28AFF6654248}"/>
              </a:ext>
            </a:extLst>
          </p:cNvPr>
          <p:cNvSpPr txBox="1"/>
          <p:nvPr/>
        </p:nvSpPr>
        <p:spPr>
          <a:xfrm>
            <a:off x="283377" y="4920164"/>
            <a:ext cx="578235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 want to jump to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add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but we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need to pass the arguments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.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But we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can‘t assign 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to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and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b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yet, they don‘t exist in memory!</a:t>
            </a:r>
          </a:p>
          <a:p>
            <a:pPr algn="ctr"/>
            <a:endParaRPr lang="de-DE" sz="1600" dirty="0">
              <a:solidFill>
                <a:schemeClr val="bg1"/>
              </a:solidFill>
              <a:latin typeface="Lato"/>
            </a:endParaRP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Solution: Our computer </a:t>
            </a:r>
            <a:r>
              <a:rPr lang="de-DE" sz="1600">
                <a:solidFill>
                  <a:schemeClr val="bg1"/>
                </a:solidFill>
                <a:latin typeface="Lato"/>
              </a:rPr>
              <a:t>has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registers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FF01F3-0F94-68A2-E3A3-0383540ED110}"/>
              </a:ext>
            </a:extLst>
          </p:cNvPr>
          <p:cNvGraphicFramePr>
            <a:graphicFrameLocks noGrp="1"/>
          </p:cNvGraphicFramePr>
          <p:nvPr/>
        </p:nvGraphicFramePr>
        <p:xfrm>
          <a:off x="6922117" y="5067400"/>
          <a:ext cx="3336240" cy="75196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68120">
                  <a:extLst>
                    <a:ext uri="{9D8B030D-6E8A-4147-A177-3AD203B41FA5}">
                      <a16:colId xmlns:a16="http://schemas.microsoft.com/office/drawing/2014/main" val="3677536162"/>
                    </a:ext>
                  </a:extLst>
                </a:gridCol>
                <a:gridCol w="1668120">
                  <a:extLst>
                    <a:ext uri="{9D8B030D-6E8A-4147-A177-3AD203B41FA5}">
                      <a16:colId xmlns:a16="http://schemas.microsoft.com/office/drawing/2014/main" val="2802827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880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64991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A7B0C54-3C3C-37F0-39DD-1DC96D4EE6E9}"/>
              </a:ext>
            </a:extLst>
          </p:cNvPr>
          <p:cNvSpPr/>
          <p:nvPr/>
        </p:nvSpPr>
        <p:spPr>
          <a:xfrm>
            <a:off x="8590237" y="5067400"/>
            <a:ext cx="1668120" cy="370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651CE2-C910-4AB4-A068-D2CBC095D6A6}"/>
              </a:ext>
            </a:extLst>
          </p:cNvPr>
          <p:cNvSpPr/>
          <p:nvPr/>
        </p:nvSpPr>
        <p:spPr>
          <a:xfrm>
            <a:off x="8590236" y="2209840"/>
            <a:ext cx="1688261" cy="370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01666336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5AAAE79-4917-CE1F-D47F-9B462F49301E}"/>
              </a:ext>
            </a:extLst>
          </p:cNvPr>
          <p:cNvSpPr/>
          <p:nvPr/>
        </p:nvSpPr>
        <p:spPr>
          <a:xfrm>
            <a:off x="4825776" y="3896391"/>
            <a:ext cx="225580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95E8CF-2208-CD5F-5554-28AFF6654248}"/>
              </a:ext>
            </a:extLst>
          </p:cNvPr>
          <p:cNvSpPr txBox="1"/>
          <p:nvPr/>
        </p:nvSpPr>
        <p:spPr>
          <a:xfrm>
            <a:off x="283377" y="4920164"/>
            <a:ext cx="578235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 want to jump to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add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but we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need to pass the arguments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.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But we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can‘t assign 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to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and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b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yet, they don‘t exist in memory!</a:t>
            </a:r>
          </a:p>
          <a:p>
            <a:pPr algn="ctr"/>
            <a:endParaRPr lang="de-DE" sz="1600" dirty="0">
              <a:solidFill>
                <a:schemeClr val="bg1"/>
              </a:solidFill>
              <a:latin typeface="Lato"/>
            </a:endParaRP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Solution: Our computer </a:t>
            </a:r>
            <a:r>
              <a:rPr lang="de-DE" sz="1600">
                <a:solidFill>
                  <a:schemeClr val="bg1"/>
                </a:solidFill>
                <a:latin typeface="Lato"/>
              </a:rPr>
              <a:t>has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registers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FF01F3-0F94-68A2-E3A3-0383540ED110}"/>
              </a:ext>
            </a:extLst>
          </p:cNvPr>
          <p:cNvGraphicFramePr>
            <a:graphicFrameLocks noGrp="1"/>
          </p:cNvGraphicFramePr>
          <p:nvPr/>
        </p:nvGraphicFramePr>
        <p:xfrm>
          <a:off x="6922117" y="5067400"/>
          <a:ext cx="3336240" cy="75196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68120">
                  <a:extLst>
                    <a:ext uri="{9D8B030D-6E8A-4147-A177-3AD203B41FA5}">
                      <a16:colId xmlns:a16="http://schemas.microsoft.com/office/drawing/2014/main" val="3677536162"/>
                    </a:ext>
                  </a:extLst>
                </a:gridCol>
                <a:gridCol w="1668120">
                  <a:extLst>
                    <a:ext uri="{9D8B030D-6E8A-4147-A177-3AD203B41FA5}">
                      <a16:colId xmlns:a16="http://schemas.microsoft.com/office/drawing/2014/main" val="2802827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880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64991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A7B0C54-3C3C-37F0-39DD-1DC96D4EE6E9}"/>
              </a:ext>
            </a:extLst>
          </p:cNvPr>
          <p:cNvSpPr/>
          <p:nvPr/>
        </p:nvSpPr>
        <p:spPr>
          <a:xfrm>
            <a:off x="8590237" y="5443384"/>
            <a:ext cx="1668120" cy="370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651CE2-C910-4AB4-A068-D2CBC095D6A6}"/>
              </a:ext>
            </a:extLst>
          </p:cNvPr>
          <p:cNvSpPr/>
          <p:nvPr/>
        </p:nvSpPr>
        <p:spPr>
          <a:xfrm>
            <a:off x="8590236" y="2582960"/>
            <a:ext cx="1688261" cy="370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37848415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5AAAE79-4917-CE1F-D47F-9B462F49301E}"/>
              </a:ext>
            </a:extLst>
          </p:cNvPr>
          <p:cNvSpPr/>
          <p:nvPr/>
        </p:nvSpPr>
        <p:spPr>
          <a:xfrm>
            <a:off x="3186301" y="3896391"/>
            <a:ext cx="1961731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95E8CF-2208-CD5F-5554-28AFF6654248}"/>
              </a:ext>
            </a:extLst>
          </p:cNvPr>
          <p:cNvSpPr txBox="1"/>
          <p:nvPr/>
        </p:nvSpPr>
        <p:spPr>
          <a:xfrm>
            <a:off x="5290026" y="3848543"/>
            <a:ext cx="27975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 can now call the function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FF01F3-0F94-68A2-E3A3-0383540ED110}"/>
              </a:ext>
            </a:extLst>
          </p:cNvPr>
          <p:cNvGraphicFramePr>
            <a:graphicFrameLocks noGrp="1"/>
          </p:cNvGraphicFramePr>
          <p:nvPr/>
        </p:nvGraphicFramePr>
        <p:xfrm>
          <a:off x="6922117" y="5067400"/>
          <a:ext cx="3336240" cy="75196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68120">
                  <a:extLst>
                    <a:ext uri="{9D8B030D-6E8A-4147-A177-3AD203B41FA5}">
                      <a16:colId xmlns:a16="http://schemas.microsoft.com/office/drawing/2014/main" val="3677536162"/>
                    </a:ext>
                  </a:extLst>
                </a:gridCol>
                <a:gridCol w="1668120">
                  <a:extLst>
                    <a:ext uri="{9D8B030D-6E8A-4147-A177-3AD203B41FA5}">
                      <a16:colId xmlns:a16="http://schemas.microsoft.com/office/drawing/2014/main" val="2802827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880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649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064167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22559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49446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325259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5AAAE79-4917-CE1F-D47F-9B462F49301E}"/>
              </a:ext>
            </a:extLst>
          </p:cNvPr>
          <p:cNvSpPr/>
          <p:nvPr/>
        </p:nvSpPr>
        <p:spPr>
          <a:xfrm>
            <a:off x="1228934" y="2068654"/>
            <a:ext cx="2674386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FF01F3-0F94-68A2-E3A3-0383540ED110}"/>
              </a:ext>
            </a:extLst>
          </p:cNvPr>
          <p:cNvGraphicFramePr>
            <a:graphicFrameLocks noGrp="1"/>
          </p:cNvGraphicFramePr>
          <p:nvPr/>
        </p:nvGraphicFramePr>
        <p:xfrm>
          <a:off x="6922117" y="5067400"/>
          <a:ext cx="3336240" cy="75196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68120">
                  <a:extLst>
                    <a:ext uri="{9D8B030D-6E8A-4147-A177-3AD203B41FA5}">
                      <a16:colId xmlns:a16="http://schemas.microsoft.com/office/drawing/2014/main" val="3677536162"/>
                    </a:ext>
                  </a:extLst>
                </a:gridCol>
                <a:gridCol w="1668120">
                  <a:extLst>
                    <a:ext uri="{9D8B030D-6E8A-4147-A177-3AD203B41FA5}">
                      <a16:colId xmlns:a16="http://schemas.microsoft.com/office/drawing/2014/main" val="2802827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880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649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21862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22559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49446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325259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5AAAE79-4917-CE1F-D47F-9B462F49301E}"/>
              </a:ext>
            </a:extLst>
          </p:cNvPr>
          <p:cNvSpPr/>
          <p:nvPr/>
        </p:nvSpPr>
        <p:spPr>
          <a:xfrm>
            <a:off x="6901976" y="3326916"/>
            <a:ext cx="3376522" cy="7575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FF01F3-0F94-68A2-E3A3-0383540ED110}"/>
              </a:ext>
            </a:extLst>
          </p:cNvPr>
          <p:cNvGraphicFramePr>
            <a:graphicFrameLocks noGrp="1"/>
          </p:cNvGraphicFramePr>
          <p:nvPr/>
        </p:nvGraphicFramePr>
        <p:xfrm>
          <a:off x="6922117" y="5067400"/>
          <a:ext cx="3336240" cy="75196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68120">
                  <a:extLst>
                    <a:ext uri="{9D8B030D-6E8A-4147-A177-3AD203B41FA5}">
                      <a16:colId xmlns:a16="http://schemas.microsoft.com/office/drawing/2014/main" val="3677536162"/>
                    </a:ext>
                  </a:extLst>
                </a:gridCol>
                <a:gridCol w="1668120">
                  <a:extLst>
                    <a:ext uri="{9D8B030D-6E8A-4147-A177-3AD203B41FA5}">
                      <a16:colId xmlns:a16="http://schemas.microsoft.com/office/drawing/2014/main" val="2802827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880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6499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0F3724D-E07D-372F-A2C4-ED5956EBF406}"/>
              </a:ext>
            </a:extLst>
          </p:cNvPr>
          <p:cNvSpPr txBox="1"/>
          <p:nvPr/>
        </p:nvSpPr>
        <p:spPr>
          <a:xfrm>
            <a:off x="6175153" y="4376529"/>
            <a:ext cx="48301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 can now move the arguments into the variables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9CB6EF-BD4D-F9CB-B1E4-689A2EEE129A}"/>
              </a:ext>
            </a:extLst>
          </p:cNvPr>
          <p:cNvSpPr/>
          <p:nvPr/>
        </p:nvSpPr>
        <p:spPr>
          <a:xfrm>
            <a:off x="1228934" y="2068654"/>
            <a:ext cx="2674386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17121027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22559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49446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325259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5AAAE79-4917-CE1F-D47F-9B462F49301E}"/>
              </a:ext>
            </a:extLst>
          </p:cNvPr>
          <p:cNvSpPr/>
          <p:nvPr/>
        </p:nvSpPr>
        <p:spPr>
          <a:xfrm>
            <a:off x="8604222" y="3326916"/>
            <a:ext cx="1674276" cy="3830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FF01F3-0F94-68A2-E3A3-0383540ED110}"/>
              </a:ext>
            </a:extLst>
          </p:cNvPr>
          <p:cNvGraphicFramePr>
            <a:graphicFrameLocks noGrp="1"/>
          </p:cNvGraphicFramePr>
          <p:nvPr/>
        </p:nvGraphicFramePr>
        <p:xfrm>
          <a:off x="6922117" y="5067400"/>
          <a:ext cx="3336240" cy="75196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68120">
                  <a:extLst>
                    <a:ext uri="{9D8B030D-6E8A-4147-A177-3AD203B41FA5}">
                      <a16:colId xmlns:a16="http://schemas.microsoft.com/office/drawing/2014/main" val="3677536162"/>
                    </a:ext>
                  </a:extLst>
                </a:gridCol>
                <a:gridCol w="1668120">
                  <a:extLst>
                    <a:ext uri="{9D8B030D-6E8A-4147-A177-3AD203B41FA5}">
                      <a16:colId xmlns:a16="http://schemas.microsoft.com/office/drawing/2014/main" val="2802827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880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6499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0F3724D-E07D-372F-A2C4-ED5956EBF406}"/>
              </a:ext>
            </a:extLst>
          </p:cNvPr>
          <p:cNvSpPr txBox="1"/>
          <p:nvPr/>
        </p:nvSpPr>
        <p:spPr>
          <a:xfrm>
            <a:off x="6175153" y="4376529"/>
            <a:ext cx="48301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 can now move the arguments into the variables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147C4A-09A9-44ED-1B62-F295CD0B52F6}"/>
              </a:ext>
            </a:extLst>
          </p:cNvPr>
          <p:cNvSpPr/>
          <p:nvPr/>
        </p:nvSpPr>
        <p:spPr>
          <a:xfrm>
            <a:off x="8590237" y="5060333"/>
            <a:ext cx="1674276" cy="3830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574BCD-25E7-3294-D3FB-5B41E2228210}"/>
              </a:ext>
            </a:extLst>
          </p:cNvPr>
          <p:cNvSpPr/>
          <p:nvPr/>
        </p:nvSpPr>
        <p:spPr>
          <a:xfrm>
            <a:off x="1228934" y="2068654"/>
            <a:ext cx="2674386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52081441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22559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49446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325259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5AAAE79-4917-CE1F-D47F-9B462F49301E}"/>
              </a:ext>
            </a:extLst>
          </p:cNvPr>
          <p:cNvSpPr/>
          <p:nvPr/>
        </p:nvSpPr>
        <p:spPr>
          <a:xfrm>
            <a:off x="8604222" y="3708076"/>
            <a:ext cx="1674276" cy="3830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FF01F3-0F94-68A2-E3A3-0383540ED110}"/>
              </a:ext>
            </a:extLst>
          </p:cNvPr>
          <p:cNvGraphicFramePr>
            <a:graphicFrameLocks noGrp="1"/>
          </p:cNvGraphicFramePr>
          <p:nvPr/>
        </p:nvGraphicFramePr>
        <p:xfrm>
          <a:off x="6922117" y="5067400"/>
          <a:ext cx="3336240" cy="75196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68120">
                  <a:extLst>
                    <a:ext uri="{9D8B030D-6E8A-4147-A177-3AD203B41FA5}">
                      <a16:colId xmlns:a16="http://schemas.microsoft.com/office/drawing/2014/main" val="3677536162"/>
                    </a:ext>
                  </a:extLst>
                </a:gridCol>
                <a:gridCol w="1668120">
                  <a:extLst>
                    <a:ext uri="{9D8B030D-6E8A-4147-A177-3AD203B41FA5}">
                      <a16:colId xmlns:a16="http://schemas.microsoft.com/office/drawing/2014/main" val="2802827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880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6499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0F3724D-E07D-372F-A2C4-ED5956EBF406}"/>
              </a:ext>
            </a:extLst>
          </p:cNvPr>
          <p:cNvSpPr txBox="1"/>
          <p:nvPr/>
        </p:nvSpPr>
        <p:spPr>
          <a:xfrm>
            <a:off x="6175153" y="4376529"/>
            <a:ext cx="48301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 can now move the arguments into the variables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147C4A-09A9-44ED-1B62-F295CD0B52F6}"/>
              </a:ext>
            </a:extLst>
          </p:cNvPr>
          <p:cNvSpPr/>
          <p:nvPr/>
        </p:nvSpPr>
        <p:spPr>
          <a:xfrm>
            <a:off x="8604222" y="5449696"/>
            <a:ext cx="1674276" cy="3830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874249-9F85-4D29-3071-054E9EFAD1B7}"/>
              </a:ext>
            </a:extLst>
          </p:cNvPr>
          <p:cNvSpPr/>
          <p:nvPr/>
        </p:nvSpPr>
        <p:spPr>
          <a:xfrm>
            <a:off x="1228934" y="2068654"/>
            <a:ext cx="2674386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924940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22559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49446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325259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FF01F3-0F94-68A2-E3A3-0383540ED110}"/>
              </a:ext>
            </a:extLst>
          </p:cNvPr>
          <p:cNvGraphicFramePr>
            <a:graphicFrameLocks noGrp="1"/>
          </p:cNvGraphicFramePr>
          <p:nvPr/>
        </p:nvGraphicFramePr>
        <p:xfrm>
          <a:off x="6922117" y="5067400"/>
          <a:ext cx="3336240" cy="75196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68120">
                  <a:extLst>
                    <a:ext uri="{9D8B030D-6E8A-4147-A177-3AD203B41FA5}">
                      <a16:colId xmlns:a16="http://schemas.microsoft.com/office/drawing/2014/main" val="3677536162"/>
                    </a:ext>
                  </a:extLst>
                </a:gridCol>
                <a:gridCol w="1668120">
                  <a:extLst>
                    <a:ext uri="{9D8B030D-6E8A-4147-A177-3AD203B41FA5}">
                      <a16:colId xmlns:a16="http://schemas.microsoft.com/office/drawing/2014/main" val="2802827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880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6499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0F3724D-E07D-372F-A2C4-ED5956EBF406}"/>
              </a:ext>
            </a:extLst>
          </p:cNvPr>
          <p:cNvSpPr txBox="1"/>
          <p:nvPr/>
        </p:nvSpPr>
        <p:spPr>
          <a:xfrm>
            <a:off x="6175152" y="4376529"/>
            <a:ext cx="48301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 can now move the arguments into the variables</a:t>
            </a:r>
            <a:br>
              <a:rPr lang="de-DE" sz="1600" dirty="0">
                <a:solidFill>
                  <a:schemeClr val="bg1"/>
                </a:solidFill>
                <a:latin typeface="Lato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</a:rPr>
              <a:t>And execute the code in our function!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874249-9F85-4D29-3071-054E9EFAD1B7}"/>
              </a:ext>
            </a:extLst>
          </p:cNvPr>
          <p:cNvSpPr/>
          <p:nvPr/>
        </p:nvSpPr>
        <p:spPr>
          <a:xfrm>
            <a:off x="1349445" y="2377033"/>
            <a:ext cx="1861026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3211359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22559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49446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325259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FF01F3-0F94-68A2-E3A3-0383540ED110}"/>
              </a:ext>
            </a:extLst>
          </p:cNvPr>
          <p:cNvGraphicFramePr>
            <a:graphicFrameLocks noGrp="1"/>
          </p:cNvGraphicFramePr>
          <p:nvPr/>
        </p:nvGraphicFramePr>
        <p:xfrm>
          <a:off x="6922117" y="5067400"/>
          <a:ext cx="3336240" cy="75196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68120">
                  <a:extLst>
                    <a:ext uri="{9D8B030D-6E8A-4147-A177-3AD203B41FA5}">
                      <a16:colId xmlns:a16="http://schemas.microsoft.com/office/drawing/2014/main" val="3677536162"/>
                    </a:ext>
                  </a:extLst>
                </a:gridCol>
                <a:gridCol w="1668120">
                  <a:extLst>
                    <a:ext uri="{9D8B030D-6E8A-4147-A177-3AD203B41FA5}">
                      <a16:colId xmlns:a16="http://schemas.microsoft.com/office/drawing/2014/main" val="2802827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880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649919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D874249-9F85-4D29-3071-054E9EFAD1B7}"/>
              </a:ext>
            </a:extLst>
          </p:cNvPr>
          <p:cNvSpPr/>
          <p:nvPr/>
        </p:nvSpPr>
        <p:spPr>
          <a:xfrm>
            <a:off x="2324268" y="2377033"/>
            <a:ext cx="777442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5C485-BA7D-3A13-40DB-02AF635D3136}"/>
              </a:ext>
            </a:extLst>
          </p:cNvPr>
          <p:cNvSpPr txBox="1"/>
          <p:nvPr/>
        </p:nvSpPr>
        <p:spPr>
          <a:xfrm>
            <a:off x="847917" y="4852590"/>
            <a:ext cx="5466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However, we don‘t know where we should store this result.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It may be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z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it may be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in a vector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we don‘t know!</a:t>
            </a:r>
          </a:p>
        </p:txBody>
      </p:sp>
    </p:spTree>
    <p:extLst>
      <p:ext uri="{BB962C8B-B14F-4D97-AF65-F5344CB8AC3E}">
        <p14:creationId xmlns:p14="http://schemas.microsoft.com/office/powerpoint/2010/main" val="35946430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22559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49446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325259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FF01F3-0F94-68A2-E3A3-0383540ED110}"/>
              </a:ext>
            </a:extLst>
          </p:cNvPr>
          <p:cNvGraphicFramePr>
            <a:graphicFrameLocks noGrp="1"/>
          </p:cNvGraphicFramePr>
          <p:nvPr/>
        </p:nvGraphicFramePr>
        <p:xfrm>
          <a:off x="6922117" y="5067400"/>
          <a:ext cx="3336240" cy="75196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68120">
                  <a:extLst>
                    <a:ext uri="{9D8B030D-6E8A-4147-A177-3AD203B41FA5}">
                      <a16:colId xmlns:a16="http://schemas.microsoft.com/office/drawing/2014/main" val="3677536162"/>
                    </a:ext>
                  </a:extLst>
                </a:gridCol>
                <a:gridCol w="1668120">
                  <a:extLst>
                    <a:ext uri="{9D8B030D-6E8A-4147-A177-3AD203B41FA5}">
                      <a16:colId xmlns:a16="http://schemas.microsoft.com/office/drawing/2014/main" val="2802827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880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6499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0F3724D-E07D-372F-A2C4-ED5956EBF406}"/>
              </a:ext>
            </a:extLst>
          </p:cNvPr>
          <p:cNvSpPr txBox="1"/>
          <p:nvPr/>
        </p:nvSpPr>
        <p:spPr>
          <a:xfrm>
            <a:off x="651536" y="4852590"/>
            <a:ext cx="58597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However, we don‘t know where we should store this result.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It may be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z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it may be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in a vector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we don‘t know!</a:t>
            </a:r>
          </a:p>
          <a:p>
            <a:pPr algn="ctr"/>
            <a:endParaRPr lang="de-DE" sz="1600" dirty="0">
              <a:solidFill>
                <a:schemeClr val="bg1"/>
              </a:solidFill>
              <a:latin typeface="Lato"/>
            </a:endParaRP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Solution: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Store it in a register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and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leave it to the caller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874249-9F85-4D29-3071-054E9EFAD1B7}"/>
              </a:ext>
            </a:extLst>
          </p:cNvPr>
          <p:cNvSpPr/>
          <p:nvPr/>
        </p:nvSpPr>
        <p:spPr>
          <a:xfrm>
            <a:off x="2324268" y="2377033"/>
            <a:ext cx="777442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F5FA4C-4A95-0B02-CEF7-C45793F35947}"/>
              </a:ext>
            </a:extLst>
          </p:cNvPr>
          <p:cNvSpPr/>
          <p:nvPr/>
        </p:nvSpPr>
        <p:spPr>
          <a:xfrm>
            <a:off x="8604222" y="5060333"/>
            <a:ext cx="1674276" cy="3830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4016011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FF01F3-0F94-68A2-E3A3-0383540ED110}"/>
              </a:ext>
            </a:extLst>
          </p:cNvPr>
          <p:cNvGraphicFramePr>
            <a:graphicFrameLocks noGrp="1"/>
          </p:cNvGraphicFramePr>
          <p:nvPr/>
        </p:nvGraphicFramePr>
        <p:xfrm>
          <a:off x="6922117" y="5067400"/>
          <a:ext cx="3336240" cy="75196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68120">
                  <a:extLst>
                    <a:ext uri="{9D8B030D-6E8A-4147-A177-3AD203B41FA5}">
                      <a16:colId xmlns:a16="http://schemas.microsoft.com/office/drawing/2014/main" val="3677536162"/>
                    </a:ext>
                  </a:extLst>
                </a:gridCol>
                <a:gridCol w="1668120">
                  <a:extLst>
                    <a:ext uri="{9D8B030D-6E8A-4147-A177-3AD203B41FA5}">
                      <a16:colId xmlns:a16="http://schemas.microsoft.com/office/drawing/2014/main" val="2802827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880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6499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0F3724D-E07D-372F-A2C4-ED5956EBF406}"/>
              </a:ext>
            </a:extLst>
          </p:cNvPr>
          <p:cNvSpPr txBox="1"/>
          <p:nvPr/>
        </p:nvSpPr>
        <p:spPr>
          <a:xfrm>
            <a:off x="2236551" y="2597644"/>
            <a:ext cx="450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 return now, which means cleaning the stack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874249-9F85-4D29-3071-054E9EFAD1B7}"/>
              </a:ext>
            </a:extLst>
          </p:cNvPr>
          <p:cNvSpPr/>
          <p:nvPr/>
        </p:nvSpPr>
        <p:spPr>
          <a:xfrm>
            <a:off x="1349445" y="2377033"/>
            <a:ext cx="926485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05146623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FF01F3-0F94-68A2-E3A3-0383540ED110}"/>
              </a:ext>
            </a:extLst>
          </p:cNvPr>
          <p:cNvGraphicFramePr>
            <a:graphicFrameLocks noGrp="1"/>
          </p:cNvGraphicFramePr>
          <p:nvPr/>
        </p:nvGraphicFramePr>
        <p:xfrm>
          <a:off x="6922117" y="5067400"/>
          <a:ext cx="3336240" cy="75196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68120">
                  <a:extLst>
                    <a:ext uri="{9D8B030D-6E8A-4147-A177-3AD203B41FA5}">
                      <a16:colId xmlns:a16="http://schemas.microsoft.com/office/drawing/2014/main" val="3677536162"/>
                    </a:ext>
                  </a:extLst>
                </a:gridCol>
                <a:gridCol w="1668120">
                  <a:extLst>
                    <a:ext uri="{9D8B030D-6E8A-4147-A177-3AD203B41FA5}">
                      <a16:colId xmlns:a16="http://schemas.microsoft.com/office/drawing/2014/main" val="2802827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880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6499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0F3724D-E07D-372F-A2C4-ED5956EBF406}"/>
              </a:ext>
            </a:extLst>
          </p:cNvPr>
          <p:cNvSpPr txBox="1"/>
          <p:nvPr/>
        </p:nvSpPr>
        <p:spPr>
          <a:xfrm>
            <a:off x="5845799" y="3869452"/>
            <a:ext cx="5269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 now have the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result in Register 1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which we can use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874249-9F85-4D29-3071-054E9EFAD1B7}"/>
              </a:ext>
            </a:extLst>
          </p:cNvPr>
          <p:cNvSpPr/>
          <p:nvPr/>
        </p:nvSpPr>
        <p:spPr>
          <a:xfrm>
            <a:off x="3198386" y="3896391"/>
            <a:ext cx="1961730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F5FA4C-4A95-0B02-CEF7-C45793F35947}"/>
              </a:ext>
            </a:extLst>
          </p:cNvPr>
          <p:cNvSpPr/>
          <p:nvPr/>
        </p:nvSpPr>
        <p:spPr>
          <a:xfrm>
            <a:off x="8604222" y="5060333"/>
            <a:ext cx="1674276" cy="3830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644278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FF01F3-0F94-68A2-E3A3-0383540ED110}"/>
              </a:ext>
            </a:extLst>
          </p:cNvPr>
          <p:cNvGraphicFramePr>
            <a:graphicFrameLocks noGrp="1"/>
          </p:cNvGraphicFramePr>
          <p:nvPr/>
        </p:nvGraphicFramePr>
        <p:xfrm>
          <a:off x="6922117" y="5067400"/>
          <a:ext cx="3336240" cy="75196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68120">
                  <a:extLst>
                    <a:ext uri="{9D8B030D-6E8A-4147-A177-3AD203B41FA5}">
                      <a16:colId xmlns:a16="http://schemas.microsoft.com/office/drawing/2014/main" val="3677536162"/>
                    </a:ext>
                  </a:extLst>
                </a:gridCol>
                <a:gridCol w="1668120">
                  <a:extLst>
                    <a:ext uri="{9D8B030D-6E8A-4147-A177-3AD203B41FA5}">
                      <a16:colId xmlns:a16="http://schemas.microsoft.com/office/drawing/2014/main" val="2802827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880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6499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0F3724D-E07D-372F-A2C4-ED5956EBF406}"/>
              </a:ext>
            </a:extLst>
          </p:cNvPr>
          <p:cNvSpPr txBox="1"/>
          <p:nvPr/>
        </p:nvSpPr>
        <p:spPr>
          <a:xfrm>
            <a:off x="5845799" y="3869452"/>
            <a:ext cx="5269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 now have the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result in Register 1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which we can use</a:t>
            </a:r>
            <a:br>
              <a:rPr lang="de-DE" sz="1600" dirty="0">
                <a:solidFill>
                  <a:schemeClr val="bg1"/>
                </a:solidFill>
                <a:latin typeface="Lato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We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move the value into z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874249-9F85-4D29-3071-054E9EFAD1B7}"/>
              </a:ext>
            </a:extLst>
          </p:cNvPr>
          <p:cNvSpPr/>
          <p:nvPr/>
        </p:nvSpPr>
        <p:spPr>
          <a:xfrm>
            <a:off x="1377642" y="3896391"/>
            <a:ext cx="3782474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F5FA4C-4A95-0B02-CEF7-C45793F35947}"/>
              </a:ext>
            </a:extLst>
          </p:cNvPr>
          <p:cNvSpPr/>
          <p:nvPr/>
        </p:nvSpPr>
        <p:spPr>
          <a:xfrm>
            <a:off x="8604222" y="5060333"/>
            <a:ext cx="1674276" cy="3830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E13FD8-F741-B0FF-58DF-4ED1867342E5}"/>
              </a:ext>
            </a:extLst>
          </p:cNvPr>
          <p:cNvSpPr/>
          <p:nvPr/>
        </p:nvSpPr>
        <p:spPr>
          <a:xfrm>
            <a:off x="8604222" y="2956486"/>
            <a:ext cx="1674276" cy="3830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7570486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Intermission – Control Flow, again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E1D33-0206-EA35-85B3-82DE3E2B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4766"/>
            <a:ext cx="4451826" cy="268846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3E3895-A5FB-5A75-6186-F11DBDA6B05C}"/>
              </a:ext>
            </a:extLst>
          </p:cNvPr>
          <p:cNvGraphicFramePr>
            <a:graphicFrameLocks noGrp="1"/>
          </p:cNvGraphicFramePr>
          <p:nvPr/>
        </p:nvGraphicFramePr>
        <p:xfrm>
          <a:off x="6901976" y="1828534"/>
          <a:ext cx="3376522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261">
                  <a:extLst>
                    <a:ext uri="{9D8B030D-6E8A-4147-A177-3AD203B41FA5}">
                      <a16:colId xmlns:a16="http://schemas.microsoft.com/office/drawing/2014/main" val="857790565"/>
                    </a:ext>
                  </a:extLst>
                </a:gridCol>
                <a:gridCol w="1688261">
                  <a:extLst>
                    <a:ext uri="{9D8B030D-6E8A-4147-A177-3AD203B41FA5}">
                      <a16:colId xmlns:a16="http://schemas.microsoft.com/office/drawing/2014/main" val="7577192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39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z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9750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0F3724D-E07D-372F-A2C4-ED5956EBF406}"/>
              </a:ext>
            </a:extLst>
          </p:cNvPr>
          <p:cNvSpPr txBox="1"/>
          <p:nvPr/>
        </p:nvSpPr>
        <p:spPr>
          <a:xfrm>
            <a:off x="5368392" y="4057599"/>
            <a:ext cx="23790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Our program prints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31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874249-9F85-4D29-3071-054E9EFAD1B7}"/>
              </a:ext>
            </a:extLst>
          </p:cNvPr>
          <p:cNvSpPr/>
          <p:nvPr/>
        </p:nvSpPr>
        <p:spPr>
          <a:xfrm>
            <a:off x="1377642" y="4190449"/>
            <a:ext cx="2779454" cy="29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E13FD8-F741-B0FF-58DF-4ED1867342E5}"/>
              </a:ext>
            </a:extLst>
          </p:cNvPr>
          <p:cNvSpPr/>
          <p:nvPr/>
        </p:nvSpPr>
        <p:spPr>
          <a:xfrm>
            <a:off x="8604222" y="2956486"/>
            <a:ext cx="1674276" cy="3830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0730D5-A8A1-DD98-9EDC-342AF1F96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424" y="4396153"/>
            <a:ext cx="1790950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04220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825BC-F3B6-05EB-5C74-C334D3BE4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4D47-B0C2-756A-B2AC-B11936DFE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A737B-350E-6498-D193-809423DD65D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70DAD-81EA-80AC-691E-4E25C87EC8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1A466B-186E-0EB3-1F93-91605E9C6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81" y="1135329"/>
            <a:ext cx="6494438" cy="458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59203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E2836-6C2E-AE63-3F39-6FB49E52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1CB3-5A3F-EEC6-9FCD-551576348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682F1-0075-A638-5EFF-D07CF26604B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52FAA-8A0F-97A0-0E7A-25F52E2301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DE11C5-0745-4120-7E0E-171687BF3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81" y="1135329"/>
            <a:ext cx="6494438" cy="458734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B3D6CA4-1184-E535-7CB7-029C58D0D93C}"/>
              </a:ext>
            </a:extLst>
          </p:cNvPr>
          <p:cNvSpPr/>
          <p:nvPr/>
        </p:nvSpPr>
        <p:spPr>
          <a:xfrm>
            <a:off x="6268760" y="2668495"/>
            <a:ext cx="2832281" cy="35086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7238F5-291F-5CDA-32FF-93500823E154}"/>
              </a:ext>
            </a:extLst>
          </p:cNvPr>
          <p:cNvSpPr txBox="1"/>
          <p:nvPr/>
        </p:nvSpPr>
        <p:spPr>
          <a:xfrm>
            <a:off x="6226007" y="3019361"/>
            <a:ext cx="29177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>
                <a:solidFill>
                  <a:schemeClr val="bg1"/>
                </a:solidFill>
                <a:latin typeface="Lato"/>
              </a:rPr>
              <a:t>Function calls are expressions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0300866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CB851-57EF-280C-57C3-44C9D502C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4C37-6426-9580-F9C1-3F8271FE5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51BBA-1E62-0A17-53A6-F4F9762AAE4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AAEF6-B78B-1E8B-C8F9-07A1A720772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AD9226-BE4A-4C4A-721E-025D33D23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81" y="1135329"/>
            <a:ext cx="6494438" cy="458734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46A6C9F-AB6E-4A21-AAE2-C123F6F77F62}"/>
              </a:ext>
            </a:extLst>
          </p:cNvPr>
          <p:cNvSpPr/>
          <p:nvPr/>
        </p:nvSpPr>
        <p:spPr>
          <a:xfrm>
            <a:off x="6268760" y="2668495"/>
            <a:ext cx="2832281" cy="35086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B17E2D-74D1-E0AF-56C7-C0FD6EC0B6C9}"/>
              </a:ext>
            </a:extLst>
          </p:cNvPr>
          <p:cNvSpPr txBox="1"/>
          <p:nvPr/>
        </p:nvSpPr>
        <p:spPr>
          <a:xfrm>
            <a:off x="6040767" y="1780391"/>
            <a:ext cx="34499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>
                <a:solidFill>
                  <a:srgbClr val="00FF00"/>
                </a:solidFill>
                <a:latin typeface="Lato"/>
              </a:rPr>
              <a:t>Recursion</a:t>
            </a:r>
            <a:r>
              <a:rPr lang="de-DE" sz="1600">
                <a:solidFill>
                  <a:schemeClr val="bg1"/>
                </a:solidFill>
                <a:latin typeface="Lato"/>
              </a:rPr>
              <a:t>: Calling a function in itself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45CFAA-1197-2859-48FD-30428B14E123}"/>
              </a:ext>
            </a:extLst>
          </p:cNvPr>
          <p:cNvSpPr/>
          <p:nvPr/>
        </p:nvSpPr>
        <p:spPr>
          <a:xfrm>
            <a:off x="3383388" y="1134400"/>
            <a:ext cx="3029686" cy="35086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803610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7A70AAF-D9C0-6B3F-8FDD-92616AAF4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92B7393-38D3-D944-E6E0-587C76BC99D8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3759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54770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86941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FE2492-69A3-C3C2-3C5E-CE2D8534B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F8EB581-1DEB-91DC-3478-B62BC3CB3860}"/>
              </a:ext>
            </a:extLst>
          </p:cNvPr>
          <p:cNvSpPr/>
          <p:nvPr/>
        </p:nvSpPr>
        <p:spPr>
          <a:xfrm>
            <a:off x="834983" y="3681769"/>
            <a:ext cx="1834169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AED0416-916A-B405-B69E-17790232C690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05998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AC51B51-1DDB-B931-8358-DC93CA27C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C8AE72F-999E-9485-D884-AFB7742951BC}"/>
              </a:ext>
            </a:extLst>
          </p:cNvPr>
          <p:cNvSpPr/>
          <p:nvPr/>
        </p:nvSpPr>
        <p:spPr>
          <a:xfrm>
            <a:off x="1297457" y="3937654"/>
            <a:ext cx="1953673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948EE4-9866-4153-1666-7AF88CE4775F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91041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82EC8B-1DE8-3E42-8E9B-CBDC0B6EA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C8AE72F-999E-9485-D884-AFB7742951BC}"/>
              </a:ext>
            </a:extLst>
          </p:cNvPr>
          <p:cNvSpPr/>
          <p:nvPr/>
        </p:nvSpPr>
        <p:spPr>
          <a:xfrm flipH="1">
            <a:off x="3477088" y="4201406"/>
            <a:ext cx="1474320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7973D2DF-A452-8B52-40C2-6A849ACDE825}"/>
              </a:ext>
            </a:extLst>
          </p:cNvPr>
          <p:cNvSpPr/>
          <p:nvPr/>
        </p:nvSpPr>
        <p:spPr>
          <a:xfrm>
            <a:off x="10437050" y="1885195"/>
            <a:ext cx="1554883" cy="381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20343631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414DB2-0B5F-4EB6-6E3E-0D9D8AB19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6272973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C8AE72F-999E-9485-D884-AFB7742951BC}"/>
              </a:ext>
            </a:extLst>
          </p:cNvPr>
          <p:cNvSpPr/>
          <p:nvPr/>
        </p:nvSpPr>
        <p:spPr>
          <a:xfrm flipH="1">
            <a:off x="1204678" y="1868321"/>
            <a:ext cx="2040505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7973D2DF-A452-8B52-40C2-6A849ACDE825}"/>
              </a:ext>
            </a:extLst>
          </p:cNvPr>
          <p:cNvSpPr/>
          <p:nvPr/>
        </p:nvSpPr>
        <p:spPr>
          <a:xfrm>
            <a:off x="10437050" y="1885195"/>
            <a:ext cx="1554883" cy="381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55304419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7322B12-A01B-A56B-A62D-BB7839E3F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6272973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C8AE72F-999E-9485-D884-AFB7742951BC}"/>
              </a:ext>
            </a:extLst>
          </p:cNvPr>
          <p:cNvSpPr/>
          <p:nvPr/>
        </p:nvSpPr>
        <p:spPr>
          <a:xfrm flipH="1">
            <a:off x="1779094" y="2905486"/>
            <a:ext cx="3440054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13B15F9-CE4E-0675-4642-C283F471FD13}"/>
              </a:ext>
            </a:extLst>
          </p:cNvPr>
          <p:cNvSpPr/>
          <p:nvPr/>
        </p:nvSpPr>
        <p:spPr>
          <a:xfrm>
            <a:off x="1611278" y="2134943"/>
            <a:ext cx="833836" cy="2296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ato"/>
              </a:rPr>
              <a:t>false</a:t>
            </a:r>
            <a:endParaRPr lang="de-DE" dirty="0">
              <a:solidFill>
                <a:schemeClr val="tx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55042509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28514A3-3AE7-422B-67B6-C7A668F69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6272973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C8AE72F-999E-9485-D884-AFB7742951BC}"/>
              </a:ext>
            </a:extLst>
          </p:cNvPr>
          <p:cNvSpPr/>
          <p:nvPr/>
        </p:nvSpPr>
        <p:spPr>
          <a:xfrm flipH="1">
            <a:off x="3116659" y="2905486"/>
            <a:ext cx="1945617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13B15F9-CE4E-0675-4642-C283F471FD13}"/>
              </a:ext>
            </a:extLst>
          </p:cNvPr>
          <p:cNvSpPr/>
          <p:nvPr/>
        </p:nvSpPr>
        <p:spPr>
          <a:xfrm>
            <a:off x="1611278" y="2134943"/>
            <a:ext cx="833836" cy="2296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ato"/>
              </a:rPr>
              <a:t>false</a:t>
            </a:r>
            <a:endParaRPr lang="de-DE" dirty="0">
              <a:solidFill>
                <a:schemeClr val="tx1"/>
              </a:solidFill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889B3-03E9-48CA-62D8-3DB5D2AEB464}"/>
              </a:ext>
            </a:extLst>
          </p:cNvPr>
          <p:cNvSpPr txBox="1"/>
          <p:nvPr/>
        </p:nvSpPr>
        <p:spPr>
          <a:xfrm>
            <a:off x="2260593" y="3247736"/>
            <a:ext cx="5819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Need to evaluate this expression before we can return a value</a:t>
            </a:r>
          </a:p>
        </p:txBody>
      </p:sp>
    </p:spTree>
    <p:extLst>
      <p:ext uri="{BB962C8B-B14F-4D97-AF65-F5344CB8AC3E}">
        <p14:creationId xmlns:p14="http://schemas.microsoft.com/office/powerpoint/2010/main" val="98473541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32B2C1B-AEEB-DE81-2BB0-F84908064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6272973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C8AE72F-999E-9485-D884-AFB7742951BC}"/>
              </a:ext>
            </a:extLst>
          </p:cNvPr>
          <p:cNvSpPr/>
          <p:nvPr/>
        </p:nvSpPr>
        <p:spPr>
          <a:xfrm flipH="1">
            <a:off x="3116659" y="2905486"/>
            <a:ext cx="1945617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13B15F9-CE4E-0675-4642-C283F471FD13}"/>
              </a:ext>
            </a:extLst>
          </p:cNvPr>
          <p:cNvSpPr/>
          <p:nvPr/>
        </p:nvSpPr>
        <p:spPr>
          <a:xfrm>
            <a:off x="1611278" y="2134943"/>
            <a:ext cx="833836" cy="2296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ato"/>
              </a:rPr>
              <a:t>false</a:t>
            </a:r>
            <a:endParaRPr lang="de-DE" dirty="0">
              <a:solidFill>
                <a:schemeClr val="tx1"/>
              </a:solidFill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B5E70A-8070-3CA1-0AD9-F8A01935C00E}"/>
              </a:ext>
            </a:extLst>
          </p:cNvPr>
          <p:cNvSpPr/>
          <p:nvPr/>
        </p:nvSpPr>
        <p:spPr>
          <a:xfrm>
            <a:off x="10437050" y="1885195"/>
            <a:ext cx="1554883" cy="381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5459291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D646AF5-2C8B-A830-EE93-6543A8715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187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72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0889140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C8AE72F-999E-9485-D884-AFB7742951BC}"/>
              </a:ext>
            </a:extLst>
          </p:cNvPr>
          <p:cNvSpPr/>
          <p:nvPr/>
        </p:nvSpPr>
        <p:spPr>
          <a:xfrm flipH="1">
            <a:off x="1186584" y="1872349"/>
            <a:ext cx="2062437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AFB5E70A-8070-3CA1-0AD9-F8A01935C00E}"/>
              </a:ext>
            </a:extLst>
          </p:cNvPr>
          <p:cNvSpPr/>
          <p:nvPr/>
        </p:nvSpPr>
        <p:spPr>
          <a:xfrm>
            <a:off x="10437050" y="1885195"/>
            <a:ext cx="1554883" cy="381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1594675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35844A3-DCD6-DB19-6FC6-53A3FD6EA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187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72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0889140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C8AE72F-999E-9485-D884-AFB7742951BC}"/>
              </a:ext>
            </a:extLst>
          </p:cNvPr>
          <p:cNvSpPr/>
          <p:nvPr/>
        </p:nvSpPr>
        <p:spPr>
          <a:xfrm flipH="1">
            <a:off x="1186584" y="1872349"/>
            <a:ext cx="2062437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4915C1B-54B8-C9E1-DE57-B1077536CF7A}"/>
              </a:ext>
            </a:extLst>
          </p:cNvPr>
          <p:cNvSpPr txBox="1"/>
          <p:nvPr/>
        </p:nvSpPr>
        <p:spPr>
          <a:xfrm>
            <a:off x="5433635" y="3429000"/>
            <a:ext cx="5665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Every time we call a function, we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allocate new stack space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Every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n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we see here is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in a different memory location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!</a:t>
            </a:r>
            <a:b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Every function can only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directly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access its own stack space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52701996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050CD5-D9A8-51C7-C740-B85C8BB98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187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72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0889140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1B32C1D-51B9-416C-1735-AC907C256A82}"/>
              </a:ext>
            </a:extLst>
          </p:cNvPr>
          <p:cNvSpPr/>
          <p:nvPr/>
        </p:nvSpPr>
        <p:spPr>
          <a:xfrm flipH="1">
            <a:off x="1772957" y="2899349"/>
            <a:ext cx="3446191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6718C7-1702-E0E7-2CDB-CA44522AF23B}"/>
              </a:ext>
            </a:extLst>
          </p:cNvPr>
          <p:cNvSpPr/>
          <p:nvPr/>
        </p:nvSpPr>
        <p:spPr>
          <a:xfrm>
            <a:off x="1611278" y="2134943"/>
            <a:ext cx="833836" cy="2296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ato"/>
              </a:rPr>
              <a:t>false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604D17-8F57-FAA2-289E-E84AD64192A0}"/>
              </a:ext>
            </a:extLst>
          </p:cNvPr>
          <p:cNvSpPr/>
          <p:nvPr/>
        </p:nvSpPr>
        <p:spPr>
          <a:xfrm>
            <a:off x="10437050" y="1885195"/>
            <a:ext cx="1554883" cy="381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0383089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00C8CE-AAC7-9A80-44CC-1BEBD6E87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22559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72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891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1094123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B604D17-8F57-FAA2-289E-E84AD64192A0}"/>
              </a:ext>
            </a:extLst>
          </p:cNvPr>
          <p:cNvSpPr/>
          <p:nvPr/>
        </p:nvSpPr>
        <p:spPr>
          <a:xfrm>
            <a:off x="10437050" y="1885195"/>
            <a:ext cx="1554883" cy="381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6B9820-CC3C-085A-C79B-05AAF9ECFAF7}"/>
              </a:ext>
            </a:extLst>
          </p:cNvPr>
          <p:cNvSpPr/>
          <p:nvPr/>
        </p:nvSpPr>
        <p:spPr>
          <a:xfrm flipH="1">
            <a:off x="1186584" y="1872349"/>
            <a:ext cx="2062437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88798886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4F3E8B3-EB64-6E19-532C-196D7E15F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1B32C1D-51B9-416C-1735-AC907C256A82}"/>
              </a:ext>
            </a:extLst>
          </p:cNvPr>
          <p:cNvSpPr/>
          <p:nvPr/>
        </p:nvSpPr>
        <p:spPr>
          <a:xfrm flipH="1">
            <a:off x="1772957" y="2899349"/>
            <a:ext cx="3443418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6718C7-1702-E0E7-2CDB-CA44522AF23B}"/>
              </a:ext>
            </a:extLst>
          </p:cNvPr>
          <p:cNvSpPr/>
          <p:nvPr/>
        </p:nvSpPr>
        <p:spPr>
          <a:xfrm>
            <a:off x="1611278" y="2134943"/>
            <a:ext cx="833836" cy="2296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ato"/>
              </a:rPr>
              <a:t>false</a:t>
            </a:r>
            <a:endParaRPr lang="de-DE" dirty="0">
              <a:solidFill>
                <a:schemeClr val="tx1"/>
              </a:solidFill>
              <a:latin typeface="Lato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604D17-8F57-FAA2-289E-E84AD64192A0}"/>
              </a:ext>
            </a:extLst>
          </p:cNvPr>
          <p:cNvSpPr/>
          <p:nvPr/>
        </p:nvSpPr>
        <p:spPr>
          <a:xfrm>
            <a:off x="10437050" y="1885195"/>
            <a:ext cx="1554883" cy="381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904CEC-2501-B5BD-020C-50D16DB98987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22559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72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891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10941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51425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04D3A6-225E-2817-7F02-02CE3EDCD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26318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72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891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941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7025082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B604D17-8F57-FAA2-289E-E84AD64192A0}"/>
              </a:ext>
            </a:extLst>
          </p:cNvPr>
          <p:cNvSpPr/>
          <p:nvPr/>
        </p:nvSpPr>
        <p:spPr>
          <a:xfrm>
            <a:off x="10437050" y="1885195"/>
            <a:ext cx="1554883" cy="381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6B9820-CC3C-085A-C79B-05AAF9ECFAF7}"/>
              </a:ext>
            </a:extLst>
          </p:cNvPr>
          <p:cNvSpPr/>
          <p:nvPr/>
        </p:nvSpPr>
        <p:spPr>
          <a:xfrm flipH="1">
            <a:off x="1186584" y="1872349"/>
            <a:ext cx="2062437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0598156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8987A11-7D4B-0814-FB34-29C049EE3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48877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72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891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941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250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96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938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487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05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2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6091572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B604D17-8F57-FAA2-289E-E84AD64192A0}"/>
              </a:ext>
            </a:extLst>
          </p:cNvPr>
          <p:cNvSpPr/>
          <p:nvPr/>
        </p:nvSpPr>
        <p:spPr>
          <a:xfrm>
            <a:off x="10437050" y="1885195"/>
            <a:ext cx="1554883" cy="381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6B9820-CC3C-085A-C79B-05AAF9ECFAF7}"/>
              </a:ext>
            </a:extLst>
          </p:cNvPr>
          <p:cNvSpPr/>
          <p:nvPr/>
        </p:nvSpPr>
        <p:spPr>
          <a:xfrm flipH="1">
            <a:off x="1186584" y="1872349"/>
            <a:ext cx="2062437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B3DF3-83DB-830F-C7B1-381CC73A5B5C}"/>
              </a:ext>
            </a:extLst>
          </p:cNvPr>
          <p:cNvSpPr txBox="1"/>
          <p:nvPr/>
        </p:nvSpPr>
        <p:spPr>
          <a:xfrm>
            <a:off x="5451786" y="3270519"/>
            <a:ext cx="1287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Much later...</a:t>
            </a:r>
          </a:p>
        </p:txBody>
      </p:sp>
    </p:spTree>
    <p:extLst>
      <p:ext uri="{BB962C8B-B14F-4D97-AF65-F5344CB8AC3E}">
        <p14:creationId xmlns:p14="http://schemas.microsoft.com/office/powerpoint/2010/main" val="124412566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C90119B-CD42-5F12-175B-F9FF1D072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48877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72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891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941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250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96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938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487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05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2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6091572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96B9820-CC3C-085A-C79B-05AAF9ECFAF7}"/>
              </a:ext>
            </a:extLst>
          </p:cNvPr>
          <p:cNvSpPr/>
          <p:nvPr/>
        </p:nvSpPr>
        <p:spPr>
          <a:xfrm flipH="1">
            <a:off x="1186584" y="1872349"/>
            <a:ext cx="2062437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823965-5FA6-2984-18AF-DD6C663FB2F0}"/>
              </a:ext>
            </a:extLst>
          </p:cNvPr>
          <p:cNvSpPr txBox="1"/>
          <p:nvPr/>
        </p:nvSpPr>
        <p:spPr>
          <a:xfrm>
            <a:off x="421721" y="5081275"/>
            <a:ext cx="63193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This is where the name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Stack Overflow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comes from: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Every time we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call a recursive function, we allocate more memory</a:t>
            </a:r>
            <a:br>
              <a:rPr lang="de-DE" sz="1600" dirty="0">
                <a:solidFill>
                  <a:schemeClr val="bg1"/>
                </a:solidFill>
                <a:latin typeface="Lato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Memory is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limited, we can easily allocate too much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70313926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08738EB-85AA-FC1E-1A77-A8429B066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48877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72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891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941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250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96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938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487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05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2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6091572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B604D17-8F57-FAA2-289E-E84AD64192A0}"/>
              </a:ext>
            </a:extLst>
          </p:cNvPr>
          <p:cNvSpPr/>
          <p:nvPr/>
        </p:nvSpPr>
        <p:spPr>
          <a:xfrm>
            <a:off x="10437050" y="1522657"/>
            <a:ext cx="1554883" cy="366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90C5EE-D294-C0FC-102C-975239831F56}"/>
              </a:ext>
            </a:extLst>
          </p:cNvPr>
          <p:cNvSpPr/>
          <p:nvPr/>
        </p:nvSpPr>
        <p:spPr>
          <a:xfrm>
            <a:off x="1611278" y="2134943"/>
            <a:ext cx="833836" cy="2296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ato"/>
              </a:rPr>
              <a:t>true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6B9820-CC3C-085A-C79B-05AAF9ECFAF7}"/>
              </a:ext>
            </a:extLst>
          </p:cNvPr>
          <p:cNvSpPr/>
          <p:nvPr/>
        </p:nvSpPr>
        <p:spPr>
          <a:xfrm flipH="1">
            <a:off x="1779095" y="2384690"/>
            <a:ext cx="1117933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2417251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390FBEB-3446-09FA-DBFC-7B427130B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451180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72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891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941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250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96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938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487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05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2478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B604D17-8F57-FAA2-289E-E84AD64192A0}"/>
              </a:ext>
            </a:extLst>
          </p:cNvPr>
          <p:cNvSpPr/>
          <p:nvPr/>
        </p:nvSpPr>
        <p:spPr>
          <a:xfrm>
            <a:off x="10437050" y="1522657"/>
            <a:ext cx="1554883" cy="366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6B9820-CC3C-085A-C79B-05AAF9ECFAF7}"/>
              </a:ext>
            </a:extLst>
          </p:cNvPr>
          <p:cNvSpPr/>
          <p:nvPr/>
        </p:nvSpPr>
        <p:spPr>
          <a:xfrm flipH="1">
            <a:off x="1772956" y="2898885"/>
            <a:ext cx="3446192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E41C5B-3B22-C339-4B58-1C132B398856}"/>
              </a:ext>
            </a:extLst>
          </p:cNvPr>
          <p:cNvSpPr txBox="1"/>
          <p:nvPr/>
        </p:nvSpPr>
        <p:spPr>
          <a:xfrm>
            <a:off x="1451823" y="3136612"/>
            <a:ext cx="5537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The computer keeps track of called functions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We can now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go up the call chain and compute the result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0535157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FAD078B-2871-0367-151D-7B2037926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41358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72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891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941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250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96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938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487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05358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B604D17-8F57-FAA2-289E-E84AD64192A0}"/>
              </a:ext>
            </a:extLst>
          </p:cNvPr>
          <p:cNvSpPr/>
          <p:nvPr/>
        </p:nvSpPr>
        <p:spPr>
          <a:xfrm>
            <a:off x="10437050" y="1522657"/>
            <a:ext cx="1554883" cy="366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ECE3BF-DED3-B758-39A0-09B837F08CD4}"/>
              </a:ext>
            </a:extLst>
          </p:cNvPr>
          <p:cNvSpPr/>
          <p:nvPr/>
        </p:nvSpPr>
        <p:spPr>
          <a:xfrm flipH="1">
            <a:off x="1772956" y="2898885"/>
            <a:ext cx="3446192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26A13B-D4E4-0FEF-7126-5466E6792C4A}"/>
              </a:ext>
            </a:extLst>
          </p:cNvPr>
          <p:cNvSpPr txBox="1"/>
          <p:nvPr/>
        </p:nvSpPr>
        <p:spPr>
          <a:xfrm>
            <a:off x="1451823" y="3136612"/>
            <a:ext cx="5537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The computer keeps track of called functions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We can now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go up the call chain and compute the result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23168769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C616429-6BFD-D113-A099-DF2230365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3759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72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891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941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250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96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938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48733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B604D17-8F57-FAA2-289E-E84AD64192A0}"/>
              </a:ext>
            </a:extLst>
          </p:cNvPr>
          <p:cNvSpPr/>
          <p:nvPr/>
        </p:nvSpPr>
        <p:spPr>
          <a:xfrm>
            <a:off x="10437050" y="1522657"/>
            <a:ext cx="1554883" cy="366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AA7FCB-F9C0-D534-0A71-A12167052259}"/>
              </a:ext>
            </a:extLst>
          </p:cNvPr>
          <p:cNvSpPr/>
          <p:nvPr/>
        </p:nvSpPr>
        <p:spPr>
          <a:xfrm flipH="1">
            <a:off x="1772956" y="2898885"/>
            <a:ext cx="3446192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EB2260-89B3-F599-EBD0-9631A501A740}"/>
              </a:ext>
            </a:extLst>
          </p:cNvPr>
          <p:cNvSpPr txBox="1"/>
          <p:nvPr/>
        </p:nvSpPr>
        <p:spPr>
          <a:xfrm>
            <a:off x="1451823" y="3136612"/>
            <a:ext cx="5537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The computer keeps track of called functions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We can now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go up the call chain and compute the result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29176764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5792B03-D862-B13D-967E-5D2DCC41F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33838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72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891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941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250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96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93864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B604D17-8F57-FAA2-289E-E84AD64192A0}"/>
              </a:ext>
            </a:extLst>
          </p:cNvPr>
          <p:cNvSpPr/>
          <p:nvPr/>
        </p:nvSpPr>
        <p:spPr>
          <a:xfrm>
            <a:off x="10437050" y="1522657"/>
            <a:ext cx="1554883" cy="366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31A8C8-2E61-D63E-F12B-5CD3BEBD9BA1}"/>
              </a:ext>
            </a:extLst>
          </p:cNvPr>
          <p:cNvSpPr/>
          <p:nvPr/>
        </p:nvSpPr>
        <p:spPr>
          <a:xfrm flipH="1">
            <a:off x="1772956" y="2898885"/>
            <a:ext cx="3446192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73649-0945-F9E0-76E8-D12038437BC7}"/>
              </a:ext>
            </a:extLst>
          </p:cNvPr>
          <p:cNvSpPr txBox="1"/>
          <p:nvPr/>
        </p:nvSpPr>
        <p:spPr>
          <a:xfrm>
            <a:off x="1451823" y="3136612"/>
            <a:ext cx="5537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The computer keeps track of called functions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We can now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go up the call chain and compute the result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586540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0DE7D02-2F7D-3096-94C9-E8D03A67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72973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362880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B604D17-8F57-FAA2-289E-E84AD64192A0}"/>
              </a:ext>
            </a:extLst>
          </p:cNvPr>
          <p:cNvSpPr/>
          <p:nvPr/>
        </p:nvSpPr>
        <p:spPr>
          <a:xfrm>
            <a:off x="10437050" y="1522657"/>
            <a:ext cx="1554883" cy="366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4878D0-639C-4ACF-88A3-F501C9AC581D}"/>
              </a:ext>
            </a:extLst>
          </p:cNvPr>
          <p:cNvSpPr txBox="1"/>
          <p:nvPr/>
        </p:nvSpPr>
        <p:spPr>
          <a:xfrm>
            <a:off x="5452234" y="1954575"/>
            <a:ext cx="1287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Much later...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DA982D-7430-EF6F-950B-ED4C4C587C46}"/>
              </a:ext>
            </a:extLst>
          </p:cNvPr>
          <p:cNvSpPr/>
          <p:nvPr/>
        </p:nvSpPr>
        <p:spPr>
          <a:xfrm flipH="1">
            <a:off x="1772956" y="2898885"/>
            <a:ext cx="3446192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CDFED1-3E64-A391-3BFC-286321014BAB}"/>
              </a:ext>
            </a:extLst>
          </p:cNvPr>
          <p:cNvSpPr txBox="1"/>
          <p:nvPr/>
        </p:nvSpPr>
        <p:spPr>
          <a:xfrm>
            <a:off x="1451823" y="3136612"/>
            <a:ext cx="5537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The computer keeps track of called functions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We can now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go up the call chain and compute the result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18418739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413938-558B-D0E8-1D82-83C16AFDA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3628800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B604D17-8F57-FAA2-289E-E84AD64192A0}"/>
              </a:ext>
            </a:extLst>
          </p:cNvPr>
          <p:cNvSpPr/>
          <p:nvPr/>
        </p:nvSpPr>
        <p:spPr>
          <a:xfrm>
            <a:off x="10437050" y="1522657"/>
            <a:ext cx="1554883" cy="366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6B9820-CC3C-085A-C79B-05AAF9ECFAF7}"/>
              </a:ext>
            </a:extLst>
          </p:cNvPr>
          <p:cNvSpPr/>
          <p:nvPr/>
        </p:nvSpPr>
        <p:spPr>
          <a:xfrm flipH="1">
            <a:off x="3469371" y="4201911"/>
            <a:ext cx="1475899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CE942B-4B91-55A1-76CB-7A2A9AD9BEE1}"/>
              </a:ext>
            </a:extLst>
          </p:cNvPr>
          <p:cNvSpPr txBox="1"/>
          <p:nvPr/>
        </p:nvSpPr>
        <p:spPr>
          <a:xfrm>
            <a:off x="5219149" y="4162056"/>
            <a:ext cx="67457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 have now computed the result, which is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located in the return register</a:t>
            </a:r>
          </a:p>
        </p:txBody>
      </p:sp>
    </p:spTree>
    <p:extLst>
      <p:ext uri="{BB962C8B-B14F-4D97-AF65-F5344CB8AC3E}">
        <p14:creationId xmlns:p14="http://schemas.microsoft.com/office/powerpoint/2010/main" val="239253163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B433B8-5D4D-6B12-6A67-EFDB815DC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3628800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3628800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B604D17-8F57-FAA2-289E-E84AD64192A0}"/>
              </a:ext>
            </a:extLst>
          </p:cNvPr>
          <p:cNvSpPr/>
          <p:nvPr/>
        </p:nvSpPr>
        <p:spPr>
          <a:xfrm>
            <a:off x="10437050" y="1522657"/>
            <a:ext cx="1554883" cy="366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212730-73E4-A0CF-A6B3-A6C9E0787967}"/>
              </a:ext>
            </a:extLst>
          </p:cNvPr>
          <p:cNvSpPr/>
          <p:nvPr/>
        </p:nvSpPr>
        <p:spPr>
          <a:xfrm>
            <a:off x="8266301" y="1887985"/>
            <a:ext cx="1277385" cy="366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76FBCF-C83A-1325-06B5-6A61C5F333AA}"/>
              </a:ext>
            </a:extLst>
          </p:cNvPr>
          <p:cNvSpPr/>
          <p:nvPr/>
        </p:nvSpPr>
        <p:spPr>
          <a:xfrm flipH="1">
            <a:off x="1319435" y="4201911"/>
            <a:ext cx="3626916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067305607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FD5C96-9716-F85E-DF57-51C4F7E2B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2" y="1881168"/>
            <a:ext cx="4382627" cy="3095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1774D3-7F9B-FDF8-04FA-481FD989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6D58-7196-FF84-8809-4F8F0243AE4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5C36C4-9EAD-45F1-80AA-2985FDAD7558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62A2-096F-4BAB-95A8-C443A064EC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4E5849-5735-B23A-067F-E9A3D36CC8E0}"/>
              </a:ext>
            </a:extLst>
          </p:cNvPr>
          <p:cNvGraphicFramePr>
            <a:graphicFrameLocks noGrp="1"/>
          </p:cNvGraphicFramePr>
          <p:nvPr/>
        </p:nvGraphicFramePr>
        <p:xfrm>
          <a:off x="6988916" y="1134400"/>
          <a:ext cx="2554770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7385">
                  <a:extLst>
                    <a:ext uri="{9D8B030D-6E8A-4147-A177-3AD203B41FA5}">
                      <a16:colId xmlns:a16="http://schemas.microsoft.com/office/drawing/2014/main" val="74048843"/>
                    </a:ext>
                  </a:extLst>
                </a:gridCol>
                <a:gridCol w="1277385">
                  <a:extLst>
                    <a:ext uri="{9D8B030D-6E8A-4147-A177-3AD203B41FA5}">
                      <a16:colId xmlns:a16="http://schemas.microsoft.com/office/drawing/2014/main" val="20777655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38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01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3628800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15210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DB03DF-C1EC-CA5F-FD5A-0CD410E08798}"/>
              </a:ext>
            </a:extLst>
          </p:cNvPr>
          <p:cNvGraphicFramePr>
            <a:graphicFrameLocks noGrp="1"/>
          </p:cNvGraphicFramePr>
          <p:nvPr/>
        </p:nvGraphicFramePr>
        <p:xfrm>
          <a:off x="9711975" y="1134400"/>
          <a:ext cx="2279958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047">
                  <a:extLst>
                    <a:ext uri="{9D8B030D-6E8A-4147-A177-3AD203B41FA5}">
                      <a16:colId xmlns:a16="http://schemas.microsoft.com/office/drawing/2014/main" val="2068762651"/>
                    </a:ext>
                  </a:extLst>
                </a:gridCol>
                <a:gridCol w="1558911">
                  <a:extLst>
                    <a:ext uri="{9D8B030D-6E8A-4147-A177-3AD203B41FA5}">
                      <a16:colId xmlns:a16="http://schemas.microsoft.com/office/drawing/2014/main" val="10976506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Registers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3628800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79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500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96B9820-CC3C-085A-C79B-05AAF9ECFAF7}"/>
              </a:ext>
            </a:extLst>
          </p:cNvPr>
          <p:cNvSpPr/>
          <p:nvPr/>
        </p:nvSpPr>
        <p:spPr>
          <a:xfrm flipH="1">
            <a:off x="1318354" y="4471989"/>
            <a:ext cx="3878117" cy="2698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212730-73E4-A0CF-A6B3-A6C9E0787967}"/>
              </a:ext>
            </a:extLst>
          </p:cNvPr>
          <p:cNvSpPr/>
          <p:nvPr/>
        </p:nvSpPr>
        <p:spPr>
          <a:xfrm>
            <a:off x="8266301" y="1887985"/>
            <a:ext cx="1277385" cy="366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C1608E-F209-94C4-C517-0BB83263F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158" y="4335424"/>
            <a:ext cx="4065792" cy="53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06056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105628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DE224-EA9D-E3F3-24B4-A52FBDA01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16472F2-77EF-832A-1552-D732581F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06392B-6D23-149D-E803-3869A7AC6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Integers are good, your computer loves them, but they have their limits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6564B-6477-B4D1-EA34-AD05E2E93ED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C287F-0E2A-14C3-7A65-384E10A988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0350849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38658-F237-95A5-AA17-CCD76AFE2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Integers are good, your computer loves them, but they have their limits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We can </a:t>
            </a:r>
            <a:r>
              <a:rPr lang="de-DE" dirty="0">
                <a:solidFill>
                  <a:srgbClr val="FFFF00"/>
                </a:solidFill>
              </a:rPr>
              <a:t>only represent whole numbers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We </a:t>
            </a:r>
            <a:r>
              <a:rPr lang="de-DE" dirty="0">
                <a:solidFill>
                  <a:srgbClr val="FFFF00"/>
                </a:solidFill>
              </a:rPr>
              <a:t>can‘t represent big numbers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A510020-B7BC-398D-E8C6-69A5E7B70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634698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38658-F237-95A5-AA17-CCD76AFE2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Integers are good, your computer loves them, but they have their limits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For those situations, we have to use </a:t>
            </a:r>
            <a:r>
              <a:rPr lang="de-DE" dirty="0">
                <a:solidFill>
                  <a:srgbClr val="00FF00"/>
                </a:solidFill>
              </a:rPr>
              <a:t>floating point numbers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ADA79DA-41B8-1EBB-D55F-E76A8024C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262539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38658-F237-95A5-AA17-CCD76AFE2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Integers are good, your computer loves them, but they have their limits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For those situations, we have to use </a:t>
            </a:r>
            <a:r>
              <a:rPr lang="de-DE" dirty="0">
                <a:solidFill>
                  <a:srgbClr val="00FF00"/>
                </a:solidFill>
              </a:rPr>
              <a:t>floating point numbers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has </a:t>
            </a:r>
            <a:r>
              <a:rPr lang="de-DE" dirty="0">
                <a:solidFill>
                  <a:srgbClr val="00FF00"/>
                </a:solidFill>
              </a:rPr>
              <a:t>f32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00FF00"/>
                </a:solidFill>
              </a:rPr>
              <a:t>f64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BAA66B9-496E-D39C-B2D0-E8CDC6642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1289415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38658-F237-95A5-AA17-CCD76AFE2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Integers are good, your computer loves them, but they have their limits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For those situations, we have to use </a:t>
            </a:r>
            <a:r>
              <a:rPr lang="de-DE" dirty="0">
                <a:solidFill>
                  <a:srgbClr val="00FF00"/>
                </a:solidFill>
              </a:rPr>
              <a:t>floating point numbers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has </a:t>
            </a:r>
            <a:r>
              <a:rPr lang="de-DE" dirty="0">
                <a:solidFill>
                  <a:srgbClr val="00FF00"/>
                </a:solidFill>
              </a:rPr>
              <a:t>f32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00FF00"/>
                </a:solidFill>
              </a:rPr>
              <a:t>f64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As with integers, the number </a:t>
            </a:r>
            <a:r>
              <a:rPr lang="de-DE" dirty="0">
                <a:solidFill>
                  <a:srgbClr val="00FF00"/>
                </a:solidFill>
              </a:rPr>
              <a:t>specifies the size in bits</a:t>
            </a:r>
            <a:endParaRPr lang="de-DE" dirty="0">
              <a:solidFill>
                <a:schemeClr val="bg1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f32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32bit float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f64 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64bit float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4E1AEC9-3DE9-8BEC-FF37-B2C0227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8291523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38658-F237-95A5-AA17-CCD76AFE2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Integers are good, your computer loves them, but they have their limits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For those situations, we have to use </a:t>
            </a:r>
            <a:r>
              <a:rPr lang="de-DE" dirty="0">
                <a:solidFill>
                  <a:srgbClr val="00FF00"/>
                </a:solidFill>
              </a:rPr>
              <a:t>floating point numbers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has </a:t>
            </a:r>
            <a:r>
              <a:rPr lang="de-DE" dirty="0">
                <a:solidFill>
                  <a:srgbClr val="00FF00"/>
                </a:solidFill>
              </a:rPr>
              <a:t>f32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00FF00"/>
                </a:solidFill>
              </a:rPr>
              <a:t>f64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As with integers, the number </a:t>
            </a:r>
            <a:r>
              <a:rPr lang="de-DE" dirty="0">
                <a:solidFill>
                  <a:srgbClr val="00FF00"/>
                </a:solidFill>
              </a:rPr>
              <a:t>specifies the size in bits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Floating Point numbers are numbers in </a:t>
            </a:r>
            <a:r>
              <a:rPr lang="de-DE" dirty="0">
                <a:solidFill>
                  <a:srgbClr val="00FF00"/>
                </a:solidFill>
              </a:rPr>
              <a:t>Scientific Notation (in base 2)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Example in base 10: 5e7 = 5*10^7 = 50.000.000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859894-9A5E-629B-EEDE-F0ADC5992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336139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38658-F237-95A5-AA17-CCD76AFE2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Integers are good, your computer loves them, but they have their limits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For those situations, we have to use </a:t>
            </a:r>
            <a:r>
              <a:rPr lang="de-DE" dirty="0">
                <a:solidFill>
                  <a:srgbClr val="00FF00"/>
                </a:solidFill>
              </a:rPr>
              <a:t>floating point numbers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has </a:t>
            </a:r>
            <a:r>
              <a:rPr lang="de-DE" dirty="0">
                <a:solidFill>
                  <a:srgbClr val="00FF00"/>
                </a:solidFill>
              </a:rPr>
              <a:t>f32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00FF00"/>
                </a:solidFill>
              </a:rPr>
              <a:t>f64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As with integers, the number </a:t>
            </a:r>
            <a:r>
              <a:rPr lang="de-DE" dirty="0">
                <a:solidFill>
                  <a:srgbClr val="00FF00"/>
                </a:solidFill>
              </a:rPr>
              <a:t>specifies the size in bits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Floating Point numbers are numbers in </a:t>
            </a:r>
            <a:r>
              <a:rPr lang="de-DE" dirty="0">
                <a:solidFill>
                  <a:srgbClr val="00FF00"/>
                </a:solidFill>
              </a:rPr>
              <a:t>Scientific Notation (in base 2)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Example in base 10: 5e7 = 5*10^7 = 50.000.000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Numbers are stored in two parts:</a:t>
            </a:r>
            <a:endParaRPr lang="de-DE" dirty="0">
              <a:solidFill>
                <a:schemeClr val="bg1"/>
              </a:solidFill>
            </a:endParaRP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Mantissa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Number before the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here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5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Exponent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 Number after the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here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7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B85992F-D4AD-D471-293A-305ED445D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5297234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38658-F237-95A5-AA17-CCD76AFE2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Floating Point numbers are numbers in </a:t>
            </a:r>
            <a:r>
              <a:rPr lang="de-DE" dirty="0">
                <a:solidFill>
                  <a:srgbClr val="00FF00"/>
                </a:solidFill>
              </a:rPr>
              <a:t>Scientific Notation (in base 2)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Example in base 10: 5e7 = 5*10^7 = 50.000.000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Numbers </a:t>
            </a:r>
            <a:r>
              <a:rPr lang="de-DE">
                <a:solidFill>
                  <a:schemeClr val="bg1"/>
                </a:solidFill>
              </a:rPr>
              <a:t>are stored in two parts:</a:t>
            </a:r>
            <a:endParaRPr lang="de-DE" dirty="0">
              <a:solidFill>
                <a:schemeClr val="bg1"/>
              </a:solidFill>
            </a:endParaRP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Mantissa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Number before the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here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5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Exponent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 Number after the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here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7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Floats get a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few bits for the mantissa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and a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few for the exponent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f32 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1 bit sign, 8 bits exponent , 23 bits mantissa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f64 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1 bit sign, 11 bits exponent , 52 bits mantissa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D8B2ADF-1AC8-5859-CC33-05721D06C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919354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38658-F237-95A5-AA17-CCD76AFE2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Floating Point numbers are numbers in </a:t>
            </a:r>
            <a:r>
              <a:rPr lang="de-DE" dirty="0">
                <a:solidFill>
                  <a:srgbClr val="00FF00"/>
                </a:solidFill>
              </a:rPr>
              <a:t>Scientific Notation (in base 2)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Floats get a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few bits for the mantissa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and a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few for the exponent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This way, we can 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represent </a:t>
            </a:r>
            <a:r>
              <a:rPr lang="de-DE">
                <a:solidFill>
                  <a:srgbClr val="00FF00"/>
                </a:solidFill>
                <a:sym typeface="Wingdings" panose="05000000000000000000" pitchFamily="2" charset="2"/>
              </a:rPr>
              <a:t>fractions</a:t>
            </a:r>
            <a:endParaRPr lang="de-DE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f32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~8 decimal digits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f64 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~16 decimal digits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134C4AD-A52C-8E37-792A-9D4122911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4381200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38658-F237-95A5-AA17-CCD76AFE2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Floating Point numbers are numbers in </a:t>
            </a:r>
            <a:r>
              <a:rPr lang="de-DE" dirty="0">
                <a:solidFill>
                  <a:srgbClr val="00FF00"/>
                </a:solidFill>
              </a:rPr>
              <a:t>Scientific Notation (in base 2)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Floats get a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few bits for the mantissa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and a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few for the exponent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This way, we can represent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fractions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f32 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~8 decimal digits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f64 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~16 decimal digits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This way, we can represent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big numbers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f32 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~3.4*10^38 = 340...000 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with 38 zeroes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With integers, we would need a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u128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to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represent 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that</a:t>
            </a:r>
            <a:endParaRPr lang="de-DE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f64 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~1.8*10^308 = 180...000 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with 308 zeroes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With integers, we would need a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u1024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to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represent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 that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A90D39B-A54E-4AD5-FA6C-B4135584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2911120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C964E-A6E9-2114-43A9-53CFFBF8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1B8A22-EDC7-F087-F69A-A7DB59D41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Floating Point numbers are numbers in </a:t>
            </a:r>
            <a:r>
              <a:rPr lang="de-DE" dirty="0">
                <a:solidFill>
                  <a:srgbClr val="00FF00"/>
                </a:solidFill>
              </a:rPr>
              <a:t>Scientific Notation (in base 2)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Floats get a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few bits for the mantissa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and a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few for the exponent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This way, we can represent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fractions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f32 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~8 decimal digits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f64 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~16 decimal digits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This way, we can represent </a:t>
            </a:r>
            <a:r>
              <a:rPr lang="de-DE">
                <a:solidFill>
                  <a:srgbClr val="00FF00"/>
                </a:solidFill>
                <a:sym typeface="Wingdings" panose="05000000000000000000" pitchFamily="2" charset="2"/>
              </a:rPr>
              <a:t>big numbers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f32 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~3.4*10^38 = 340...000 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with 38 zeroes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f64 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~1.8*10^308 = 180...000 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with 308 zeroes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This way, we can represent </a:t>
            </a:r>
            <a:r>
              <a:rPr lang="de-DE">
                <a:solidFill>
                  <a:srgbClr val="00FF00"/>
                </a:solidFill>
                <a:sym typeface="Wingdings" panose="05000000000000000000" pitchFamily="2" charset="2"/>
              </a:rPr>
              <a:t>small numbers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f32 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~3.4*10^-38 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=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0.000...034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 with 38 zeroes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f64 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~1.8*10^-308 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=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0.000...018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 with 308 zeroes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35C36-B0D9-7810-68D5-A3DBE10C52E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89B27-97D5-4B72-AFA6-A03D1541DCC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3CAED-560B-9B13-9571-D3000C940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244881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38658-F237-95A5-AA17-CCD76AFE2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There‘s a problem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Limited precision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93ECBA-30A8-76F0-3EE1-38AD44F15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378018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38658-F237-95A5-AA17-CCD76AFE2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There‘s a problem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Limited precision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We can only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store 8 (f64: 16) decimal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digits at all times in the mantissa</a:t>
            </a:r>
            <a:b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At big exponents, we skip numbers</a:t>
            </a:r>
            <a:b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5.400000000*10^30 + 1 == 5.400000000*10^30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71AF771-1488-5009-1E91-27E9C86BC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646844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38658-F237-95A5-AA17-CCD76AFE2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There‘s a problem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Limited precision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We can only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store 8 (f64: 16)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decimal digits at all times in the mantissa</a:t>
            </a:r>
            <a:b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At big exponents, we skip numbers</a:t>
            </a:r>
            <a:b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5.400000000*10^30 + 1 == 5.400000000*10^30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We only have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limited space for numbers</a:t>
            </a:r>
            <a:b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Just like we can‘t represent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1/3 in base 10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we can‘t represent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some numbers in base 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460AD6-BA28-5892-320B-5296C247A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5809858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30EFF-59F5-216A-F0EE-2D36BD8A2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4383DC-F8C6-50F3-1DFC-4DCABBEDD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There‘s a problem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Limited precision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We can only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store 8 (f64: 16)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decimal digits at all times in the mantissa</a:t>
            </a:r>
            <a:b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At big exponents, we skip numbers</a:t>
            </a:r>
            <a:b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5.400000000*10^30 + 1 == 5.400000000*10^30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We only have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limited space for numbers</a:t>
            </a:r>
            <a:b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Just like we can‘t represent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1/3 in base 10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we can‘t represent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some numbers in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base 2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In practice, they are still extremely useful for applications where </a:t>
            </a:r>
            <a:r>
              <a:rPr lang="de-DE">
                <a:solidFill>
                  <a:srgbClr val="00FF00"/>
                </a:solidFill>
                <a:sym typeface="Wingdings" panose="05000000000000000000" pitchFamily="2" charset="2"/>
              </a:rPr>
              <a:t>„good enough“ is fine</a:t>
            </a:r>
            <a:endParaRPr lang="de-DE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For example,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Computer Graphics 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or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 Physics Simulations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Just don‘t manage your finances with them :^)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93CCA-A5C0-2160-C145-C0DB838C65C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618F3-1CE5-D8FA-87C8-AD60146E2EF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5616B0D-4878-3868-89CD-3039C69E6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4227822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7D1165-A756-C0B5-082C-9EFE7A1B1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2925AC-AF91-4204-2815-3ACABC8F9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5853"/>
            <a:ext cx="10515600" cy="434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36093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30674-6095-1F46-03B9-968102065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EEC61-C005-00FB-0AF7-594AC95229E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EE209-F614-655A-A7FF-35628493F29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65D6AD8-7D51-0F31-C924-77CC36810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BFDA11-3899-B548-19F8-03EFC9000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5853"/>
            <a:ext cx="10515600" cy="43462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143A43-5C09-565F-99FD-CDD7CBECF5FD}"/>
              </a:ext>
            </a:extLst>
          </p:cNvPr>
          <p:cNvSpPr/>
          <p:nvPr/>
        </p:nvSpPr>
        <p:spPr>
          <a:xfrm>
            <a:off x="4633369" y="1743800"/>
            <a:ext cx="699608" cy="42253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A17F81-D157-EDE0-79FD-D82B4626F07E}"/>
              </a:ext>
            </a:extLst>
          </p:cNvPr>
          <p:cNvSpPr/>
          <p:nvPr/>
        </p:nvSpPr>
        <p:spPr>
          <a:xfrm>
            <a:off x="4633369" y="2231747"/>
            <a:ext cx="699608" cy="42253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342C11-D82D-5842-81BB-F7130BA8FA18}"/>
              </a:ext>
            </a:extLst>
          </p:cNvPr>
          <p:cNvSpPr txBox="1"/>
          <p:nvPr/>
        </p:nvSpPr>
        <p:spPr>
          <a:xfrm>
            <a:off x="5634277" y="1997053"/>
            <a:ext cx="51796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>
                <a:solidFill>
                  <a:schemeClr val="bg1"/>
                </a:solidFill>
                <a:latin typeface="Lato"/>
              </a:rPr>
              <a:t>With Floating Point numbers, we can now use fractions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13945993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A21F7-51D9-172F-46BB-A1DB7F3E9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7C0DE-9E4D-6070-33FA-688D83DD8E9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EF25A-99E1-9F3F-2F52-D2C91F79337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559EB4-BEE4-D3A3-B59A-5F54B74B7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EA7EA6-5AB0-3A70-5861-53628A516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5853"/>
            <a:ext cx="10515600" cy="43462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F56C528-3AC3-75A3-4FC1-4E02131ABCBF}"/>
              </a:ext>
            </a:extLst>
          </p:cNvPr>
          <p:cNvSpPr/>
          <p:nvPr/>
        </p:nvSpPr>
        <p:spPr>
          <a:xfrm>
            <a:off x="7088134" y="3217735"/>
            <a:ext cx="1154363" cy="42253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EC216E-2259-D62B-7013-EA2A7AEC66BA}"/>
              </a:ext>
            </a:extLst>
          </p:cNvPr>
          <p:cNvSpPr/>
          <p:nvPr/>
        </p:nvSpPr>
        <p:spPr>
          <a:xfrm>
            <a:off x="8224087" y="3692333"/>
            <a:ext cx="2711891" cy="42253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67D9D7-CB49-1606-2458-253EBDE9048C}"/>
              </a:ext>
            </a:extLst>
          </p:cNvPr>
          <p:cNvSpPr txBox="1"/>
          <p:nvPr/>
        </p:nvSpPr>
        <p:spPr>
          <a:xfrm>
            <a:off x="6096000" y="2078088"/>
            <a:ext cx="3661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600">
                <a:solidFill>
                  <a:schemeClr val="bg1"/>
                </a:solidFill>
                <a:latin typeface="Lato"/>
              </a:rPr>
              <a:t>However, even simple operations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may not behave the way you would expect</a:t>
            </a:r>
            <a:endParaRPr lang="de-DE" sz="1600" dirty="0">
              <a:solidFill>
                <a:srgbClr val="FFFF00"/>
              </a:solidFill>
              <a:latin typeface="Lat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ACFFED-E9DB-5C06-EEBE-3E53099D5115}"/>
              </a:ext>
            </a:extLst>
          </p:cNvPr>
          <p:cNvSpPr/>
          <p:nvPr/>
        </p:nvSpPr>
        <p:spPr>
          <a:xfrm>
            <a:off x="8224087" y="4159853"/>
            <a:ext cx="1803628" cy="42253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E580C4-FB95-720E-B039-049387CA5BD0}"/>
              </a:ext>
            </a:extLst>
          </p:cNvPr>
          <p:cNvSpPr/>
          <p:nvPr/>
        </p:nvSpPr>
        <p:spPr>
          <a:xfrm>
            <a:off x="8224087" y="4669735"/>
            <a:ext cx="2257760" cy="42253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793735-6465-ED2E-3F00-95A8F225689A}"/>
              </a:ext>
            </a:extLst>
          </p:cNvPr>
          <p:cNvSpPr/>
          <p:nvPr/>
        </p:nvSpPr>
        <p:spPr>
          <a:xfrm>
            <a:off x="4644620" y="2698146"/>
            <a:ext cx="1154363" cy="42253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4335877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F004E-3EE9-D631-6212-AA67F54CC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3C161-E37C-EABC-ED3E-EC560BC203A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C83D7-858C-3A08-E943-0B795545BE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737AC1E-4047-288B-FA41-49458371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BD0605-1F22-339D-CDD3-A5E32C4DB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52" y="1937051"/>
            <a:ext cx="10515600" cy="43462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5AC5F7-8BE2-259C-5E61-89ACF6BAA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678" y="1341326"/>
            <a:ext cx="7036994" cy="182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1040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1D2C9-DDFE-79D9-53DB-518FB691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0BA96-7881-482C-74CB-258F013F2D2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3D970-F52A-0B88-23CC-9A37A0CE394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438E8E4-93B9-9AE7-C4AA-525A2A05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0BD38F-19EB-45C6-0DC0-B10B7BBCE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52" y="1937051"/>
            <a:ext cx="10515600" cy="43462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F4200D-474C-F0BD-CFD6-C9F52D4CC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678" y="1341326"/>
            <a:ext cx="7036994" cy="18271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0FC275-6471-7493-F165-F8086C22E082}"/>
              </a:ext>
            </a:extLst>
          </p:cNvPr>
          <p:cNvSpPr txBox="1"/>
          <p:nvPr/>
        </p:nvSpPr>
        <p:spPr>
          <a:xfrm>
            <a:off x="6603318" y="3184046"/>
            <a:ext cx="42104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600">
                <a:solidFill>
                  <a:schemeClr val="bg1"/>
                </a:solidFill>
                <a:latin typeface="Lato"/>
              </a:rPr>
              <a:t>Floating Point </a:t>
            </a:r>
            <a:r>
              <a:rPr lang="de-DE" sz="1600">
                <a:solidFill>
                  <a:srgbClr val="FF0000"/>
                </a:solidFill>
                <a:latin typeface="Lato"/>
              </a:rPr>
              <a:t>can‘t represent every number</a:t>
            </a:r>
            <a:r>
              <a:rPr lang="de-DE" sz="1600">
                <a:solidFill>
                  <a:schemeClr val="bg1"/>
                </a:solidFill>
                <a:latin typeface="Lato"/>
              </a:rPr>
              <a:t>, we have to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deal with precision errors</a:t>
            </a:r>
          </a:p>
        </p:txBody>
      </p:sp>
    </p:spTree>
    <p:extLst>
      <p:ext uri="{BB962C8B-B14F-4D97-AF65-F5344CB8AC3E}">
        <p14:creationId xmlns:p14="http://schemas.microsoft.com/office/powerpoint/2010/main" val="950156838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680A9-3538-85A4-0374-20C1DB7D9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995FA-F529-C680-839B-85D94DF7E22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0490E-21EB-3D71-17C5-EC10C8EC23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4F74322-3A5C-72C8-FFBA-ED07F1493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7660E4-65AE-99F2-EDAE-DC3294625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05" y="2240385"/>
            <a:ext cx="10811195" cy="389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46980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BE177-9D34-A6F4-1C5A-2089AB325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FF47A-AE50-2773-2295-EDAFB3AA4F8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C471C-1DD4-6E93-717C-FD0091A24E1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F18625-1CC7-DF26-4789-F554D9380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55C27A-9AC8-593B-D9D6-C36E26EDA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05" y="2240385"/>
            <a:ext cx="10811195" cy="389319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12C19A-0627-A42C-4312-9C4DB20CDA13}"/>
              </a:ext>
            </a:extLst>
          </p:cNvPr>
          <p:cNvSpPr/>
          <p:nvPr/>
        </p:nvSpPr>
        <p:spPr>
          <a:xfrm>
            <a:off x="914400" y="5075227"/>
            <a:ext cx="10200800" cy="72415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9C5EBF-0969-28DE-63D0-DE175E4FF045}"/>
              </a:ext>
            </a:extLst>
          </p:cNvPr>
          <p:cNvSpPr txBox="1"/>
          <p:nvPr/>
        </p:nvSpPr>
        <p:spPr>
          <a:xfrm>
            <a:off x="5323138" y="2844225"/>
            <a:ext cx="56605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>
                <a:solidFill>
                  <a:schemeClr val="bg1"/>
                </a:solidFill>
                <a:latin typeface="Lato"/>
              </a:rPr>
              <a:t>Always necessary to test for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equality within a given tolerance</a:t>
            </a:r>
          </a:p>
          <a:p>
            <a:pPr algn="l"/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The numbers are </a:t>
            </a:r>
            <a:r>
              <a:rPr lang="de-DE" sz="160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close enough 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and </a:t>
            </a:r>
            <a:r>
              <a:rPr lang="de-DE" sz="160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effectively the same</a:t>
            </a:r>
            <a:endParaRPr lang="de-DE" sz="1600" dirty="0">
              <a:solidFill>
                <a:srgbClr val="FF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242388200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4B14D-61EC-C9B6-088E-DDA960278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3B145-3D49-1795-6FCA-32413989737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71DB8-F73F-3CD6-801F-7543C5B5457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4396CDA-2AAC-5456-2925-BF3D25885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71B231-BDD5-23AA-3AF6-3545267CA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05" y="2240385"/>
            <a:ext cx="10811195" cy="389319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D55B741-89D9-0FDD-A3BB-7BC19C777CDF}"/>
              </a:ext>
            </a:extLst>
          </p:cNvPr>
          <p:cNvSpPr/>
          <p:nvPr/>
        </p:nvSpPr>
        <p:spPr>
          <a:xfrm>
            <a:off x="914400" y="5075227"/>
            <a:ext cx="10200800" cy="72415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259FBC-A2CC-D73C-A2F3-83357B34F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333" y="1114455"/>
            <a:ext cx="7442030" cy="252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210444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0F1D0-63CF-EEDA-7A59-FD0A3F23E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BE854-4122-77B0-3416-A7682E9EF32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BE7C7-4683-544A-9A52-4D7D1B720E1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0854FED-0EBA-5BAD-9013-CBC9AA64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F11C54-A98C-A7F5-D9F6-825333511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44" y="1559693"/>
            <a:ext cx="11013712" cy="302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2293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8061B-9A54-56BB-A33C-08FF1D507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D6CB1-4D02-4E5B-68C7-EB3674C8FD6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E97E8-17AA-035E-76BF-A40DBD79B42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7855397-D534-AE6A-3B46-2D6DAA4DA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425146-0FFE-6737-C4D9-17C655ADA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44" y="1559693"/>
            <a:ext cx="11013712" cy="30206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C0A9496-7DAF-8A9A-1A69-85BE1D0988AB}"/>
              </a:ext>
            </a:extLst>
          </p:cNvPr>
          <p:cNvSpPr/>
          <p:nvPr/>
        </p:nvSpPr>
        <p:spPr>
          <a:xfrm>
            <a:off x="4627232" y="2019044"/>
            <a:ext cx="2258384" cy="33139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71A929-7B2A-481B-84A6-FFF1CA954106}"/>
              </a:ext>
            </a:extLst>
          </p:cNvPr>
          <p:cNvSpPr txBox="1"/>
          <p:nvPr/>
        </p:nvSpPr>
        <p:spPr>
          <a:xfrm>
            <a:off x="4541316" y="1574523"/>
            <a:ext cx="5195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>
                <a:solidFill>
                  <a:schemeClr val="bg1"/>
                </a:solidFill>
                <a:latin typeface="Lato"/>
              </a:rPr>
              <a:t>Float Literals can also be specified in scientific notation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25100093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0BE93-7DFE-1FCE-50D6-DAD6C4288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3DBF1-AB02-95BE-20A5-F550E7C5323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C8F4E-4282-0CBF-8F2F-A9D5926CDCD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7EE712-C396-E951-A18B-610B02BD7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BC4C3F-8BEC-251F-EF8D-B896BE8DE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44" y="1559693"/>
            <a:ext cx="11013712" cy="30206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00648E-EFD6-00AD-2F3A-43B5C8CDCF7B}"/>
              </a:ext>
            </a:extLst>
          </p:cNvPr>
          <p:cNvSpPr/>
          <p:nvPr/>
        </p:nvSpPr>
        <p:spPr>
          <a:xfrm>
            <a:off x="5044542" y="2447099"/>
            <a:ext cx="2663420" cy="33139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CCB815-A37F-DD37-131E-2A4F64335C20}"/>
              </a:ext>
            </a:extLst>
          </p:cNvPr>
          <p:cNvSpPr txBox="1"/>
          <p:nvPr/>
        </p:nvSpPr>
        <p:spPr>
          <a:xfrm>
            <a:off x="6782938" y="1510674"/>
            <a:ext cx="45760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>
                <a:solidFill>
                  <a:schemeClr val="bg1"/>
                </a:solidFill>
                <a:latin typeface="Lato"/>
              </a:rPr>
              <a:t>The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.0 is mandatory</a:t>
            </a:r>
            <a:r>
              <a:rPr lang="de-DE" sz="1600">
                <a:solidFill>
                  <a:schemeClr val="bg1"/>
                </a:solidFill>
                <a:latin typeface="Lato"/>
              </a:rPr>
              <a:t>. Otherwise, Rust will treat this as an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integer literal</a:t>
            </a:r>
            <a:r>
              <a:rPr lang="de-DE" sz="1600">
                <a:solidFill>
                  <a:schemeClr val="bg1"/>
                </a:solidFill>
                <a:latin typeface="Lato"/>
              </a:rPr>
              <a:t> and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print an error</a:t>
            </a:r>
            <a:r>
              <a:rPr lang="de-DE" sz="1600">
                <a:solidFill>
                  <a:schemeClr val="bg1"/>
                </a:solidFill>
                <a:latin typeface="Lato"/>
              </a:rPr>
              <a:t>.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F7614F-DF9A-B1E3-FF9D-79FC1902FC3F}"/>
              </a:ext>
            </a:extLst>
          </p:cNvPr>
          <p:cNvSpPr/>
          <p:nvPr/>
        </p:nvSpPr>
        <p:spPr>
          <a:xfrm>
            <a:off x="5044542" y="2885934"/>
            <a:ext cx="625965" cy="33139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321555-BD17-69AA-EC89-81BFFAE4C0B8}"/>
              </a:ext>
            </a:extLst>
          </p:cNvPr>
          <p:cNvSpPr/>
          <p:nvPr/>
        </p:nvSpPr>
        <p:spPr>
          <a:xfrm>
            <a:off x="6257608" y="2885934"/>
            <a:ext cx="625965" cy="33139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053528490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7196A-5A57-398F-C3F4-C6F14A1F7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C23A0-7F7D-150B-10CC-EB37056FA0C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8B26C-2F80-5CC1-4A62-388AF8F19E7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3AB7923-54B4-9A36-3FD8-894D8432B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F2C155-5607-D85C-3664-E3BDA3D9D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44" y="1559693"/>
            <a:ext cx="11013712" cy="30206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82087C-6400-DE3D-4E63-1A22EE77B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299" y="4142687"/>
            <a:ext cx="9565402" cy="50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53237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807CA-68AC-78F7-010F-5B98C2013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39CBE-F47C-6C4B-31EE-37DC91B4A9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AD4FA-C960-6135-99B4-A233160E8BB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93ACA8D-4E2C-75D8-79A3-3F8D42511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Floating Point Numbers</a:t>
            </a:r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165CC5-4443-5053-4B00-25896DDDC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44" y="1559693"/>
            <a:ext cx="11013712" cy="30206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AE352B-836E-AE80-F610-6E1728C9F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299" y="4142687"/>
            <a:ext cx="9565402" cy="5002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4D617F-B67C-004E-5205-CD9E4992F577}"/>
              </a:ext>
            </a:extLst>
          </p:cNvPr>
          <p:cNvSpPr txBox="1"/>
          <p:nvPr/>
        </p:nvSpPr>
        <p:spPr>
          <a:xfrm>
            <a:off x="1830964" y="4642957"/>
            <a:ext cx="85300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>
                <a:solidFill>
                  <a:schemeClr val="bg1"/>
                </a:solidFill>
                <a:latin typeface="Lato"/>
              </a:rPr>
              <a:t>Even with precision errors, floats are still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good enough for many applications</a:t>
            </a:r>
            <a:br>
              <a:rPr lang="de-DE" sz="1600">
                <a:solidFill>
                  <a:schemeClr val="bg1"/>
                </a:solidFill>
                <a:latin typeface="Lato"/>
              </a:rPr>
            </a:br>
            <a:r>
              <a:rPr lang="de-DE" sz="1600">
                <a:solidFill>
                  <a:schemeClr val="bg1"/>
                </a:solidFill>
                <a:latin typeface="Lato"/>
              </a:rPr>
              <a:t>Here: A </a:t>
            </a:r>
            <a:r>
              <a:rPr lang="de-DE" sz="1600">
                <a:solidFill>
                  <a:srgbClr val="FF0000"/>
                </a:solidFill>
                <a:latin typeface="Lato"/>
              </a:rPr>
              <a:t>rounding error of 0.000000000001</a:t>
            </a:r>
            <a:r>
              <a:rPr lang="de-DE" sz="1600">
                <a:solidFill>
                  <a:schemeClr val="bg1"/>
                </a:solidFill>
                <a:latin typeface="Lato"/>
              </a:rPr>
              <a:t> doesn‘t influence the final result</a:t>
            </a:r>
            <a:br>
              <a:rPr lang="de-DE" sz="1600">
                <a:solidFill>
                  <a:schemeClr val="bg1"/>
                </a:solidFill>
                <a:latin typeface="Lato"/>
              </a:rPr>
            </a:br>
            <a:br>
              <a:rPr lang="de-DE" sz="1600">
                <a:solidFill>
                  <a:schemeClr val="bg1"/>
                </a:solidFill>
                <a:latin typeface="Lato"/>
              </a:rPr>
            </a:br>
            <a:r>
              <a:rPr lang="de-DE" sz="1600">
                <a:solidFill>
                  <a:schemeClr val="bg1"/>
                </a:solidFill>
                <a:latin typeface="Lato"/>
              </a:rPr>
              <a:t>But still,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errors propagate</a:t>
            </a:r>
            <a:r>
              <a:rPr lang="de-DE" sz="1600">
                <a:solidFill>
                  <a:schemeClr val="bg1"/>
                </a:solidFill>
                <a:latin typeface="Lato"/>
              </a:rPr>
              <a:t>! Calculation errors in a loop </a:t>
            </a:r>
            <a:r>
              <a:rPr lang="de-DE" sz="1600">
                <a:solidFill>
                  <a:srgbClr val="FFFF00"/>
                </a:solidFill>
                <a:latin typeface="Lato"/>
              </a:rPr>
              <a:t>may add up over time</a:t>
            </a:r>
            <a:r>
              <a:rPr lang="de-DE" sz="1600">
                <a:solidFill>
                  <a:schemeClr val="bg1"/>
                </a:solidFill>
                <a:latin typeface="Lato"/>
              </a:rPr>
              <a:t>.</a:t>
            </a:r>
            <a:endParaRPr lang="de-DE" sz="1600" dirty="0">
              <a:solidFill>
                <a:srgbClr val="FF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33240366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B55507-9869-9418-19F0-4727AEFF4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Time for exercises!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483266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37950D-A10D-969E-7C99-E9DA7D3A6EB1}"/>
              </a:ext>
            </a:extLst>
          </p:cNvPr>
          <p:cNvSpPr/>
          <p:nvPr/>
        </p:nvSpPr>
        <p:spPr>
          <a:xfrm>
            <a:off x="845239" y="1774262"/>
            <a:ext cx="789526" cy="45518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2/3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66F7B6-E02D-9A2D-6583-9401AFBA3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765" y="1743800"/>
            <a:ext cx="8922470" cy="425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721603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37950D-A10D-969E-7C99-E9DA7D3A6EB1}"/>
              </a:ext>
            </a:extLst>
          </p:cNvPr>
          <p:cNvSpPr/>
          <p:nvPr/>
        </p:nvSpPr>
        <p:spPr>
          <a:xfrm>
            <a:off x="845239" y="1774262"/>
            <a:ext cx="789526" cy="45518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2/3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66F7B6-E02D-9A2D-6583-9401AFBA3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765" y="1743800"/>
            <a:ext cx="8922470" cy="42503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AADCE5-EF38-1A78-FAF2-BF25AD88EEE9}"/>
              </a:ext>
            </a:extLst>
          </p:cNvPr>
          <p:cNvSpPr txBox="1"/>
          <p:nvPr/>
        </p:nvSpPr>
        <p:spPr>
          <a:xfrm>
            <a:off x="1634765" y="1374121"/>
            <a:ext cx="31486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Is this a valid function definition?</a:t>
            </a:r>
          </a:p>
        </p:txBody>
      </p:sp>
    </p:spTree>
    <p:extLst>
      <p:ext uri="{BB962C8B-B14F-4D97-AF65-F5344CB8AC3E}">
        <p14:creationId xmlns:p14="http://schemas.microsoft.com/office/powerpoint/2010/main" val="1430005768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37950D-A10D-969E-7C99-E9DA7D3A6EB1}"/>
              </a:ext>
            </a:extLst>
          </p:cNvPr>
          <p:cNvSpPr/>
          <p:nvPr/>
        </p:nvSpPr>
        <p:spPr>
          <a:xfrm>
            <a:off x="845239" y="1774262"/>
            <a:ext cx="789526" cy="45518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2/3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66F7B6-E02D-9A2D-6583-9401AFBA3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765" y="1743800"/>
            <a:ext cx="8922470" cy="42503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AADCE5-EF38-1A78-FAF2-BF25AD88EEE9}"/>
              </a:ext>
            </a:extLst>
          </p:cNvPr>
          <p:cNvSpPr txBox="1"/>
          <p:nvPr/>
        </p:nvSpPr>
        <p:spPr>
          <a:xfrm>
            <a:off x="1634765" y="1373428"/>
            <a:ext cx="31486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Is this a valid function definition?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AF0142-6E0D-EE96-3762-C9BBDA20774D}"/>
              </a:ext>
            </a:extLst>
          </p:cNvPr>
          <p:cNvSpPr/>
          <p:nvPr/>
        </p:nvSpPr>
        <p:spPr>
          <a:xfrm>
            <a:off x="10203416" y="1711982"/>
            <a:ext cx="209466" cy="4269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07304-C132-7792-FA34-CADC0A7ACE6D}"/>
              </a:ext>
            </a:extLst>
          </p:cNvPr>
          <p:cNvSpPr txBox="1"/>
          <p:nvPr/>
        </p:nvSpPr>
        <p:spPr>
          <a:xfrm>
            <a:off x="7067094" y="2347304"/>
            <a:ext cx="3855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Function not declared to return anything</a:t>
            </a:r>
          </a:p>
        </p:txBody>
      </p:sp>
    </p:spTree>
    <p:extLst>
      <p:ext uri="{BB962C8B-B14F-4D97-AF65-F5344CB8AC3E}">
        <p14:creationId xmlns:p14="http://schemas.microsoft.com/office/powerpoint/2010/main" val="895287694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37950D-A10D-969E-7C99-E9DA7D3A6EB1}"/>
              </a:ext>
            </a:extLst>
          </p:cNvPr>
          <p:cNvSpPr/>
          <p:nvPr/>
        </p:nvSpPr>
        <p:spPr>
          <a:xfrm>
            <a:off x="845239" y="1774262"/>
            <a:ext cx="789526" cy="45518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2/3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66F7B6-E02D-9A2D-6583-9401AFBA3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765" y="1743800"/>
            <a:ext cx="8922470" cy="42503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AADCE5-EF38-1A78-FAF2-BF25AD88EEE9}"/>
              </a:ext>
            </a:extLst>
          </p:cNvPr>
          <p:cNvSpPr txBox="1"/>
          <p:nvPr/>
        </p:nvSpPr>
        <p:spPr>
          <a:xfrm>
            <a:off x="1634765" y="1373428"/>
            <a:ext cx="31486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Is this a valid function definition?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AF0142-6E0D-EE96-3762-C9BBDA20774D}"/>
              </a:ext>
            </a:extLst>
          </p:cNvPr>
          <p:cNvSpPr/>
          <p:nvPr/>
        </p:nvSpPr>
        <p:spPr>
          <a:xfrm>
            <a:off x="10203416" y="1711982"/>
            <a:ext cx="209466" cy="4269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07304-C132-7792-FA34-CADC0A7ACE6D}"/>
              </a:ext>
            </a:extLst>
          </p:cNvPr>
          <p:cNvSpPr txBox="1"/>
          <p:nvPr/>
        </p:nvSpPr>
        <p:spPr>
          <a:xfrm>
            <a:off x="7067094" y="2347304"/>
            <a:ext cx="3855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Function not declared to return anything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B8D223-2BAB-8852-15F6-52CFF8AB23C9}"/>
              </a:ext>
            </a:extLst>
          </p:cNvPr>
          <p:cNvSpPr/>
          <p:nvPr/>
        </p:nvSpPr>
        <p:spPr>
          <a:xfrm>
            <a:off x="2327625" y="5219867"/>
            <a:ext cx="2683448" cy="42698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9520DF-EED5-26D0-2059-BFDB2DEB2A16}"/>
              </a:ext>
            </a:extLst>
          </p:cNvPr>
          <p:cNvSpPr txBox="1"/>
          <p:nvPr/>
        </p:nvSpPr>
        <p:spPr>
          <a:xfrm>
            <a:off x="5060382" y="5140973"/>
            <a:ext cx="33393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Yet, we‘re attempting to return i32.</a:t>
            </a:r>
            <a:br>
              <a:rPr lang="de-DE" sz="1600" dirty="0">
                <a:solidFill>
                  <a:schemeClr val="bg1"/>
                </a:solidFill>
                <a:latin typeface="Lato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Not a valid function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240064278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EC127-A9C7-F99D-F0CF-8F00DDD4F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98CFFA-5E67-4175-1CD9-B635EB99C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42701-FCA4-8B7C-962C-6AC07722018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B7814-E416-113A-F75E-0C85FCC871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A1394F-E7FF-8DE5-A8D9-8E3A2E36E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791" y="1273916"/>
            <a:ext cx="7103063" cy="436555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6576D5E-B80F-FAFF-F441-4FF3BCD31095}"/>
              </a:ext>
            </a:extLst>
          </p:cNvPr>
          <p:cNvSpPr/>
          <p:nvPr/>
        </p:nvSpPr>
        <p:spPr>
          <a:xfrm>
            <a:off x="716111" y="1273916"/>
            <a:ext cx="668680" cy="42296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3541106155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2B50-C450-86E5-9EE6-924FB105F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B646640-2FC7-E010-8386-8CA3564F8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978E1-226E-E07B-2597-B4F32860B58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916AB-20A1-9C71-82E1-56914C7BFD9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CCD448-5B41-D765-BF19-08198059D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791" y="1273916"/>
            <a:ext cx="7103063" cy="436555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8A92092-5326-4008-7CDB-F168CBC4E4B3}"/>
              </a:ext>
            </a:extLst>
          </p:cNvPr>
          <p:cNvSpPr/>
          <p:nvPr/>
        </p:nvSpPr>
        <p:spPr>
          <a:xfrm>
            <a:off x="716111" y="1273916"/>
            <a:ext cx="668680" cy="42296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2/3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54378B-F995-47ED-6498-8035D67472AA}"/>
              </a:ext>
            </a:extLst>
          </p:cNvPr>
          <p:cNvSpPr txBox="1"/>
          <p:nvPr/>
        </p:nvSpPr>
        <p:spPr>
          <a:xfrm>
            <a:off x="8487854" y="1273916"/>
            <a:ext cx="2457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</p:spTree>
    <p:extLst>
      <p:ext uri="{BB962C8B-B14F-4D97-AF65-F5344CB8AC3E}">
        <p14:creationId xmlns:p14="http://schemas.microsoft.com/office/powerpoint/2010/main" val="4206985594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25B99-E921-5C0F-9CA6-C548BB0A9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6931EFB-351A-B18C-5CD1-786FC32B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77163-DF22-857C-7593-37E7444C7B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6BE2B-8703-74AC-7B06-F50260AFAAA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5AFE05-9389-CE65-811C-25F029DF8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791" y="1273916"/>
            <a:ext cx="7103063" cy="436555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DEE0350-AAF9-204A-506A-E8FAB0C33CD0}"/>
              </a:ext>
            </a:extLst>
          </p:cNvPr>
          <p:cNvSpPr/>
          <p:nvPr/>
        </p:nvSpPr>
        <p:spPr>
          <a:xfrm>
            <a:off x="716111" y="1273916"/>
            <a:ext cx="668680" cy="42296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2/3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1A8BB9-1D5B-44C7-0BFF-E8BBC8F56E83}"/>
              </a:ext>
            </a:extLst>
          </p:cNvPr>
          <p:cNvSpPr txBox="1"/>
          <p:nvPr/>
        </p:nvSpPr>
        <p:spPr>
          <a:xfrm>
            <a:off x="8487854" y="1273916"/>
            <a:ext cx="2457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39205-BF89-CEB9-98BD-DA964B836E12}"/>
              </a:ext>
            </a:extLst>
          </p:cNvPr>
          <p:cNvSpPr txBox="1"/>
          <p:nvPr/>
        </p:nvSpPr>
        <p:spPr>
          <a:xfrm>
            <a:off x="4400167" y="3560059"/>
            <a:ext cx="4180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This code is almost perfect, there are no errors in the arguments or return values</a:t>
            </a:r>
          </a:p>
        </p:txBody>
      </p:sp>
    </p:spTree>
    <p:extLst>
      <p:ext uri="{BB962C8B-B14F-4D97-AF65-F5344CB8AC3E}">
        <p14:creationId xmlns:p14="http://schemas.microsoft.com/office/powerpoint/2010/main" val="597525508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4BFF4-79F7-3D31-1534-B93DDD53C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5BCF2B7-F832-E353-AFB5-10193CF7D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D8EDF-E51F-2473-471B-BA0035E0C62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50722-3A42-E017-6B1A-767D8EC79E2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E1160E-B1F5-8D2C-3EDB-371B724DA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791" y="1273916"/>
            <a:ext cx="7103063" cy="436555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4A5E1E6-6D00-AA4E-732E-ADEAADE98750}"/>
              </a:ext>
            </a:extLst>
          </p:cNvPr>
          <p:cNvSpPr/>
          <p:nvPr/>
        </p:nvSpPr>
        <p:spPr>
          <a:xfrm>
            <a:off x="716111" y="1273916"/>
            <a:ext cx="668680" cy="42296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2/3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72AAFD-4D46-5C45-3A8E-679927347B48}"/>
              </a:ext>
            </a:extLst>
          </p:cNvPr>
          <p:cNvSpPr txBox="1"/>
          <p:nvPr/>
        </p:nvSpPr>
        <p:spPr>
          <a:xfrm>
            <a:off x="8487854" y="1273916"/>
            <a:ext cx="2457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903511-7D37-EA9E-4AA7-41D656E67FA7}"/>
              </a:ext>
            </a:extLst>
          </p:cNvPr>
          <p:cNvSpPr txBox="1"/>
          <p:nvPr/>
        </p:nvSpPr>
        <p:spPr>
          <a:xfrm>
            <a:off x="4400167" y="3560059"/>
            <a:ext cx="4180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This code is almost perfect, there are no errors in the arguments or return values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0911D3-9227-3DA3-D231-66BD4DD1786E}"/>
              </a:ext>
            </a:extLst>
          </p:cNvPr>
          <p:cNvSpPr/>
          <p:nvPr/>
        </p:nvSpPr>
        <p:spPr>
          <a:xfrm>
            <a:off x="2928497" y="1861027"/>
            <a:ext cx="1558912" cy="36253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06D3CA-E579-3D2F-ECDE-AB2A53C1AF78}"/>
              </a:ext>
            </a:extLst>
          </p:cNvPr>
          <p:cNvSpPr txBox="1"/>
          <p:nvPr/>
        </p:nvSpPr>
        <p:spPr>
          <a:xfrm>
            <a:off x="2591867" y="2449260"/>
            <a:ext cx="5115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BUT: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&amp;i32 == i32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is not defined :^)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The correct implementation would‘ve been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*i == value</a:t>
            </a:r>
          </a:p>
        </p:txBody>
      </p:sp>
    </p:spTree>
    <p:extLst>
      <p:ext uri="{BB962C8B-B14F-4D97-AF65-F5344CB8AC3E}">
        <p14:creationId xmlns:p14="http://schemas.microsoft.com/office/powerpoint/2010/main" val="319274370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1DF04-242D-A896-3810-0D345ACE2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81EBEE2-E0C1-36B1-EFF2-5A1409205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3000D-F319-08FB-FF39-8AEC4F6D378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625C2-C41E-CEE6-762D-8652F28AE9F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56A0D3-4B07-E0F7-7B1B-63BD87303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791" y="1273916"/>
            <a:ext cx="7103063" cy="436555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C110CEA-6097-E080-8B60-44BA511D562F}"/>
              </a:ext>
            </a:extLst>
          </p:cNvPr>
          <p:cNvSpPr/>
          <p:nvPr/>
        </p:nvSpPr>
        <p:spPr>
          <a:xfrm>
            <a:off x="716111" y="1273916"/>
            <a:ext cx="668680" cy="42296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2/3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33E27-E55F-2A7C-5372-EF3DF295EAEA}"/>
              </a:ext>
            </a:extLst>
          </p:cNvPr>
          <p:cNvSpPr txBox="1"/>
          <p:nvPr/>
        </p:nvSpPr>
        <p:spPr>
          <a:xfrm>
            <a:off x="8487854" y="1273916"/>
            <a:ext cx="2457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D3357F-34A1-7598-187A-8154D0745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847" y="1265860"/>
            <a:ext cx="7103063" cy="133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520146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37950D-A10D-969E-7C99-E9DA7D3A6EB1}"/>
              </a:ext>
            </a:extLst>
          </p:cNvPr>
          <p:cNvSpPr/>
          <p:nvPr/>
        </p:nvSpPr>
        <p:spPr>
          <a:xfrm>
            <a:off x="1023874" y="1771022"/>
            <a:ext cx="789526" cy="455186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3/3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3FBB09-5C79-67BE-D844-A012D0F51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054" y="1743800"/>
            <a:ext cx="9225091" cy="426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33832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37950D-A10D-969E-7C99-E9DA7D3A6EB1}"/>
              </a:ext>
            </a:extLst>
          </p:cNvPr>
          <p:cNvSpPr/>
          <p:nvPr/>
        </p:nvSpPr>
        <p:spPr>
          <a:xfrm>
            <a:off x="1023874" y="1771022"/>
            <a:ext cx="789526" cy="455186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3/3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3FBB09-5C79-67BE-D844-A012D0F51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054" y="1743800"/>
            <a:ext cx="9225091" cy="42663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5DEAC6-1657-3066-7B8F-5E3A9C327357}"/>
              </a:ext>
            </a:extLst>
          </p:cNvPr>
          <p:cNvSpPr txBox="1"/>
          <p:nvPr/>
        </p:nvSpPr>
        <p:spPr>
          <a:xfrm>
            <a:off x="1810054" y="1405246"/>
            <a:ext cx="2249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Is this function </a:t>
            </a:r>
            <a:r>
              <a:rPr lang="de-DE" sz="1600" i="1" dirty="0">
                <a:solidFill>
                  <a:schemeClr val="bg1"/>
                </a:solidFill>
                <a:latin typeface="Lato"/>
              </a:rPr>
              <a:t>correct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20048766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37950D-A10D-969E-7C99-E9DA7D3A6EB1}"/>
              </a:ext>
            </a:extLst>
          </p:cNvPr>
          <p:cNvSpPr/>
          <p:nvPr/>
        </p:nvSpPr>
        <p:spPr>
          <a:xfrm>
            <a:off x="1023874" y="1771022"/>
            <a:ext cx="789526" cy="455186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3/3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3FBB09-5C79-67BE-D844-A012D0F51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054" y="1743800"/>
            <a:ext cx="9225091" cy="42663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5DEAC6-1657-3066-7B8F-5E3A9C327357}"/>
              </a:ext>
            </a:extLst>
          </p:cNvPr>
          <p:cNvSpPr txBox="1"/>
          <p:nvPr/>
        </p:nvSpPr>
        <p:spPr>
          <a:xfrm>
            <a:off x="1810054" y="1405246"/>
            <a:ext cx="2249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Is this function </a:t>
            </a:r>
            <a:r>
              <a:rPr lang="de-DE" sz="1600" i="1" dirty="0">
                <a:solidFill>
                  <a:schemeClr val="bg1"/>
                </a:solidFill>
                <a:latin typeface="Lato"/>
              </a:rPr>
              <a:t>correct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5995F6-627D-F91A-8F57-C951B89A225F}"/>
              </a:ext>
            </a:extLst>
          </p:cNvPr>
          <p:cNvSpPr txBox="1"/>
          <p:nvPr/>
        </p:nvSpPr>
        <p:spPr>
          <a:xfrm>
            <a:off x="5541633" y="3876990"/>
            <a:ext cx="5573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The algorithm itself is correct, it correctly tells us if a given number is prime or </a:t>
            </a:r>
            <a:r>
              <a:rPr lang="de-DE" sz="1600">
                <a:solidFill>
                  <a:schemeClr val="bg1"/>
                </a:solidFill>
                <a:latin typeface="Lato"/>
              </a:rPr>
              <a:t>not.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240375793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37950D-A10D-969E-7C99-E9DA7D3A6EB1}"/>
              </a:ext>
            </a:extLst>
          </p:cNvPr>
          <p:cNvSpPr/>
          <p:nvPr/>
        </p:nvSpPr>
        <p:spPr>
          <a:xfrm>
            <a:off x="1023874" y="1771022"/>
            <a:ext cx="789526" cy="455186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3/3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3FBB09-5C79-67BE-D844-A012D0F51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054" y="1743800"/>
            <a:ext cx="9225091" cy="42663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5DEAC6-1657-3066-7B8F-5E3A9C327357}"/>
              </a:ext>
            </a:extLst>
          </p:cNvPr>
          <p:cNvSpPr txBox="1"/>
          <p:nvPr/>
        </p:nvSpPr>
        <p:spPr>
          <a:xfrm>
            <a:off x="1810054" y="1405246"/>
            <a:ext cx="2249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Is this function </a:t>
            </a:r>
            <a:r>
              <a:rPr lang="de-DE" sz="1600" i="1" dirty="0">
                <a:solidFill>
                  <a:schemeClr val="bg1"/>
                </a:solidFill>
                <a:latin typeface="Lato"/>
              </a:rPr>
              <a:t>correct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B8F27A-2443-44E8-ECF8-84C633CA6776}"/>
              </a:ext>
            </a:extLst>
          </p:cNvPr>
          <p:cNvSpPr txBox="1"/>
          <p:nvPr/>
        </p:nvSpPr>
        <p:spPr>
          <a:xfrm>
            <a:off x="5541633" y="3876990"/>
            <a:ext cx="55735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The algorithm itself is correct, it correctly tells us if a given number is prime or not.</a:t>
            </a:r>
          </a:p>
          <a:p>
            <a:pPr algn="ctr"/>
            <a:endParaRPr lang="de-DE" sz="1600" dirty="0">
              <a:solidFill>
                <a:schemeClr val="bg1"/>
              </a:solidFill>
              <a:latin typeface="Lato"/>
            </a:endParaRP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BUT: It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returns true for negative numbers, 0 and 1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! :^)</a:t>
            </a:r>
            <a:br>
              <a:rPr lang="de-DE" sz="1600" dirty="0">
                <a:solidFill>
                  <a:schemeClr val="bg1"/>
                </a:solidFill>
                <a:latin typeface="Lato"/>
              </a:rPr>
            </a:br>
            <a:br>
              <a:rPr lang="de-DE" sz="1600" dirty="0">
                <a:solidFill>
                  <a:schemeClr val="bg1"/>
                </a:solidFill>
                <a:latin typeface="Lato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</a:rPr>
              <a:t>Those are not prime </a:t>
            </a:r>
            <a:r>
              <a:rPr lang="de-DE" sz="1600">
                <a:solidFill>
                  <a:schemeClr val="bg1"/>
                </a:solidFill>
                <a:latin typeface="Lato"/>
              </a:rPr>
              <a:t>numbers :(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47162083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37950D-A10D-969E-7C99-E9DA7D3A6EB1}"/>
              </a:ext>
            </a:extLst>
          </p:cNvPr>
          <p:cNvSpPr/>
          <p:nvPr/>
        </p:nvSpPr>
        <p:spPr>
          <a:xfrm>
            <a:off x="1023874" y="1771022"/>
            <a:ext cx="789526" cy="455186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3/3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3FBB09-5C79-67BE-D844-A012D0F51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054" y="1743800"/>
            <a:ext cx="9225091" cy="42663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804FEC-61E5-8E14-FC49-717AD5B343D4}"/>
              </a:ext>
            </a:extLst>
          </p:cNvPr>
          <p:cNvSpPr txBox="1"/>
          <p:nvPr/>
        </p:nvSpPr>
        <p:spPr>
          <a:xfrm>
            <a:off x="5541633" y="3876990"/>
            <a:ext cx="557356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The algorithm itself is correct, it correctly tells us if a given number is prime or not.</a:t>
            </a:r>
          </a:p>
          <a:p>
            <a:pPr algn="ctr"/>
            <a:endParaRPr lang="de-DE" sz="1600" dirty="0">
              <a:solidFill>
                <a:schemeClr val="bg1"/>
              </a:solidFill>
              <a:latin typeface="Lato"/>
            </a:endParaRP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BUT: It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returns true for negative numbers, 0 and 1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! :^)</a:t>
            </a:r>
            <a:br>
              <a:rPr lang="de-DE" sz="1600" dirty="0">
                <a:solidFill>
                  <a:schemeClr val="bg1"/>
                </a:solidFill>
                <a:latin typeface="Lato"/>
              </a:rPr>
            </a:br>
            <a:br>
              <a:rPr lang="de-DE" sz="1600" dirty="0">
                <a:solidFill>
                  <a:schemeClr val="bg1"/>
                </a:solidFill>
                <a:latin typeface="Lato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</a:rPr>
              <a:t>Those are not prime numbers :(</a:t>
            </a:r>
          </a:p>
          <a:p>
            <a:pPr algn="ctr"/>
            <a:endParaRPr lang="de-DE" sz="1600" dirty="0">
              <a:solidFill>
                <a:schemeClr val="bg1"/>
              </a:solidFill>
              <a:latin typeface="Lato"/>
            </a:endParaRP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How do we fix that?</a:t>
            </a:r>
          </a:p>
        </p:txBody>
      </p:sp>
    </p:spTree>
    <p:extLst>
      <p:ext uri="{BB962C8B-B14F-4D97-AF65-F5344CB8AC3E}">
        <p14:creationId xmlns:p14="http://schemas.microsoft.com/office/powerpoint/2010/main" val="431938473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8D6946A-4A9B-B4C2-F045-2520EF869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053" y="1739772"/>
            <a:ext cx="9228123" cy="426638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37950D-A10D-969E-7C99-E9DA7D3A6EB1}"/>
              </a:ext>
            </a:extLst>
          </p:cNvPr>
          <p:cNvSpPr/>
          <p:nvPr/>
        </p:nvSpPr>
        <p:spPr>
          <a:xfrm>
            <a:off x="1023874" y="1771022"/>
            <a:ext cx="789526" cy="455186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3/3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A47BBE-CC81-1B88-6AAB-AD8921D858FD}"/>
              </a:ext>
            </a:extLst>
          </p:cNvPr>
          <p:cNvSpPr txBox="1"/>
          <p:nvPr/>
        </p:nvSpPr>
        <p:spPr>
          <a:xfrm>
            <a:off x="6177836" y="1373996"/>
            <a:ext cx="3467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Step 1: Prevent negative numbers!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429B9E-803A-E8CF-9881-6E2A7D820CBE}"/>
              </a:ext>
            </a:extLst>
          </p:cNvPr>
          <p:cNvSpPr/>
          <p:nvPr/>
        </p:nvSpPr>
        <p:spPr>
          <a:xfrm>
            <a:off x="7516611" y="1743800"/>
            <a:ext cx="789526" cy="482408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298094439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5AF210-2654-D6A1-BA31-61D683934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052" y="1747828"/>
            <a:ext cx="9228123" cy="465991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37950D-A10D-969E-7C99-E9DA7D3A6EB1}"/>
              </a:ext>
            </a:extLst>
          </p:cNvPr>
          <p:cNvSpPr/>
          <p:nvPr/>
        </p:nvSpPr>
        <p:spPr>
          <a:xfrm>
            <a:off x="1023874" y="1771022"/>
            <a:ext cx="789526" cy="455186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3/3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A47BBE-CC81-1B88-6AAB-AD8921D858FD}"/>
              </a:ext>
            </a:extLst>
          </p:cNvPr>
          <p:cNvSpPr txBox="1"/>
          <p:nvPr/>
        </p:nvSpPr>
        <p:spPr>
          <a:xfrm>
            <a:off x="7910481" y="4874155"/>
            <a:ext cx="2907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Step 2: 0 and 1 are not prime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429B9E-803A-E8CF-9881-6E2A7D820CBE}"/>
              </a:ext>
            </a:extLst>
          </p:cNvPr>
          <p:cNvSpPr/>
          <p:nvPr/>
        </p:nvSpPr>
        <p:spPr>
          <a:xfrm>
            <a:off x="2723059" y="2258432"/>
            <a:ext cx="8261825" cy="482408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002058249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5AF210-2654-D6A1-BA31-61D683934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052" y="1747828"/>
            <a:ext cx="9228123" cy="465991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37950D-A10D-969E-7C99-E9DA7D3A6EB1}"/>
              </a:ext>
            </a:extLst>
          </p:cNvPr>
          <p:cNvSpPr/>
          <p:nvPr/>
        </p:nvSpPr>
        <p:spPr>
          <a:xfrm>
            <a:off x="1023874" y="1771022"/>
            <a:ext cx="789526" cy="455186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3/3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05806D-AD23-700C-3C6C-9127C965869A}"/>
              </a:ext>
            </a:extLst>
          </p:cNvPr>
          <p:cNvSpPr txBox="1"/>
          <p:nvPr/>
        </p:nvSpPr>
        <p:spPr>
          <a:xfrm>
            <a:off x="7102552" y="4569310"/>
            <a:ext cx="3279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Is </a:t>
            </a:r>
            <a:r>
              <a:rPr lang="de-DE" sz="1600">
                <a:solidFill>
                  <a:schemeClr val="bg1"/>
                </a:solidFill>
                <a:latin typeface="Lato"/>
              </a:rPr>
              <a:t>this a correct function now?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208166678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5AF210-2654-D6A1-BA31-61D683934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052" y="1747828"/>
            <a:ext cx="9228123" cy="465991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37950D-A10D-969E-7C99-E9DA7D3A6EB1}"/>
              </a:ext>
            </a:extLst>
          </p:cNvPr>
          <p:cNvSpPr/>
          <p:nvPr/>
        </p:nvSpPr>
        <p:spPr>
          <a:xfrm>
            <a:off x="1023874" y="1771022"/>
            <a:ext cx="789526" cy="455186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Lato"/>
              </a:rPr>
              <a:t>3/3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A47BBE-CC81-1B88-6AAB-AD8921D858FD}"/>
              </a:ext>
            </a:extLst>
          </p:cNvPr>
          <p:cNvSpPr txBox="1"/>
          <p:nvPr/>
        </p:nvSpPr>
        <p:spPr>
          <a:xfrm>
            <a:off x="7102552" y="4569310"/>
            <a:ext cx="32793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Is </a:t>
            </a:r>
            <a:r>
              <a:rPr lang="de-DE" sz="1600">
                <a:solidFill>
                  <a:schemeClr val="bg1"/>
                </a:solidFill>
                <a:latin typeface="Lato"/>
              </a:rPr>
              <a:t>this a correct function now?</a:t>
            </a:r>
            <a:endParaRPr lang="de-DE" sz="1600" dirty="0">
              <a:solidFill>
                <a:schemeClr val="bg1"/>
              </a:solidFill>
              <a:latin typeface="Lato"/>
            </a:endParaRPr>
          </a:p>
          <a:p>
            <a:pPr algn="ctr"/>
            <a:endParaRPr lang="de-DE" sz="1600" dirty="0">
              <a:solidFill>
                <a:schemeClr val="bg1"/>
              </a:solidFill>
              <a:latin typeface="Lato"/>
            </a:endParaRP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Yes :)</a:t>
            </a:r>
          </a:p>
        </p:txBody>
      </p:sp>
    </p:spTree>
    <p:extLst>
      <p:ext uri="{BB962C8B-B14F-4D97-AF65-F5344CB8AC3E}">
        <p14:creationId xmlns:p14="http://schemas.microsoft.com/office/powerpoint/2010/main" val="2775978502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6ADE7F-B02A-4E7B-1EE4-1990A83F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Next time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B31D44-8332-9278-7DFE-46F1DD972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/>
              <a:t>Structs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/>
              <a:t>Methods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C1D4-4766-69BA-FFEA-4C132F16B6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CAB2595-0351-4B94-AB50-28698560538A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91B9-1CF4-B2AA-F8F4-C17F81216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RUSTikales Rust for beginners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84446667"/>
      </p:ext>
    </p:extLst>
  </p:cSld>
  <p:clrMapOvr>
    <a:masterClrMapping/>
  </p:clrMapOvr>
</p:sld>
</file>

<file path=ppt/theme/theme1.xml><?xml version="1.0" encoding="utf-8"?>
<a:theme xmlns:a="http://schemas.openxmlformats.org/drawingml/2006/main" name="course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DBFD8670-388A-45DB-B6D8-A4419426ACB6}" vid="{3722A3BE-AE64-47AA-9AAF-C7F0BEC620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courses</Template>
  <TotalTime>0</TotalTime>
  <Words>5539</Words>
  <Application>Microsoft Office PowerPoint</Application>
  <PresentationFormat>Widescreen</PresentationFormat>
  <Paragraphs>1700</Paragraphs>
  <Slides>197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197</vt:i4>
      </vt:variant>
    </vt:vector>
  </HeadingPairs>
  <TitlesOfParts>
    <vt:vector size="204" baseType="lpstr">
      <vt:lpstr>Arial</vt:lpstr>
      <vt:lpstr>Calibri</vt:lpstr>
      <vt:lpstr>Lato</vt:lpstr>
      <vt:lpstr>Montserrat</vt:lpstr>
      <vt:lpstr>Symbol</vt:lpstr>
      <vt:lpstr>Wingdings</vt:lpstr>
      <vt:lpstr>courses</vt:lpstr>
      <vt:lpstr>RUSTikales Rust for beginners</vt:lpstr>
      <vt:lpstr>Plan for today</vt:lpstr>
      <vt:lpstr>Plan for today</vt:lpstr>
      <vt:lpstr>Plan for today</vt:lpstr>
      <vt:lpstr>Plan for today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Intermission – Control Flow, again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Floating Point Numbers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Philippe Felix Haupt</dc:creator>
  <cp:lastModifiedBy>Philippe Felix Haupt</cp:lastModifiedBy>
  <cp:revision>94</cp:revision>
  <dcterms:created xsi:type="dcterms:W3CDTF">2024-06-18T12:11:13Z</dcterms:created>
  <dcterms:modified xsi:type="dcterms:W3CDTF">2025-12-02T20:05:09Z</dcterms:modified>
</cp:coreProperties>
</file>