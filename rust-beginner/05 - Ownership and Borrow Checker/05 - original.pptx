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403" r:id="rId36"/>
    <p:sldId id="290" r:id="rId37"/>
    <p:sldId id="291" r:id="rId38"/>
    <p:sldId id="293" r:id="rId39"/>
    <p:sldId id="292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404" r:id="rId48"/>
    <p:sldId id="302" r:id="rId49"/>
    <p:sldId id="303" r:id="rId50"/>
    <p:sldId id="304" r:id="rId51"/>
    <p:sldId id="305" r:id="rId52"/>
    <p:sldId id="309" r:id="rId53"/>
    <p:sldId id="408" r:id="rId54"/>
    <p:sldId id="405" r:id="rId55"/>
    <p:sldId id="310" r:id="rId56"/>
    <p:sldId id="311" r:id="rId57"/>
    <p:sldId id="312" r:id="rId58"/>
    <p:sldId id="406" r:id="rId59"/>
    <p:sldId id="407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60" r:id="rId107"/>
    <p:sldId id="359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409" r:id="rId120"/>
    <p:sldId id="410" r:id="rId121"/>
    <p:sldId id="411" r:id="rId122"/>
    <p:sldId id="412" r:id="rId123"/>
    <p:sldId id="413" r:id="rId124"/>
    <p:sldId id="414" r:id="rId125"/>
    <p:sldId id="415" r:id="rId126"/>
    <p:sldId id="416" r:id="rId127"/>
    <p:sldId id="417" r:id="rId128"/>
    <p:sldId id="418" r:id="rId129"/>
    <p:sldId id="419" r:id="rId130"/>
    <p:sldId id="420" r:id="rId131"/>
    <p:sldId id="421" r:id="rId132"/>
    <p:sldId id="422" r:id="rId133"/>
    <p:sldId id="423" r:id="rId134"/>
    <p:sldId id="373" r:id="rId135"/>
    <p:sldId id="426" r:id="rId136"/>
    <p:sldId id="427" r:id="rId137"/>
    <p:sldId id="425" r:id="rId138"/>
    <p:sldId id="374" r:id="rId139"/>
    <p:sldId id="424" r:id="rId140"/>
    <p:sldId id="375" r:id="rId141"/>
    <p:sldId id="376" r:id="rId142"/>
    <p:sldId id="377" r:id="rId143"/>
    <p:sldId id="378" r:id="rId144"/>
    <p:sldId id="428" r:id="rId145"/>
    <p:sldId id="379" r:id="rId146"/>
    <p:sldId id="380" r:id="rId147"/>
    <p:sldId id="381" r:id="rId148"/>
    <p:sldId id="382" r:id="rId149"/>
    <p:sldId id="383" r:id="rId150"/>
    <p:sldId id="384" r:id="rId151"/>
    <p:sldId id="385" r:id="rId152"/>
    <p:sldId id="386" r:id="rId153"/>
    <p:sldId id="387" r:id="rId154"/>
    <p:sldId id="389" r:id="rId155"/>
    <p:sldId id="390" r:id="rId156"/>
    <p:sldId id="391" r:id="rId157"/>
    <p:sldId id="392" r:id="rId158"/>
    <p:sldId id="393" r:id="rId159"/>
    <p:sldId id="394" r:id="rId160"/>
    <p:sldId id="395" r:id="rId161"/>
    <p:sldId id="396" r:id="rId162"/>
    <p:sldId id="397" r:id="rId163"/>
    <p:sldId id="399" r:id="rId164"/>
    <p:sldId id="400" r:id="rId165"/>
    <p:sldId id="401" r:id="rId166"/>
    <p:sldId id="402" r:id="rId16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ato"/>
              </a:defRPr>
            </a:lvl1pPr>
          </a:lstStyle>
          <a:p>
            <a:fld id="{6CFCDC76-A384-4CD2-BC0A-381F39E2BA04}" type="datetimeFigureOut">
              <a:rPr lang="de-DE" smtClean="0"/>
              <a:pPr/>
              <a:t>11.11.2025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ato"/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ato"/>
              </a:defRPr>
            </a:lvl1pPr>
          </a:lstStyle>
          <a:p>
            <a:fld id="{4D5E589F-5CBE-4B24-A685-C666407DB0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44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Lat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646B899-A5D5-4559-8E21-D97857286B8D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333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000" cy="1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22E1-1580-77E1-1968-C1D465C642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26F41DF8-8867-4EDD-BCB7-4FC3E9D3BD95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FDD5-75D2-F22A-0239-47782139EB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9101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600"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400"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400"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33AE35A7-4268-4D18-9747-F85C64DECA46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0082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A1F4E0FD-125A-44CB-A96A-CA7F628A9470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1284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A0A73342-4C87-40CD-A48B-C800AC0E81EC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029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F5382A27-322B-4DD3-97F2-B0E7B5B4ACEC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705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1A8324A8-B78F-47C0-AD7D-21D615297AAC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325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84CDA056-7CC7-43FB-9BE8-F87151FD7B92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491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9B153E68-92E4-4C1C-A607-DB82425CFB53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1679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Lato"/>
              </a:endParaRPr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E4628E5D-4BEA-4B0C-9B61-6C9243270679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710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fld id="{1713B1F1-F816-4B57-9574-66941466AB83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9868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fld id="{347E4096-4694-4058-8DF2-D19FC618ABB6}" type="datetime1">
              <a:rPr lang="de-DE" smtClean="0"/>
              <a:pPr/>
              <a:t>11.11.2025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32574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80B-A2ED-E6BF-A8E8-BECC7CC53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09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64F7-AF1D-D674-CCC9-D44011A3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FBC80-64E5-AE40-0B85-BF5017F30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  <a:p>
            <a:pPr>
              <a:buFont typeface="+mj-lt"/>
              <a:buAutoNum type="arabicPeriod"/>
            </a:pPr>
            <a:r>
              <a:rPr lang="de-DE" dirty="0"/>
              <a:t>Ownership</a:t>
            </a:r>
          </a:p>
          <a:p>
            <a:pPr>
              <a:buFont typeface="+mj-lt"/>
              <a:buAutoNum type="arabicPeriod"/>
            </a:pPr>
            <a:r>
              <a:rPr lang="de-DE"/>
              <a:t>Borrow Checker +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5F9DF-DE73-CFB9-3B96-4542CF56130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1669636-E431-42B3-AA32-6D26BD0961A7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5283D-E9FD-2FDF-45BF-957D1A5422E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2043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Primitive Types in Rust: i8, u8, ..., i128, u128, </a:t>
            </a:r>
            <a:r>
              <a:rPr lang="de-DE" dirty="0">
                <a:solidFill>
                  <a:srgbClr val="00FF00"/>
                </a:solidFill>
              </a:rPr>
              <a:t>bool</a:t>
            </a:r>
          </a:p>
          <a:p>
            <a:pPr>
              <a:buFont typeface="Symbol" panose="05050102010706020507" pitchFamily="18" charset="2"/>
              <a:buChar char="-"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15209-7823-D7DA-297E-C697F95017C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CD796F8-7A3D-4066-92E1-F6091E7DC4B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491DB-7C20-AB30-60AA-291BD15831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778492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Primitive Types in Rust: i8, u8, ..., i128, u128, </a:t>
            </a:r>
            <a:r>
              <a:rPr lang="de-DE" dirty="0">
                <a:solidFill>
                  <a:srgbClr val="00FF00"/>
                </a:solidFill>
              </a:rPr>
              <a:t>bool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let mut</a:t>
            </a:r>
            <a:r>
              <a:rPr lang="de-DE" dirty="0">
                <a:sym typeface="Wingdings" panose="05000000000000000000" pitchFamily="2" charset="2"/>
              </a:rPr>
              <a:t>  mutable variable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69B83-992E-277D-D584-FE876A2CC1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B52CD93-3A84-462D-A09C-47F0DB1F0D0B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57249-1CFF-CCFA-3B74-58FB169FD93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21781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Primitive Types in Rust: i8, u8, ..., i128, u128, </a:t>
            </a:r>
            <a:r>
              <a:rPr lang="de-DE" dirty="0">
                <a:solidFill>
                  <a:srgbClr val="00FF00"/>
                </a:solidFill>
              </a:rPr>
              <a:t>bool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let mut</a:t>
            </a:r>
            <a:r>
              <a:rPr lang="de-DE" dirty="0">
                <a:sym typeface="Wingdings" panose="05000000000000000000" pitchFamily="2" charset="2"/>
              </a:rPr>
              <a:t> 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Arrays: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[type; size]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Vectors: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Vec&lt;type&gt;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var[index]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to access an element at a given index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9B97-DB46-9FF2-C9A8-8F563A9B12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C5E7E8E-2C2B-4B9A-A082-C24B54B77B07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04345-59EA-FC5E-E773-991A3F7284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0989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Primitive Types in Rust: i8, u8, ..., i128, u128, </a:t>
            </a:r>
            <a:r>
              <a:rPr lang="de-DE" dirty="0">
                <a:solidFill>
                  <a:srgbClr val="00FF00"/>
                </a:solidFill>
              </a:rPr>
              <a:t>bool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let mut</a:t>
            </a:r>
            <a:r>
              <a:rPr lang="de-DE" dirty="0">
                <a:sym typeface="Wingdings" panose="05000000000000000000" pitchFamily="2" charset="2"/>
              </a:rPr>
              <a:t> 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Arrays: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[type; size]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Vectors: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Vec&lt;type&gt;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var[index]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to access an element at a given index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loop {}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while condition {}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for elem in collection {}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create an iterator over a collection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C04B0-19FF-8593-9C21-7A1A49D7B1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EA53FDA-15DB-44F0-8341-27D6E46518C4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F8DDE-9773-DD7C-D1EA-822A94ADAB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5103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Primitive Types in Rust: i8, u8, ..., i128, u128, </a:t>
            </a:r>
            <a:r>
              <a:rPr lang="de-DE" dirty="0">
                <a:solidFill>
                  <a:srgbClr val="00FF00"/>
                </a:solidFill>
              </a:rPr>
              <a:t>bool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let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immutable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let mut</a:t>
            </a:r>
            <a:r>
              <a:rPr lang="de-DE" dirty="0">
                <a:sym typeface="Wingdings" panose="05000000000000000000" pitchFamily="2" charset="2"/>
              </a:rPr>
              <a:t>  mutable variable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Arrays: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[type; size]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Vectors: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Vec&lt;type&gt;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var[index]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to access an element at a given index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loop {}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to create an infinite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while condition {}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create a conditional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for elem in collection {}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create an iterator over a collection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loop, while and for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are equally powerful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but often certain loops are better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Infinite loops using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convoluted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Iterating over a collection with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loop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a lot of work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F9AB7-E1D7-D3D4-B736-115EEFF55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1249559-477C-4EB1-9B79-32C6CD888887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8D2F7-FEC6-2324-40FA-AB0A2299F4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6788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89805-47CC-BBD2-E8FF-A3911C4A61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C8C4D42-3EDF-421B-9204-462F0630BDCE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FAEA-E1F3-ADEA-0270-A3B5C9116F6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399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break</a:t>
            </a:r>
            <a:r>
              <a:rPr lang="de-DE" dirty="0">
                <a:solidFill>
                  <a:schemeClr val="bg1"/>
                </a:solidFill>
              </a:rPr>
              <a:t> to exit out of a loop early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CF08-86E6-D3FD-E1EF-0F164B3797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17493EC-7C0D-40EA-9774-52CFD49FD368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EEF96-B599-AE24-8AA8-65470E8E50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9516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break</a:t>
            </a:r>
            <a:r>
              <a:rPr lang="de-DE" dirty="0">
                <a:solidFill>
                  <a:schemeClr val="bg1"/>
                </a:solidFill>
              </a:rPr>
              <a:t> to exit out of a loop early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continue</a:t>
            </a:r>
            <a:r>
              <a:rPr lang="de-DE" dirty="0">
                <a:solidFill>
                  <a:schemeClr val="bg1"/>
                </a:solidFill>
              </a:rPr>
              <a:t> to skip one loop pass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D8D91-BE6C-4525-E82F-99A85B935D0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33C7424-C648-4774-B82F-CF6E1C084AA1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DEBF1-00D5-1069-7832-334CA0954C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0167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3933D-DD4B-F7E7-9AB2-8B38069B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35" y="1373614"/>
            <a:ext cx="6410986" cy="456192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A59B4D7-200F-D2E3-050A-3376141C2C1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59AC6E5-4CD4-41F2-90D4-36DD5E2A6712}" type="datetime1">
              <a:rPr lang="de-DE" smtClean="0"/>
              <a:t>11.11.2025</a:t>
            </a:fld>
            <a:endParaRPr lang="de-D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D1C48C8-27B8-57BC-4B1C-22456516FBC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4387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3933D-DD4B-F7E7-9AB2-8B38069B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35" y="1373614"/>
            <a:ext cx="6410986" cy="4561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F5F77C-E1ED-0DF8-4034-7B8E4E7A4EA6}"/>
              </a:ext>
            </a:extLst>
          </p:cNvPr>
          <p:cNvSpPr/>
          <p:nvPr/>
        </p:nvSpPr>
        <p:spPr>
          <a:xfrm>
            <a:off x="4443098" y="2606241"/>
            <a:ext cx="1828800" cy="42296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6C046-FF6B-0CCD-EF38-37CDA3D8D22B}"/>
              </a:ext>
            </a:extLst>
          </p:cNvPr>
          <p:cNvSpPr txBox="1"/>
          <p:nvPr/>
        </p:nvSpPr>
        <p:spPr>
          <a:xfrm>
            <a:off x="6271898" y="2648444"/>
            <a:ext cx="3007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Jump to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line 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if n is less than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C21A8-CBE9-B892-4C71-F3D936A72F2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8555479-5EC3-4C6E-8032-394BDAF10A8A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400B9-7702-9D79-CCBE-45F7890AB71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8947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3933D-DD4B-F7E7-9AB2-8B38069B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35" y="1373614"/>
            <a:ext cx="6410986" cy="45619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4E64E8-E518-0E5F-5414-637C86EE68B4}"/>
              </a:ext>
            </a:extLst>
          </p:cNvPr>
          <p:cNvSpPr/>
          <p:nvPr/>
        </p:nvSpPr>
        <p:spPr>
          <a:xfrm>
            <a:off x="4443098" y="3876727"/>
            <a:ext cx="1252768" cy="42296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FC205-E4A9-18B4-14A6-842E9659A83C}"/>
              </a:ext>
            </a:extLst>
          </p:cNvPr>
          <p:cNvSpPr txBox="1"/>
          <p:nvPr/>
        </p:nvSpPr>
        <p:spPr>
          <a:xfrm>
            <a:off x="5691631" y="3918930"/>
            <a:ext cx="3146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Jump to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line 10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if n is equal to 7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F64719D-0BA2-7F26-31FE-2F043C97562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99146CF-33DD-4C14-8337-CFE16A3AE877}" type="datetime1">
              <a:rPr lang="de-DE" smtClean="0"/>
              <a:t>11.11.2025</a:t>
            </a:fld>
            <a:endParaRPr lang="de-D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E30BF4-31FB-6346-7CCD-B57A7FA183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26572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3933D-DD4B-F7E7-9AB2-8B38069B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35" y="1373614"/>
            <a:ext cx="6410986" cy="4561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B3976E-8A1C-4742-EAB8-117786064C32}"/>
              </a:ext>
            </a:extLst>
          </p:cNvPr>
          <p:cNvSpPr/>
          <p:nvPr/>
        </p:nvSpPr>
        <p:spPr>
          <a:xfrm>
            <a:off x="807932" y="1373614"/>
            <a:ext cx="572003" cy="3544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BD291-15AD-FC98-C10B-382846A6019B}"/>
              </a:ext>
            </a:extLst>
          </p:cNvPr>
          <p:cNvSpPr txBox="1"/>
          <p:nvPr/>
        </p:nvSpPr>
        <p:spPr>
          <a:xfrm>
            <a:off x="7790921" y="1373614"/>
            <a:ext cx="3167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 we print in the console?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7C461EA-15E5-2B72-BE96-3C3530AAF1B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1C6DED8-E51E-4E11-B6B1-06A933C2F04A}" type="datetime1">
              <a:rPr lang="de-DE" smtClean="0"/>
              <a:t>11.11.2025</a:t>
            </a:fld>
            <a:endParaRPr lang="de-D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D6C2732-CF1D-9069-ABE9-DE8FB2221B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36481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3933D-DD4B-F7E7-9AB2-8B38069B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35" y="1373614"/>
            <a:ext cx="6410986" cy="4561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B3976E-8A1C-4742-EAB8-117786064C32}"/>
              </a:ext>
            </a:extLst>
          </p:cNvPr>
          <p:cNvSpPr/>
          <p:nvPr/>
        </p:nvSpPr>
        <p:spPr>
          <a:xfrm>
            <a:off x="807932" y="1373614"/>
            <a:ext cx="572003" cy="3544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ato"/>
              </a:rPr>
              <a:t>1/3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BD291-15AD-FC98-C10B-382846A6019B}"/>
              </a:ext>
            </a:extLst>
          </p:cNvPr>
          <p:cNvSpPr txBox="1"/>
          <p:nvPr/>
        </p:nvSpPr>
        <p:spPr>
          <a:xfrm>
            <a:off x="7790921" y="1373614"/>
            <a:ext cx="31678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 we print in the console?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96B12C-A49F-CC7D-8690-6A1A92A27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952" y="2668603"/>
            <a:ext cx="1667108" cy="197195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50C47-65E7-75FF-F5A8-DDEC972EC8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759B8A6-67BA-46D9-9882-9C90825F8C42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AA077-EE45-1FA2-F453-22690011FE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3151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break</a:t>
            </a:r>
            <a:r>
              <a:rPr lang="de-DE" dirty="0">
                <a:solidFill>
                  <a:schemeClr val="bg1"/>
                </a:solidFill>
              </a:rPr>
              <a:t> to exit out of a loop early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continue</a:t>
            </a:r>
            <a:r>
              <a:rPr lang="de-DE" dirty="0">
                <a:solidFill>
                  <a:schemeClr val="bg1"/>
                </a:solidFill>
              </a:rPr>
              <a:t> to skip one loop pass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4A4CB-19C7-47E6-8947-F22F57EC667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A5DBD3F-B89B-4095-BDBE-DB901A0DF06D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4CC5-8553-EB03-C3CF-C7C8D9BD1C4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64305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break</a:t>
            </a:r>
            <a:r>
              <a:rPr lang="de-DE" dirty="0">
                <a:solidFill>
                  <a:schemeClr val="bg1"/>
                </a:solidFill>
              </a:rPr>
              <a:t> to exit out of a loop early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continue</a:t>
            </a:r>
            <a:r>
              <a:rPr lang="de-DE" dirty="0">
                <a:solidFill>
                  <a:schemeClr val="bg1"/>
                </a:solidFill>
              </a:rPr>
              <a:t> to skip one loop pass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can </a:t>
            </a:r>
            <a:r>
              <a:rPr lang="de-DE" dirty="0">
                <a:solidFill>
                  <a:srgbClr val="00FF00"/>
                </a:solidFill>
              </a:rPr>
              <a:t>nest loops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Nesting means putting a structure inside itself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Similar to nested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316A-15CC-933D-C4EE-6F9DEAEFE31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588E5A8-106A-4256-8696-37D1A0481F6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56E44-995A-160F-ECAA-732B22A83C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264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B66A-B601-D4C2-0A42-01CEB63FE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for n in </a:t>
            </a:r>
            <a:r>
              <a:rPr lang="de-DE" dirty="0">
                <a:solidFill>
                  <a:srgbClr val="00FF00"/>
                </a:solidFill>
              </a:rPr>
              <a:t>x..y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stops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before 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for n in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x..=y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includes y</a:t>
            </a:r>
            <a:endParaRPr lang="de-DE" dirty="0">
              <a:solidFill>
                <a:srgbClr val="00FF00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break</a:t>
            </a:r>
            <a:r>
              <a:rPr lang="de-DE" dirty="0">
                <a:solidFill>
                  <a:schemeClr val="bg1"/>
                </a:solidFill>
              </a:rPr>
              <a:t> to exit out of a loop early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continue</a:t>
            </a:r>
            <a:r>
              <a:rPr lang="de-DE" dirty="0">
                <a:solidFill>
                  <a:schemeClr val="bg1"/>
                </a:solidFill>
              </a:rPr>
              <a:t> to skip one loop pass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can </a:t>
            </a:r>
            <a:r>
              <a:rPr lang="de-DE" dirty="0">
                <a:solidFill>
                  <a:srgbClr val="00FF00"/>
                </a:solidFill>
              </a:rPr>
              <a:t>nest loops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Loops allow us to </a:t>
            </a:r>
            <a:r>
              <a:rPr lang="de-DE" dirty="0">
                <a:solidFill>
                  <a:srgbClr val="00FF00"/>
                </a:solidFill>
              </a:rPr>
              <a:t>control the flow of the program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</a:t>
            </a:r>
            <a:r>
              <a:rPr lang="de-DE" dirty="0">
                <a:solidFill>
                  <a:srgbClr val="FFFF00"/>
                </a:solidFill>
              </a:rPr>
              <a:t>now implement simple algorithms</a:t>
            </a:r>
            <a:r>
              <a:rPr lang="de-DE" dirty="0">
                <a:solidFill>
                  <a:schemeClr val="bg1"/>
                </a:solidFill>
              </a:rPr>
              <a:t>, such as: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factorial of a number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n!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Primality test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Is n a prime?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7068-5B0E-EF0E-952F-20740678060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FECBCD4-F418-483A-BCAB-590A071921A4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1CEC3-BE52-E412-47C1-2E31610A94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39533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B8165-A884-0BB1-9DF4-995E9732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74" y="1701751"/>
            <a:ext cx="9818052" cy="4388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017C3-6C15-5B81-496E-EEFB63BB6DAD}"/>
              </a:ext>
            </a:extLst>
          </p:cNvPr>
          <p:cNvSpPr txBox="1"/>
          <p:nvPr/>
        </p:nvSpPr>
        <p:spPr>
          <a:xfrm>
            <a:off x="7364286" y="1701751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latin typeface="Lato"/>
              </a:rPr>
              <a:t>n! = n * (n – 1) * (n – 2) * ... * 2 * 1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C5210CF-D1D9-E846-4304-16BA36C179D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2BA1213-3078-4A27-8FFB-2672FA450A56}" type="datetime1">
              <a:rPr lang="de-DE" smtClean="0"/>
              <a:t>11.11.2025</a:t>
            </a:fld>
            <a:endParaRPr lang="de-D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0B9C83-68B6-483F-957F-775E05B2932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67240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B8165-A884-0BB1-9DF4-995E9732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74" y="1701094"/>
            <a:ext cx="9818052" cy="4388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017C3-6C15-5B81-496E-EEFB63BB6DAD}"/>
              </a:ext>
            </a:extLst>
          </p:cNvPr>
          <p:cNvSpPr txBox="1"/>
          <p:nvPr/>
        </p:nvSpPr>
        <p:spPr>
          <a:xfrm>
            <a:off x="7364286" y="1701094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latin typeface="Lato"/>
              </a:rPr>
              <a:t>n! = n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(n – 1)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(n – 2)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...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2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BADD0-474C-AB70-8E8C-E2F6C8C2B799}"/>
              </a:ext>
            </a:extLst>
          </p:cNvPr>
          <p:cNvSpPr/>
          <p:nvPr/>
        </p:nvSpPr>
        <p:spPr>
          <a:xfrm>
            <a:off x="4882171" y="3850953"/>
            <a:ext cx="692849" cy="65256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C491-F115-4AB1-9A30-8815BEAE60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2D2992F-B1F6-4E4C-B7EC-4C4A847D8372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8E8E-8E74-8993-8877-93E4F24A01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56773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B8165-A884-0BB1-9DF4-995E9732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74" y="1701094"/>
            <a:ext cx="9818052" cy="4388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017C3-6C15-5B81-496E-EEFB63BB6DAD}"/>
              </a:ext>
            </a:extLst>
          </p:cNvPr>
          <p:cNvSpPr txBox="1"/>
          <p:nvPr/>
        </p:nvSpPr>
        <p:spPr>
          <a:xfrm>
            <a:off x="7364286" y="1702290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latin typeface="Lato"/>
              </a:rPr>
              <a:t>n! =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n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(n – 1)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(n – 2)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...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2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BADD0-474C-AB70-8E8C-E2F6C8C2B799}"/>
              </a:ext>
            </a:extLst>
          </p:cNvPr>
          <p:cNvSpPr/>
          <p:nvPr/>
        </p:nvSpPr>
        <p:spPr>
          <a:xfrm>
            <a:off x="4882171" y="3850953"/>
            <a:ext cx="692849" cy="65256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3F695-E330-8A52-27D5-1FF53612482B}"/>
              </a:ext>
            </a:extLst>
          </p:cNvPr>
          <p:cNvSpPr/>
          <p:nvPr/>
        </p:nvSpPr>
        <p:spPr>
          <a:xfrm>
            <a:off x="2183282" y="3347429"/>
            <a:ext cx="4862030" cy="50352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92A17-65A9-40EB-BDAE-59A2AB54CB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D16636E-9BF8-4283-BA8F-72F76E8A640C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04410-F0EE-B111-5EAC-E09632B69D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19004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B8165-A884-0BB1-9DF4-995E9732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74" y="1701094"/>
            <a:ext cx="9818052" cy="4388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017C3-6C15-5B81-496E-EEFB63BB6DAD}"/>
              </a:ext>
            </a:extLst>
          </p:cNvPr>
          <p:cNvSpPr txBox="1"/>
          <p:nvPr/>
        </p:nvSpPr>
        <p:spPr>
          <a:xfrm>
            <a:off x="7364286" y="1701094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latin typeface="Lato"/>
              </a:rPr>
              <a:t>n! =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n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(n – 1)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(n – 2)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...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2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00FF00"/>
                </a:solidFill>
                <a:latin typeface="Lato"/>
              </a:rPr>
              <a:t>*</a:t>
            </a:r>
            <a:r>
              <a:rPr lang="de-DE" sz="1800" dirty="0">
                <a:solidFill>
                  <a:schemeClr val="bg1"/>
                </a:solidFill>
                <a:latin typeface="Lato"/>
              </a:rPr>
              <a:t> </a:t>
            </a:r>
            <a:r>
              <a:rPr lang="de-DE" sz="1800" dirty="0">
                <a:solidFill>
                  <a:srgbClr val="FFFF00"/>
                </a:solidFill>
                <a:latin typeface="Lato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BADD0-474C-AB70-8E8C-E2F6C8C2B799}"/>
              </a:ext>
            </a:extLst>
          </p:cNvPr>
          <p:cNvSpPr/>
          <p:nvPr/>
        </p:nvSpPr>
        <p:spPr>
          <a:xfrm>
            <a:off x="4882171" y="3850953"/>
            <a:ext cx="692849" cy="65256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3F695-E330-8A52-27D5-1FF53612482B}"/>
              </a:ext>
            </a:extLst>
          </p:cNvPr>
          <p:cNvSpPr/>
          <p:nvPr/>
        </p:nvSpPr>
        <p:spPr>
          <a:xfrm>
            <a:off x="2183282" y="3347429"/>
            <a:ext cx="4862030" cy="50352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1510B-FA2B-CA61-F7D1-A8169A3A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745" y="5454582"/>
            <a:ext cx="3953956" cy="62477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0D76B7-DFBC-A1C8-2838-568C9D8F4E0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6BD3F95-453B-47F2-ABE5-0636597BAB35}" type="datetime1">
              <a:rPr lang="de-DE" smtClean="0"/>
              <a:t>11.11.2025</a:t>
            </a:fld>
            <a:endParaRPr lang="de-D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D2CAE3B-0ADD-8742-ADEC-7285AF5241D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9582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9B8165-A884-0BB1-9DF4-995E9732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74" y="1701094"/>
            <a:ext cx="9818052" cy="4388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1510B-FA2B-CA61-F7D1-A8169A3A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745" y="5454582"/>
            <a:ext cx="3953956" cy="624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ED2300-D980-8B5B-7BF4-F9415B3E5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704" y="1191570"/>
            <a:ext cx="1846322" cy="3456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120F05-ED7C-3783-9CB0-07D2606EE17C}"/>
              </a:ext>
            </a:extLst>
          </p:cNvPr>
          <p:cNvSpPr txBox="1"/>
          <p:nvPr/>
        </p:nvSpPr>
        <p:spPr>
          <a:xfrm>
            <a:off x="7460803" y="119830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latin typeface="Lato"/>
              </a:rPr>
              <a:t>WolframAlpha: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6B40DA6-9749-B48E-49E5-4DAEE3630E6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B72CA0D-F48F-47E4-9950-006848B384BD}" type="datetime1">
              <a:rPr lang="de-DE" smtClean="0"/>
              <a:t>11.11.2025</a:t>
            </a:fld>
            <a:endParaRPr lang="de-DE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BA67176-0151-532B-B8A4-54C02EB10B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33091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36525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86720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771CE-F011-2D01-2500-DF6DE62F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73933"/>
            <a:ext cx="11168839" cy="29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27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771CE-F011-2D01-2500-DF6DE62F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73933"/>
            <a:ext cx="11168839" cy="299852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C8C125-5BA7-E485-5323-90C4F8F5900E}"/>
              </a:ext>
            </a:extLst>
          </p:cNvPr>
          <p:cNvCxnSpPr/>
          <p:nvPr/>
        </p:nvCxnSpPr>
        <p:spPr>
          <a:xfrm flipV="1">
            <a:off x="8994957" y="4974819"/>
            <a:ext cx="1643503" cy="350453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EFFCF5-AF02-49BB-E1DC-DB652E298EA1}"/>
              </a:ext>
            </a:extLst>
          </p:cNvPr>
          <p:cNvSpPr txBox="1"/>
          <p:nvPr/>
        </p:nvSpPr>
        <p:spPr>
          <a:xfrm>
            <a:off x="7273171" y="5287787"/>
            <a:ext cx="344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red wiggly lines are never good!</a:t>
            </a:r>
          </a:p>
        </p:txBody>
      </p:sp>
    </p:spTree>
    <p:extLst>
      <p:ext uri="{BB962C8B-B14F-4D97-AF65-F5344CB8AC3E}">
        <p14:creationId xmlns:p14="http://schemas.microsoft.com/office/powerpoint/2010/main" val="857233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771CE-F011-2D01-2500-DF6DE62F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73933"/>
            <a:ext cx="11168839" cy="299852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C8C125-5BA7-E485-5323-90C4F8F5900E}"/>
              </a:ext>
            </a:extLst>
          </p:cNvPr>
          <p:cNvCxnSpPr/>
          <p:nvPr/>
        </p:nvCxnSpPr>
        <p:spPr>
          <a:xfrm flipV="1">
            <a:off x="8994957" y="4974819"/>
            <a:ext cx="1643503" cy="350453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EFFCF5-AF02-49BB-E1DC-DB652E298EA1}"/>
              </a:ext>
            </a:extLst>
          </p:cNvPr>
          <p:cNvSpPr txBox="1"/>
          <p:nvPr/>
        </p:nvSpPr>
        <p:spPr>
          <a:xfrm>
            <a:off x="7273171" y="5287787"/>
            <a:ext cx="344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red wiggly lines are never good!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9CC8D5-9219-64C6-329A-2246DB625E78}"/>
              </a:ext>
            </a:extLst>
          </p:cNvPr>
          <p:cNvCxnSpPr>
            <a:cxnSpLocks/>
          </p:cNvCxnSpPr>
          <p:nvPr/>
        </p:nvCxnSpPr>
        <p:spPr>
          <a:xfrm flipH="1">
            <a:off x="5309159" y="2872499"/>
            <a:ext cx="2844241" cy="59577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6E4C98-954B-C82C-C620-03F29C215331}"/>
              </a:ext>
            </a:extLst>
          </p:cNvPr>
          <p:cNvSpPr txBox="1"/>
          <p:nvPr/>
        </p:nvSpPr>
        <p:spPr>
          <a:xfrm>
            <a:off x="8153400" y="2687833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Dots mean the mistake lies here</a:t>
            </a:r>
          </a:p>
        </p:txBody>
      </p:sp>
    </p:spTree>
    <p:extLst>
      <p:ext uri="{BB962C8B-B14F-4D97-AF65-F5344CB8AC3E}">
        <p14:creationId xmlns:p14="http://schemas.microsoft.com/office/powerpoint/2010/main" val="1456986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24099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9EB58-E1AD-8A03-A957-CC902235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2" y="2680422"/>
            <a:ext cx="11976056" cy="2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62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9EB58-E1AD-8A03-A957-CC902235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2" y="2680422"/>
            <a:ext cx="11976056" cy="2628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D2577-9053-B65F-8602-7CFB1A9C161E}"/>
              </a:ext>
            </a:extLst>
          </p:cNvPr>
          <p:cNvSpPr txBox="1"/>
          <p:nvPr/>
        </p:nvSpPr>
        <p:spPr>
          <a:xfrm>
            <a:off x="6775422" y="2680422"/>
            <a:ext cx="4956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A lot of words, let‘s focus on the important bits</a:t>
            </a:r>
          </a:p>
        </p:txBody>
      </p:sp>
    </p:spTree>
    <p:extLst>
      <p:ext uri="{BB962C8B-B14F-4D97-AF65-F5344CB8AC3E}">
        <p14:creationId xmlns:p14="http://schemas.microsoft.com/office/powerpoint/2010/main" val="2989594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9EB58-E1AD-8A03-A957-CC902235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2" y="2680422"/>
            <a:ext cx="11976056" cy="2628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D2577-9053-B65F-8602-7CFB1A9C161E}"/>
              </a:ext>
            </a:extLst>
          </p:cNvPr>
          <p:cNvSpPr txBox="1"/>
          <p:nvPr/>
        </p:nvSpPr>
        <p:spPr>
          <a:xfrm>
            <a:off x="6775422" y="2680422"/>
            <a:ext cx="4956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A lot of words, let‘s focus on the important bits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2C9D84-7731-D823-D5EA-8C116A3A4EE6}"/>
              </a:ext>
            </a:extLst>
          </p:cNvPr>
          <p:cNvSpPr/>
          <p:nvPr/>
        </p:nvSpPr>
        <p:spPr>
          <a:xfrm>
            <a:off x="107972" y="2868074"/>
            <a:ext cx="1189106" cy="22074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ACEE3-073C-901E-B4EC-990A402021D9}"/>
              </a:ext>
            </a:extLst>
          </p:cNvPr>
          <p:cNvSpPr/>
          <p:nvPr/>
        </p:nvSpPr>
        <p:spPr>
          <a:xfrm>
            <a:off x="1297078" y="2868074"/>
            <a:ext cx="1526686" cy="27391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CD23F-7833-B052-44B7-79BBECDC6386}"/>
              </a:ext>
            </a:extLst>
          </p:cNvPr>
          <p:cNvSpPr/>
          <p:nvPr/>
        </p:nvSpPr>
        <p:spPr>
          <a:xfrm>
            <a:off x="2730442" y="3536755"/>
            <a:ext cx="3365557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8D42A-4F8D-3573-6A01-4A480D62313E}"/>
              </a:ext>
            </a:extLst>
          </p:cNvPr>
          <p:cNvSpPr/>
          <p:nvPr/>
        </p:nvSpPr>
        <p:spPr>
          <a:xfrm>
            <a:off x="7452891" y="3536754"/>
            <a:ext cx="1240684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06DB5-A9A2-5DC4-004A-58BFC539BDBC}"/>
              </a:ext>
            </a:extLst>
          </p:cNvPr>
          <p:cNvSpPr/>
          <p:nvPr/>
        </p:nvSpPr>
        <p:spPr>
          <a:xfrm>
            <a:off x="3941586" y="5075524"/>
            <a:ext cx="2499496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01019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9EB58-E1AD-8A03-A957-CC902235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2" y="2680422"/>
            <a:ext cx="11976056" cy="2628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D2577-9053-B65F-8602-7CFB1A9C161E}"/>
              </a:ext>
            </a:extLst>
          </p:cNvPr>
          <p:cNvSpPr txBox="1"/>
          <p:nvPr/>
        </p:nvSpPr>
        <p:spPr>
          <a:xfrm>
            <a:off x="6775422" y="2680422"/>
            <a:ext cx="5006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A lot of words, let‘s focus on the important bits,</a:t>
            </a:r>
          </a:p>
          <a:p>
            <a:pPr algn="l"/>
            <a:r>
              <a:rPr lang="de-DE" sz="1800" dirty="0">
                <a:solidFill>
                  <a:schemeClr val="bg1"/>
                </a:solidFill>
                <a:latin typeface="Lato"/>
              </a:rPr>
              <a:t>boiling it down even more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2C9D84-7731-D823-D5EA-8C116A3A4EE6}"/>
              </a:ext>
            </a:extLst>
          </p:cNvPr>
          <p:cNvSpPr/>
          <p:nvPr/>
        </p:nvSpPr>
        <p:spPr>
          <a:xfrm>
            <a:off x="107972" y="2868074"/>
            <a:ext cx="1189106" cy="22074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ACEE3-073C-901E-B4EC-990A402021D9}"/>
              </a:ext>
            </a:extLst>
          </p:cNvPr>
          <p:cNvSpPr/>
          <p:nvPr/>
        </p:nvSpPr>
        <p:spPr>
          <a:xfrm>
            <a:off x="1297078" y="2868074"/>
            <a:ext cx="1526686" cy="27391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CD23F-7833-B052-44B7-79BBECDC6386}"/>
              </a:ext>
            </a:extLst>
          </p:cNvPr>
          <p:cNvSpPr/>
          <p:nvPr/>
        </p:nvSpPr>
        <p:spPr>
          <a:xfrm>
            <a:off x="2730442" y="3536755"/>
            <a:ext cx="3365557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8D42A-4F8D-3573-6A01-4A480D62313E}"/>
              </a:ext>
            </a:extLst>
          </p:cNvPr>
          <p:cNvSpPr/>
          <p:nvPr/>
        </p:nvSpPr>
        <p:spPr>
          <a:xfrm>
            <a:off x="7452891" y="3536754"/>
            <a:ext cx="1240684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06DB5-A9A2-5DC4-004A-58BFC539BDBC}"/>
              </a:ext>
            </a:extLst>
          </p:cNvPr>
          <p:cNvSpPr/>
          <p:nvPr/>
        </p:nvSpPr>
        <p:spPr>
          <a:xfrm>
            <a:off x="3941586" y="5075524"/>
            <a:ext cx="2499496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95437-FCB1-F8EC-0AEA-D8B5A231B638}"/>
              </a:ext>
            </a:extLst>
          </p:cNvPr>
          <p:cNvSpPr/>
          <p:nvPr/>
        </p:nvSpPr>
        <p:spPr>
          <a:xfrm>
            <a:off x="4436046" y="3994790"/>
            <a:ext cx="4832827" cy="23363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9AC85A-C0AD-082D-2A3C-2D0681A8737C}"/>
              </a:ext>
            </a:extLst>
          </p:cNvPr>
          <p:cNvSpPr/>
          <p:nvPr/>
        </p:nvSpPr>
        <p:spPr>
          <a:xfrm>
            <a:off x="1297077" y="4444106"/>
            <a:ext cx="5204427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6054BB-F9E3-6F02-F28E-6DA18E178507}"/>
              </a:ext>
            </a:extLst>
          </p:cNvPr>
          <p:cNvSpPr/>
          <p:nvPr/>
        </p:nvSpPr>
        <p:spPr>
          <a:xfrm>
            <a:off x="6116208" y="3537201"/>
            <a:ext cx="5967820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E93959-FAAA-2DD9-11F9-C7BC7BF4BE9D}"/>
              </a:ext>
            </a:extLst>
          </p:cNvPr>
          <p:cNvSpPr/>
          <p:nvPr/>
        </p:nvSpPr>
        <p:spPr>
          <a:xfrm>
            <a:off x="8657689" y="4624125"/>
            <a:ext cx="2941925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8E893-458C-2589-3F59-C89E7B03A1D7}"/>
              </a:ext>
            </a:extLst>
          </p:cNvPr>
          <p:cNvSpPr/>
          <p:nvPr/>
        </p:nvSpPr>
        <p:spPr>
          <a:xfrm>
            <a:off x="128228" y="5075525"/>
            <a:ext cx="1978517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18A9FF-4999-2674-91F0-CF8D4A8E57EC}"/>
              </a:ext>
            </a:extLst>
          </p:cNvPr>
          <p:cNvSpPr/>
          <p:nvPr/>
        </p:nvSpPr>
        <p:spPr>
          <a:xfrm>
            <a:off x="652549" y="3329643"/>
            <a:ext cx="5204427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E80C1D-ECDB-6BF6-73B7-9E011A04150B}"/>
              </a:ext>
            </a:extLst>
          </p:cNvPr>
          <p:cNvSpPr/>
          <p:nvPr/>
        </p:nvSpPr>
        <p:spPr>
          <a:xfrm>
            <a:off x="478859" y="3498712"/>
            <a:ext cx="5204427" cy="2336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90946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Error boiled down to three keywords: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Borrowed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Moved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555706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Last time: Using a </a:t>
            </a:r>
            <a:r>
              <a:rPr lang="de-DE" dirty="0">
                <a:solidFill>
                  <a:srgbClr val="FFFF00"/>
                </a:solidFill>
              </a:rPr>
              <a:t>Vector</a:t>
            </a:r>
            <a:r>
              <a:rPr lang="de-DE" dirty="0"/>
              <a:t> in a </a:t>
            </a:r>
            <a:r>
              <a:rPr lang="de-DE" dirty="0">
                <a:solidFill>
                  <a:srgbClr val="FFFF00"/>
                </a:solidFill>
              </a:rPr>
              <a:t>for-loop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made the variable invalid</a:t>
            </a:r>
            <a:r>
              <a:rPr lang="de-DE" dirty="0"/>
              <a:t> after the loop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take a closer look at the error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Error boiled down to three keywords: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Borrowed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Moved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Today, we‘ll dive deep down into the world of Rust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04368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At some point, every compiler constructor has to address 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57995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265366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Manual Management</a:t>
            </a:r>
            <a:r>
              <a:rPr lang="de-DE" dirty="0">
                <a:solidFill>
                  <a:schemeClr val="bg1"/>
                </a:solidFill>
              </a:rPr>
              <a:t>, like in C or Assembly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15943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Manual Management</a:t>
            </a:r>
            <a:r>
              <a:rPr lang="de-DE" dirty="0">
                <a:solidFill>
                  <a:schemeClr val="bg1"/>
                </a:solidFill>
              </a:rPr>
              <a:t>, like in C or Assembly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Garbage Collection</a:t>
            </a:r>
            <a:r>
              <a:rPr lang="de-DE" dirty="0">
                <a:solidFill>
                  <a:schemeClr val="bg1"/>
                </a:solidFill>
              </a:rPr>
              <a:t>, like in Java or Python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38060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Manual Management</a:t>
            </a:r>
            <a:r>
              <a:rPr lang="de-DE" dirty="0">
                <a:solidFill>
                  <a:schemeClr val="bg1"/>
                </a:solidFill>
              </a:rPr>
              <a:t>, like in C or Assembly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Garbage Collection</a:t>
            </a:r>
            <a:r>
              <a:rPr lang="de-DE" dirty="0">
                <a:solidFill>
                  <a:schemeClr val="bg1"/>
                </a:solidFill>
              </a:rPr>
              <a:t>, like in Java or Python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Automatic Reference Counting</a:t>
            </a:r>
            <a:r>
              <a:rPr lang="de-DE" dirty="0">
                <a:solidFill>
                  <a:schemeClr val="bg1"/>
                </a:solidFill>
              </a:rPr>
              <a:t>, like in Swift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75435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Manual Management</a:t>
            </a:r>
            <a:r>
              <a:rPr lang="de-DE" dirty="0">
                <a:solidFill>
                  <a:schemeClr val="bg1"/>
                </a:solidFill>
              </a:rPr>
              <a:t>, like in C or Assembly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Garbage Collection</a:t>
            </a:r>
            <a:r>
              <a:rPr lang="de-DE" dirty="0">
                <a:solidFill>
                  <a:schemeClr val="bg1"/>
                </a:solidFill>
              </a:rPr>
              <a:t>, like in Java or Python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Automatic Reference Counting</a:t>
            </a:r>
            <a:r>
              <a:rPr lang="de-DE" dirty="0">
                <a:solidFill>
                  <a:schemeClr val="bg1"/>
                </a:solidFill>
              </a:rPr>
              <a:t>, like in Swift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, like in Rust or... Well, so far only Rust has really pulled it off (and maybe C++)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91675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51188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39811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Each value has an owner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Your </a:t>
            </a:r>
            <a:r>
              <a:rPr lang="de-DE" dirty="0">
                <a:solidFill>
                  <a:srgbClr val="FFFF00"/>
                </a:solidFill>
              </a:rPr>
              <a:t>5 on the stack</a:t>
            </a:r>
            <a:r>
              <a:rPr lang="de-DE" dirty="0">
                <a:solidFill>
                  <a:schemeClr val="bg1"/>
                </a:solidFill>
              </a:rPr>
              <a:t> has an owner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Your </a:t>
            </a:r>
            <a:r>
              <a:rPr lang="de-DE" dirty="0">
                <a:solidFill>
                  <a:srgbClr val="FFFF00"/>
                </a:solidFill>
              </a:rPr>
              <a:t>elements on the heap </a:t>
            </a:r>
            <a:r>
              <a:rPr lang="de-DE" dirty="0">
                <a:solidFill>
                  <a:schemeClr val="bg1"/>
                </a:solidFill>
              </a:rPr>
              <a:t>have an owner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9954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Each value has an owner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 can only be </a:t>
            </a:r>
            <a:r>
              <a:rPr lang="de-DE" dirty="0">
                <a:solidFill>
                  <a:srgbClr val="00FF00"/>
                </a:solidFill>
              </a:rPr>
              <a:t>exactly one owner at any given time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This is related to the Vector-problem we faced earlier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85270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Each value has an owner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 can only be </a:t>
            </a:r>
            <a:r>
              <a:rPr lang="de-DE" dirty="0">
                <a:solidFill>
                  <a:srgbClr val="00FF00"/>
                </a:solidFill>
              </a:rPr>
              <a:t>exactly one owner at any given 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When the owner is dropped, the value is dropped (memory is freed)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64220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elephant in the room: </a:t>
            </a:r>
            <a:r>
              <a:rPr lang="de-DE" dirty="0">
                <a:solidFill>
                  <a:srgbClr val="00FF00"/>
                </a:solidFill>
              </a:rPr>
              <a:t>Memory Management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How do you handle data structures, how do you handle heap allocations, etcetc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different techniques exist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>
                <a:solidFill>
                  <a:srgbClr val="00FF00"/>
                </a:solidFill>
              </a:rPr>
              <a:t>Ownership-Model</a:t>
            </a:r>
            <a:r>
              <a:rPr lang="de-DE" dirty="0">
                <a:solidFill>
                  <a:schemeClr val="bg1"/>
                </a:solidFill>
              </a:rPr>
              <a:t> is the technique used in Rust, it controls everything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Each value has an owner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There can only be </a:t>
            </a:r>
            <a:r>
              <a:rPr lang="de-DE" dirty="0">
                <a:solidFill>
                  <a:srgbClr val="00FF00"/>
                </a:solidFill>
              </a:rPr>
              <a:t>exactly one owner at any given 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When the owner is dropped, the value is dropped (memory is freed)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Almost always initiated </a:t>
            </a:r>
            <a:r>
              <a:rPr lang="de-DE" dirty="0">
                <a:solidFill>
                  <a:srgbClr val="00FF00"/>
                </a:solidFill>
              </a:rPr>
              <a:t>by a variable going out of scope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Drop is recursive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Scope drops variable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chemeClr val="bg1"/>
                </a:solidFill>
              </a:rPr>
              <a:t>variable drops Vector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chemeClr val="bg1"/>
                </a:solidFill>
              </a:rPr>
              <a:t>Vector drops elements, which can drop other things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073856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7F689E-2F28-C55F-8D30-18C1EEE2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14" y="1244712"/>
            <a:ext cx="7650889" cy="480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74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7F689E-2F28-C55F-8D30-18C1EEE2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14" y="1244712"/>
            <a:ext cx="7650889" cy="4804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8E6CFC-F45E-F410-4DE6-DCBD00F5232C}"/>
              </a:ext>
            </a:extLst>
          </p:cNvPr>
          <p:cNvSpPr txBox="1"/>
          <p:nvPr/>
        </p:nvSpPr>
        <p:spPr>
          <a:xfrm>
            <a:off x="3197586" y="4366563"/>
            <a:ext cx="6851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Vector dropped here  Vector elements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5188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7F689E-2F28-C55F-8D30-18C1EEE2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14" y="1244712"/>
            <a:ext cx="7650889" cy="4804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8E6CFC-F45E-F410-4DE6-DCBD00F5232C}"/>
              </a:ext>
            </a:extLst>
          </p:cNvPr>
          <p:cNvSpPr txBox="1"/>
          <p:nvPr/>
        </p:nvSpPr>
        <p:spPr>
          <a:xfrm>
            <a:off x="3197586" y="4366563"/>
            <a:ext cx="6851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Vector dropped here  Vector elements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85820-4D40-4936-B0A5-D0E4CFCA0A73}"/>
              </a:ext>
            </a:extLst>
          </p:cNvPr>
          <p:cNvSpPr txBox="1"/>
          <p:nvPr/>
        </p:nvSpPr>
        <p:spPr>
          <a:xfrm>
            <a:off x="2353857" y="4806424"/>
            <a:ext cx="387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Value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1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21729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7F689E-2F28-C55F-8D30-18C1EEE2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14" y="1244712"/>
            <a:ext cx="7650889" cy="4804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8E6CFC-F45E-F410-4DE6-DCBD00F5232C}"/>
              </a:ext>
            </a:extLst>
          </p:cNvPr>
          <p:cNvSpPr txBox="1"/>
          <p:nvPr/>
        </p:nvSpPr>
        <p:spPr>
          <a:xfrm>
            <a:off x="3197586" y="4366563"/>
            <a:ext cx="6851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Vector dropped here  Vector elements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85820-4D40-4936-B0A5-D0E4CFCA0A73}"/>
              </a:ext>
            </a:extLst>
          </p:cNvPr>
          <p:cNvSpPr txBox="1"/>
          <p:nvPr/>
        </p:nvSpPr>
        <p:spPr>
          <a:xfrm>
            <a:off x="2353857" y="4806424"/>
            <a:ext cx="3879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Value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1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8F651-AAF3-D643-33FF-533B1A08093F}"/>
              </a:ext>
            </a:extLst>
          </p:cNvPr>
          <p:cNvSpPr txBox="1"/>
          <p:nvPr/>
        </p:nvSpPr>
        <p:spPr>
          <a:xfrm>
            <a:off x="1547547" y="5680024"/>
            <a:ext cx="3863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dropped here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Value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0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dropped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53265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0000"/>
                </a:solidFill>
              </a:rPr>
              <a:t>Ownership-Conflicts</a:t>
            </a:r>
            <a:r>
              <a:rPr lang="de-DE" dirty="0">
                <a:solidFill>
                  <a:schemeClr val="bg1"/>
                </a:solidFill>
              </a:rPr>
              <a:t> are resolved by </a:t>
            </a:r>
            <a:r>
              <a:rPr lang="de-DE" dirty="0">
                <a:solidFill>
                  <a:srgbClr val="00FF00"/>
                </a:solidFill>
              </a:rPr>
              <a:t>moving or copying the data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1906723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0000"/>
                </a:solidFill>
              </a:rPr>
              <a:t>Ownership-Conflicts</a:t>
            </a:r>
            <a:r>
              <a:rPr lang="de-DE" dirty="0">
                <a:solidFill>
                  <a:schemeClr val="bg1"/>
                </a:solidFill>
              </a:rPr>
              <a:t> are resolved by </a:t>
            </a:r>
            <a:r>
              <a:rPr lang="de-DE" dirty="0">
                <a:solidFill>
                  <a:srgbClr val="00FF00"/>
                </a:solidFill>
              </a:rPr>
              <a:t>moving or copying the data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Whether a value is copied or moved is </a:t>
            </a:r>
            <a:r>
              <a:rPr lang="de-DE" dirty="0">
                <a:solidFill>
                  <a:srgbClr val="00FF00"/>
                </a:solidFill>
              </a:rPr>
              <a:t>based on the trait system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910423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5341-103E-8CB8-7735-5362214C4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0000"/>
                </a:solidFill>
              </a:rPr>
              <a:t>Ownership-Conflicts</a:t>
            </a:r>
            <a:r>
              <a:rPr lang="de-DE" dirty="0">
                <a:solidFill>
                  <a:schemeClr val="bg1"/>
                </a:solidFill>
              </a:rPr>
              <a:t> are resolved by </a:t>
            </a:r>
            <a:r>
              <a:rPr lang="de-DE" dirty="0">
                <a:solidFill>
                  <a:srgbClr val="00FF00"/>
                </a:solidFill>
              </a:rPr>
              <a:t>moving or copying the data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Whether a value is copied or moved is </a:t>
            </a:r>
            <a:r>
              <a:rPr lang="de-DE" dirty="0">
                <a:solidFill>
                  <a:srgbClr val="00FF00"/>
                </a:solidFill>
              </a:rPr>
              <a:t>based on the trait system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Types implementing the </a:t>
            </a:r>
            <a:r>
              <a:rPr lang="de-DE" dirty="0">
                <a:solidFill>
                  <a:srgbClr val="00FF00"/>
                </a:solidFill>
              </a:rPr>
              <a:t>Copy-trait</a:t>
            </a:r>
            <a:r>
              <a:rPr lang="de-DE" dirty="0">
                <a:solidFill>
                  <a:schemeClr val="bg1"/>
                </a:solidFill>
              </a:rPr>
              <a:t> are copied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Otherwise, they are moved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227931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624AA-95B9-9688-55A3-4434903E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1557076"/>
            <a:ext cx="840222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246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624AA-95B9-9688-55A3-4434903E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1557076"/>
            <a:ext cx="8402223" cy="37438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6849BF-9D58-AEC5-579A-636E6B6E481D}"/>
              </a:ext>
            </a:extLst>
          </p:cNvPr>
          <p:cNvSpPr txBox="1"/>
          <p:nvPr/>
        </p:nvSpPr>
        <p:spPr>
          <a:xfrm>
            <a:off x="3296996" y="4507548"/>
            <a:ext cx="5598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00FF00"/>
                </a:solidFill>
                <a:latin typeface="Lato"/>
              </a:rPr>
              <a:t>i32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is a simple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 primitive type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that implements the Copy-trait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Value 0 is copied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we can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still use x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after assigning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y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78125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28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1C9E4-5337-8BFF-AD0C-41AC7BFA4FDF}"/>
              </a:ext>
            </a:extLst>
          </p:cNvPr>
          <p:cNvSpPr txBox="1"/>
          <p:nvPr/>
        </p:nvSpPr>
        <p:spPr>
          <a:xfrm>
            <a:off x="2810485" y="3174217"/>
            <a:ext cx="65710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FFFF00"/>
                </a:solidFill>
                <a:latin typeface="Lato"/>
              </a:rPr>
              <a:t>Vec&lt;T&gt;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does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not implement the Copy-trait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Vec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is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generic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meaning we can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put </a:t>
            </a:r>
            <a:r>
              <a:rPr lang="de-DE" sz="1600" i="1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any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 type in it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But we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can‘t guarantee that we can copy every type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we put in there!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27276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1C9E4-5337-8BFF-AD0C-41AC7BFA4FDF}"/>
              </a:ext>
            </a:extLst>
          </p:cNvPr>
          <p:cNvSpPr txBox="1"/>
          <p:nvPr/>
        </p:nvSpPr>
        <p:spPr>
          <a:xfrm>
            <a:off x="2810486" y="3174217"/>
            <a:ext cx="65710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rgbClr val="FFFF00"/>
                </a:solidFill>
                <a:latin typeface="Lato"/>
              </a:rPr>
              <a:t>Vec&lt;T&gt;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does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not implement the Copy-trait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Vec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is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generic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meaning we can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put </a:t>
            </a:r>
            <a:r>
              <a:rPr lang="de-DE" sz="1600" i="1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any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 type in it</a:t>
            </a:r>
            <a:b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But we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can‘t guarantee that we can copy every type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we put in there!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However, we still copy </a:t>
            </a:r>
            <a:r>
              <a:rPr lang="de-DE" sz="1600" i="1" dirty="0">
                <a:solidFill>
                  <a:schemeClr val="bg1"/>
                </a:solidFill>
                <a:latin typeface="Lato"/>
              </a:rPr>
              <a:t>some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9039981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DA3647-E98B-0E68-415E-A1E1BEFCE0C0}"/>
              </a:ext>
            </a:extLst>
          </p:cNvPr>
          <p:cNvSpPr txBox="1"/>
          <p:nvPr/>
        </p:nvSpPr>
        <p:spPr>
          <a:xfrm>
            <a:off x="655044" y="3745600"/>
            <a:ext cx="95141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Vector is a bit more complex: The data itself is located on the Heap, there‘s only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Metadata on the Stack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: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Pointer to the Heap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Length of Vector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Capacity of Vector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05204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A29F29-C59B-286E-967A-7CE910091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3377"/>
              </p:ext>
            </p:extLst>
          </p:nvPr>
        </p:nvGraphicFramePr>
        <p:xfrm>
          <a:off x="1699897" y="4034869"/>
          <a:ext cx="2675616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7808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337808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>
                        <a:latin typeface="La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760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10880"/>
              </p:ext>
            </p:extLst>
          </p:nvPr>
        </p:nvGraphicFramePr>
        <p:xfrm>
          <a:off x="1699897" y="4034869"/>
          <a:ext cx="2675616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7808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337808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48415"/>
              </p:ext>
            </p:extLst>
          </p:nvPr>
        </p:nvGraphicFramePr>
        <p:xfrm>
          <a:off x="7512581" y="4034869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4375513" y="4592141"/>
            <a:ext cx="3137068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5865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/>
        </p:nvGraphicFramePr>
        <p:xfrm>
          <a:off x="1699897" y="4034869"/>
          <a:ext cx="2675616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7808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337808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/>
        </p:nvGraphicFramePr>
        <p:xfrm>
          <a:off x="7512581" y="4034869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4375513" y="4592141"/>
            <a:ext cx="3137068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BF9144-8BA5-D0CC-BC21-E3CFD71636BA}"/>
              </a:ext>
            </a:extLst>
          </p:cNvPr>
          <p:cNvSpPr txBox="1"/>
          <p:nvPr/>
        </p:nvSpPr>
        <p:spPr>
          <a:xfrm>
            <a:off x="4436224" y="3790285"/>
            <a:ext cx="3015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Even if values are moved,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data on the stack is still copied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392100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315957"/>
              </p:ext>
            </p:extLst>
          </p:nvPr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219812"/>
              </p:ext>
            </p:extLst>
          </p:nvPr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5079552" y="2066464"/>
            <a:ext cx="2433029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3788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/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084029"/>
              </p:ext>
            </p:extLst>
          </p:nvPr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5079552" y="2066464"/>
            <a:ext cx="2433029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E991EA-41C5-4832-7F71-68AD3942B697}"/>
              </a:ext>
            </a:extLst>
          </p:cNvPr>
          <p:cNvSpPr txBox="1"/>
          <p:nvPr/>
        </p:nvSpPr>
        <p:spPr>
          <a:xfrm>
            <a:off x="6316672" y="3959070"/>
            <a:ext cx="43738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rgbClr val="00FF00"/>
                </a:solidFill>
                <a:latin typeface="Lato"/>
              </a:rPr>
              <a:t>Ownership-Conflict</a:t>
            </a:r>
            <a:r>
              <a:rPr lang="de-DE" sz="1600">
                <a:solidFill>
                  <a:schemeClr val="bg1"/>
                </a:solidFill>
                <a:latin typeface="Lato"/>
              </a:rPr>
              <a:t>:</a:t>
            </a:r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This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is very bad!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v2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now point to the same heap location, and when dropped will both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free the same memory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  <a:endParaRPr lang="de-DE" sz="1600" dirty="0">
              <a:solidFill>
                <a:srgbClr val="FF0000"/>
              </a:solidFill>
              <a:latin typeface="Lat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08B647-6439-A031-59B3-25D84BBBCD91}"/>
              </a:ext>
            </a:extLst>
          </p:cNvPr>
          <p:cNvCxnSpPr>
            <a:cxnSpLocks/>
          </p:cNvCxnSpPr>
          <p:nvPr/>
        </p:nvCxnSpPr>
        <p:spPr>
          <a:xfrm flipH="1" flipV="1">
            <a:off x="5583077" y="2967548"/>
            <a:ext cx="808888" cy="959513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1AFC42-633A-FC7A-9419-2F53409A28DD}"/>
              </a:ext>
            </a:extLst>
          </p:cNvPr>
          <p:cNvCxnSpPr>
            <a:cxnSpLocks/>
          </p:cNvCxnSpPr>
          <p:nvPr/>
        </p:nvCxnSpPr>
        <p:spPr>
          <a:xfrm flipH="1" flipV="1">
            <a:off x="5875328" y="2099180"/>
            <a:ext cx="640324" cy="1827881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7451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/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/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5079552" y="2066464"/>
            <a:ext cx="2433029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E991EA-41C5-4832-7F71-68AD3942B697}"/>
              </a:ext>
            </a:extLst>
          </p:cNvPr>
          <p:cNvSpPr txBox="1"/>
          <p:nvPr/>
        </p:nvSpPr>
        <p:spPr>
          <a:xfrm>
            <a:off x="6316672" y="3959070"/>
            <a:ext cx="41754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rgbClr val="00FF00"/>
                </a:solidFill>
                <a:latin typeface="Lato"/>
              </a:rPr>
              <a:t>Ownership-Conflict</a:t>
            </a:r>
            <a:r>
              <a:rPr lang="de-DE" sz="1600">
                <a:solidFill>
                  <a:schemeClr val="bg1"/>
                </a:solidFill>
                <a:latin typeface="Lato"/>
              </a:rPr>
              <a:t>:</a:t>
            </a:r>
            <a:br>
              <a:rPr lang="de-DE" sz="1600">
                <a:solidFill>
                  <a:schemeClr val="bg1"/>
                </a:solidFill>
                <a:latin typeface="Lato"/>
              </a:rPr>
            </a:br>
            <a:r>
              <a:rPr lang="de-DE" sz="1600">
                <a:solidFill>
                  <a:schemeClr val="bg1"/>
                </a:solidFill>
                <a:latin typeface="Lato"/>
              </a:rPr>
              <a:t>This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is very bad!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v2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now point to the same heap location, and when dropped will both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free the same memory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  <a:p>
            <a:pPr algn="l"/>
            <a:r>
              <a:rPr lang="de-DE" sz="1600" dirty="0">
                <a:solidFill>
                  <a:srgbClr val="FF0000"/>
                </a:solidFill>
                <a:latin typeface="Lato"/>
              </a:rPr>
              <a:t>Very bad for many reasons!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08B647-6439-A031-59B3-25D84BBBCD91}"/>
              </a:ext>
            </a:extLst>
          </p:cNvPr>
          <p:cNvCxnSpPr>
            <a:cxnSpLocks/>
          </p:cNvCxnSpPr>
          <p:nvPr/>
        </p:nvCxnSpPr>
        <p:spPr>
          <a:xfrm flipH="1" flipV="1">
            <a:off x="5583077" y="2967548"/>
            <a:ext cx="808888" cy="959513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1AFC42-633A-FC7A-9419-2F53409A28DD}"/>
              </a:ext>
            </a:extLst>
          </p:cNvPr>
          <p:cNvCxnSpPr>
            <a:cxnSpLocks/>
          </p:cNvCxnSpPr>
          <p:nvPr/>
        </p:nvCxnSpPr>
        <p:spPr>
          <a:xfrm flipH="1" flipV="1">
            <a:off x="5875328" y="2099180"/>
            <a:ext cx="640324" cy="1827881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152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/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/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5C08A-D89C-AA92-AF46-0F5866F0259C}"/>
              </a:ext>
            </a:extLst>
          </p:cNvPr>
          <p:cNvCxnSpPr>
            <a:cxnSpLocks/>
          </p:cNvCxnSpPr>
          <p:nvPr/>
        </p:nvCxnSpPr>
        <p:spPr>
          <a:xfrm>
            <a:off x="5079552" y="2066464"/>
            <a:ext cx="2433029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380CB7-A4D7-0555-647B-A5C094DAEFBE}"/>
              </a:ext>
            </a:extLst>
          </p:cNvPr>
          <p:cNvSpPr txBox="1"/>
          <p:nvPr/>
        </p:nvSpPr>
        <p:spPr>
          <a:xfrm>
            <a:off x="4038600" y="4329371"/>
            <a:ext cx="7227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What does the compiler do?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invalidates 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and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moves the data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into v2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657960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58526"/>
              </p:ext>
            </p:extLst>
          </p:nvPr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/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7577BC-CC17-6E43-ED29-1DC7EBB54964}"/>
              </a:ext>
            </a:extLst>
          </p:cNvPr>
          <p:cNvSpPr txBox="1"/>
          <p:nvPr/>
        </p:nvSpPr>
        <p:spPr>
          <a:xfrm>
            <a:off x="4038600" y="4329371"/>
            <a:ext cx="7227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What does the compiler do?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invalidates 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and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moves the data </a:t>
            </a:r>
            <a:r>
              <a:rPr lang="de-DE" sz="1600">
                <a:solidFill>
                  <a:srgbClr val="00FF00"/>
                </a:solidFill>
                <a:latin typeface="Lato"/>
              </a:rPr>
              <a:t>into v2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051419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A9F88B-62D2-A3FF-2712-A000A35CF2C8}"/>
              </a:ext>
            </a:extLst>
          </p:cNvPr>
          <p:cNvGraphicFramePr>
            <a:graphicFrameLocks noGrp="1"/>
          </p:cNvGraphicFramePr>
          <p:nvPr/>
        </p:nvGraphicFramePr>
        <p:xfrm>
          <a:off x="1699896" y="1509192"/>
          <a:ext cx="3379656" cy="26318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6552">
                  <a:extLst>
                    <a:ext uri="{9D8B030D-6E8A-4147-A177-3AD203B41FA5}">
                      <a16:colId xmlns:a16="http://schemas.microsoft.com/office/drawing/2014/main" val="1800721692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200483609"/>
                    </a:ext>
                  </a:extLst>
                </a:gridCol>
                <a:gridCol w="1126552">
                  <a:extLst>
                    <a:ext uri="{9D8B030D-6E8A-4147-A177-3AD203B41FA5}">
                      <a16:colId xmlns:a16="http://schemas.microsoft.com/office/drawing/2014/main" val="7357019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4995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625226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8067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87571"/>
                  </a:ext>
                </a:extLst>
              </a:tr>
              <a:tr h="344420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911942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95465"/>
                  </a:ext>
                </a:extLst>
              </a:tr>
              <a:tr h="344420"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58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07E016-31F0-BB79-72B7-81A2E98BF9EB}"/>
              </a:ext>
            </a:extLst>
          </p:cNvPr>
          <p:cNvGraphicFramePr>
            <a:graphicFrameLocks noGrp="1"/>
          </p:cNvGraphicFramePr>
          <p:nvPr/>
        </p:nvGraphicFramePr>
        <p:xfrm>
          <a:off x="7512581" y="1509192"/>
          <a:ext cx="3015646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7823">
                  <a:extLst>
                    <a:ext uri="{9D8B030D-6E8A-4147-A177-3AD203B41FA5}">
                      <a16:colId xmlns:a16="http://schemas.microsoft.com/office/drawing/2014/main" val="740899943"/>
                    </a:ext>
                  </a:extLst>
                </a:gridCol>
                <a:gridCol w="1507823">
                  <a:extLst>
                    <a:ext uri="{9D8B030D-6E8A-4147-A177-3AD203B41FA5}">
                      <a16:colId xmlns:a16="http://schemas.microsoft.com/office/drawing/2014/main" val="2412213050"/>
                    </a:ext>
                  </a:extLst>
                </a:gridCol>
              </a:tblGrid>
              <a:tr h="196945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26202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204643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4896"/>
                  </a:ext>
                </a:extLst>
              </a:tr>
              <a:tr h="19694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1103"/>
                  </a:ext>
                </a:extLst>
              </a:tr>
              <a:tr h="3414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90123987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38677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AD17-DE7B-3998-3AF2-0839ED05B3A3}"/>
              </a:ext>
            </a:extLst>
          </p:cNvPr>
          <p:cNvCxnSpPr>
            <a:cxnSpLocks/>
          </p:cNvCxnSpPr>
          <p:nvPr/>
        </p:nvCxnSpPr>
        <p:spPr>
          <a:xfrm flipV="1">
            <a:off x="5079552" y="2066464"/>
            <a:ext cx="2433029" cy="110372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E991EA-41C5-4832-7F71-68AD3942B697}"/>
              </a:ext>
            </a:extLst>
          </p:cNvPr>
          <p:cNvSpPr txBox="1"/>
          <p:nvPr/>
        </p:nvSpPr>
        <p:spPr>
          <a:xfrm>
            <a:off x="4038600" y="4329371"/>
            <a:ext cx="72272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What does the compiler do?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invalidates 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and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moves the data into v2</a:t>
            </a:r>
          </a:p>
          <a:p>
            <a:pPr algn="l"/>
            <a:endParaRPr lang="de-DE" sz="1600" dirty="0">
              <a:solidFill>
                <a:srgbClr val="00FF00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By doing that, the data on 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heap will only be freed once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everything is fine!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Downside is that you can‘t use v1 anymore, until you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re-assign a value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to it.</a:t>
            </a:r>
          </a:p>
        </p:txBody>
      </p:sp>
    </p:spTree>
    <p:extLst>
      <p:ext uri="{BB962C8B-B14F-4D97-AF65-F5344CB8AC3E}">
        <p14:creationId xmlns:p14="http://schemas.microsoft.com/office/powerpoint/2010/main" val="8901837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7F811-2A76-922B-E3E5-EB3F960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4" y="1224571"/>
            <a:ext cx="10881912" cy="2521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16F9D9-B72B-FEF1-DB4A-2766F7E76624}"/>
              </a:ext>
            </a:extLst>
          </p:cNvPr>
          <p:cNvSpPr txBox="1"/>
          <p:nvPr/>
        </p:nvSpPr>
        <p:spPr>
          <a:xfrm>
            <a:off x="1773342" y="3090446"/>
            <a:ext cx="8645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After the 2nd line,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v1 was moved into v2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can‘t be used anymore, until you re-assign to v1.</a:t>
            </a:r>
          </a:p>
        </p:txBody>
      </p:sp>
    </p:spTree>
    <p:extLst>
      <p:ext uri="{BB962C8B-B14F-4D97-AF65-F5344CB8AC3E}">
        <p14:creationId xmlns:p14="http://schemas.microsoft.com/office/powerpoint/2010/main" val="32789878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F2330D-53DF-FB69-47CB-AB4B9C44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04" y="1224571"/>
            <a:ext cx="10839517" cy="25009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B2A855-45D8-4F98-EBBF-83D990ECC5E8}"/>
              </a:ext>
            </a:extLst>
          </p:cNvPr>
          <p:cNvSpPr/>
          <p:nvPr/>
        </p:nvSpPr>
        <p:spPr>
          <a:xfrm>
            <a:off x="7355482" y="2481367"/>
            <a:ext cx="3367570" cy="62437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6AE264-9BB9-70D5-9ED1-B9FAC82A6EEA}"/>
              </a:ext>
            </a:extLst>
          </p:cNvPr>
          <p:cNvSpPr txBox="1"/>
          <p:nvPr/>
        </p:nvSpPr>
        <p:spPr>
          <a:xfrm>
            <a:off x="6959260" y="3105737"/>
            <a:ext cx="4160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still copy explicitly using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.clone()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493671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F2330D-53DF-FB69-47CB-AB4B9C44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04" y="1224571"/>
            <a:ext cx="10839517" cy="25009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B2A855-45D8-4F98-EBBF-83D990ECC5E8}"/>
              </a:ext>
            </a:extLst>
          </p:cNvPr>
          <p:cNvSpPr/>
          <p:nvPr/>
        </p:nvSpPr>
        <p:spPr>
          <a:xfrm>
            <a:off x="7355482" y="2481367"/>
            <a:ext cx="3367570" cy="62437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6AE264-9BB9-70D5-9ED1-B9FAC82A6EEA}"/>
              </a:ext>
            </a:extLst>
          </p:cNvPr>
          <p:cNvSpPr txBox="1"/>
          <p:nvPr/>
        </p:nvSpPr>
        <p:spPr>
          <a:xfrm>
            <a:off x="6302609" y="3109045"/>
            <a:ext cx="5473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We can still copy explicitly using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.clone()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The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Clone-trait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implementation also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clones the underlying elements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so everything is fine</a:t>
            </a:r>
          </a:p>
        </p:txBody>
      </p:sp>
    </p:spTree>
    <p:extLst>
      <p:ext uri="{BB962C8B-B14F-4D97-AF65-F5344CB8AC3E}">
        <p14:creationId xmlns:p14="http://schemas.microsoft.com/office/powerpoint/2010/main" val="22027907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01794-E990-29D6-A420-E09D8C913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go back to the Vector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2D9A2-5DB4-BD37-6D45-2D5A0A11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69905"/>
            <a:ext cx="11168839" cy="29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348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01794-E990-29D6-A420-E09D8C913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go back to the Vector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2D9A2-5DB4-BD37-6D45-2D5A0A11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69905"/>
            <a:ext cx="11168839" cy="29985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7CD46A-4963-5EDA-3E04-180D8825D374}"/>
              </a:ext>
            </a:extLst>
          </p:cNvPr>
          <p:cNvSpPr/>
          <p:nvPr/>
        </p:nvSpPr>
        <p:spPr>
          <a:xfrm>
            <a:off x="4600197" y="3287006"/>
            <a:ext cx="829808" cy="50755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B5480-9ADE-4B27-9D6A-1290E4BA20FE}"/>
              </a:ext>
            </a:extLst>
          </p:cNvPr>
          <p:cNvSpPr txBox="1"/>
          <p:nvPr/>
        </p:nvSpPr>
        <p:spPr>
          <a:xfrm>
            <a:off x="5867159" y="3371505"/>
            <a:ext cx="4256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 now understand that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moves the value</a:t>
            </a:r>
          </a:p>
        </p:txBody>
      </p:sp>
    </p:spTree>
    <p:extLst>
      <p:ext uri="{BB962C8B-B14F-4D97-AF65-F5344CB8AC3E}">
        <p14:creationId xmlns:p14="http://schemas.microsoft.com/office/powerpoint/2010/main" val="25639370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36229DA-CB7B-A97B-1C22-FA9B5BFA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73934"/>
            <a:ext cx="11125308" cy="2975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01794-E990-29D6-A420-E09D8C913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go back to the Vector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CD46A-4963-5EDA-3E04-180D8825D374}"/>
              </a:ext>
            </a:extLst>
          </p:cNvPr>
          <p:cNvSpPr/>
          <p:nvPr/>
        </p:nvSpPr>
        <p:spPr>
          <a:xfrm>
            <a:off x="4600196" y="3287006"/>
            <a:ext cx="2314953" cy="50755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2FB65-221D-0DB0-B2EE-7938BA2E43EF}"/>
              </a:ext>
            </a:extLst>
          </p:cNvPr>
          <p:cNvSpPr txBox="1"/>
          <p:nvPr/>
        </p:nvSpPr>
        <p:spPr>
          <a:xfrm>
            <a:off x="8531140" y="1835107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Easy fix, clone it!!</a:t>
            </a:r>
          </a:p>
        </p:txBody>
      </p:sp>
    </p:spTree>
    <p:extLst>
      <p:ext uri="{BB962C8B-B14F-4D97-AF65-F5344CB8AC3E}">
        <p14:creationId xmlns:p14="http://schemas.microsoft.com/office/powerpoint/2010/main" val="6414673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36229DA-CB7B-A97B-1C22-FA9B5BFA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2473934"/>
            <a:ext cx="11125308" cy="2975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01794-E990-29D6-A420-E09D8C913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Let‘s go back to the Vector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CD46A-4963-5EDA-3E04-180D8825D374}"/>
              </a:ext>
            </a:extLst>
          </p:cNvPr>
          <p:cNvSpPr/>
          <p:nvPr/>
        </p:nvSpPr>
        <p:spPr>
          <a:xfrm>
            <a:off x="4600196" y="3287006"/>
            <a:ext cx="2314953" cy="50755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B5480-9ADE-4B27-9D6A-1290E4BA20FE}"/>
              </a:ext>
            </a:extLst>
          </p:cNvPr>
          <p:cNvSpPr txBox="1"/>
          <p:nvPr/>
        </p:nvSpPr>
        <p:spPr>
          <a:xfrm>
            <a:off x="8531140" y="1835107"/>
            <a:ext cx="1755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Easy fix, clone it!?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60203B-56C5-2817-43F1-3BB5B0EEE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12" y="1270173"/>
            <a:ext cx="692416" cy="69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166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F0FD18-61E4-D4A6-22AE-F5756863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15" y="1194449"/>
            <a:ext cx="10387370" cy="277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227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F0FD18-61E4-D4A6-22AE-F5756863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15" y="1194449"/>
            <a:ext cx="10387370" cy="27780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B47C32-1C69-4189-9C4B-B567706ADCB1}"/>
              </a:ext>
            </a:extLst>
          </p:cNvPr>
          <p:cNvSpPr/>
          <p:nvPr/>
        </p:nvSpPr>
        <p:spPr>
          <a:xfrm>
            <a:off x="6751253" y="1579052"/>
            <a:ext cx="2195366" cy="39879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FB0F2-85D4-51E9-6DDF-9688CC013403}"/>
              </a:ext>
            </a:extLst>
          </p:cNvPr>
          <p:cNvSpPr txBox="1"/>
          <p:nvPr/>
        </p:nvSpPr>
        <p:spPr>
          <a:xfrm>
            <a:off x="6636905" y="1240498"/>
            <a:ext cx="2730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Cloning might take a while...</a:t>
            </a:r>
          </a:p>
        </p:txBody>
      </p:sp>
    </p:spTree>
    <p:extLst>
      <p:ext uri="{BB962C8B-B14F-4D97-AF65-F5344CB8AC3E}">
        <p14:creationId xmlns:p14="http://schemas.microsoft.com/office/powerpoint/2010/main" val="13832378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28E-3118-AD50-02A9-F9A00516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1AA8-B558-97A0-E8D4-A7A8FE00178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A44F45-211A-4D26-BB2B-1252839185D9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C85A-A0A2-AF72-1E80-EF9D3F6F02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F0FD18-61E4-D4A6-22AE-F5756863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15" y="1194449"/>
            <a:ext cx="10387370" cy="27780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B47C32-1C69-4189-9C4B-B567706ADCB1}"/>
              </a:ext>
            </a:extLst>
          </p:cNvPr>
          <p:cNvSpPr/>
          <p:nvPr/>
        </p:nvSpPr>
        <p:spPr>
          <a:xfrm>
            <a:off x="6751253" y="1579052"/>
            <a:ext cx="2195366" cy="39879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FB0F2-85D4-51E9-6DDF-9688CC013403}"/>
              </a:ext>
            </a:extLst>
          </p:cNvPr>
          <p:cNvSpPr txBox="1"/>
          <p:nvPr/>
        </p:nvSpPr>
        <p:spPr>
          <a:xfrm>
            <a:off x="6636905" y="1240498"/>
            <a:ext cx="2730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Cloning might take a while...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9E1B8-0F5A-A315-E0BA-0E31CD82A763}"/>
              </a:ext>
            </a:extLst>
          </p:cNvPr>
          <p:cNvSpPr txBox="1"/>
          <p:nvPr/>
        </p:nvSpPr>
        <p:spPr>
          <a:xfrm>
            <a:off x="3649452" y="4758021"/>
            <a:ext cx="7640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Back to our original problem anyway!! We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want to modify vec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not any copies of it!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6B833E-3B3B-FBBF-C51B-E0607B6E8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842" y="4273330"/>
            <a:ext cx="1307936" cy="130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371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697168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049953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reference in programming is similar to a real life reference: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617415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reference in programming is similar to a real life reference: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When you‘re referring to something, </a:t>
            </a:r>
            <a:r>
              <a:rPr lang="de-DE" dirty="0">
                <a:solidFill>
                  <a:srgbClr val="00FF00"/>
                </a:solidFill>
              </a:rPr>
              <a:t>you don‘t own it, but simply point to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8873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reference in programming is similar to a real life reference: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When you‘re referring to something, </a:t>
            </a:r>
            <a:r>
              <a:rPr lang="de-DE" dirty="0">
                <a:solidFill>
                  <a:srgbClr val="00FF00"/>
                </a:solidFill>
              </a:rPr>
              <a:t>you don‘t own it, but simply point to 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 reference in a book might point to another book, written by another author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That other book might change in the meantime, but the reference still points to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584901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reference in programming is similar to a real life reference: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When you‘re referring to something, </a:t>
            </a:r>
            <a:r>
              <a:rPr lang="de-DE" dirty="0">
                <a:solidFill>
                  <a:srgbClr val="00FF00"/>
                </a:solidFill>
              </a:rPr>
              <a:t>you don‘t own it, but simply point to 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 reference in a book might point to another book, written by another author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That other book might change in the meantime, but the reference still points to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References in Rust do the same, they simply point to a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4038986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D1D7-8393-91C4-119F-894C2F6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offer an additional way of accessing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do not involve copying or moving, and do not invalidate original variables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 reference in programming is similar to a real life reference: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When you‘re referring to something, </a:t>
            </a:r>
            <a:r>
              <a:rPr lang="de-DE" dirty="0">
                <a:solidFill>
                  <a:srgbClr val="00FF00"/>
                </a:solidFill>
              </a:rPr>
              <a:t>you don‘t own it, but simply point to 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 reference in a book might point to another book, written by another author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That other book might change in the meantime, but the reference still points to 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References in Rust do the same, they simply point to a value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 the context of Ownership, a reference is called </a:t>
            </a:r>
            <a:r>
              <a:rPr lang="de-DE" dirty="0">
                <a:solidFill>
                  <a:srgbClr val="00FF00"/>
                </a:solidFill>
              </a:rPr>
              <a:t>borrowing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„As in real life, if a person owns something, you can borrow it from them. When you‘re done, you have to give it back. You don‘t own it.“ – Rustdocs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467668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C5C8-FF03-F960-314C-4BB76A87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2" y="1613355"/>
            <a:ext cx="8920176" cy="36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133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C5C8-FF03-F960-314C-4BB76A87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2" y="1613355"/>
            <a:ext cx="8920176" cy="36312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7E7C4D-52EC-0333-CD38-08B8B3AE6315}"/>
              </a:ext>
            </a:extLst>
          </p:cNvPr>
          <p:cNvSpPr/>
          <p:nvPr/>
        </p:nvSpPr>
        <p:spPr>
          <a:xfrm>
            <a:off x="9232620" y="3492444"/>
            <a:ext cx="954682" cy="82175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AA452-5D1E-6461-3A1F-F4E44E20822B}"/>
              </a:ext>
            </a:extLst>
          </p:cNvPr>
          <p:cNvSpPr txBox="1"/>
          <p:nvPr/>
        </p:nvSpPr>
        <p:spPr>
          <a:xfrm>
            <a:off x="8965206" y="4314196"/>
            <a:ext cx="1489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Reference 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109331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C5C8-FF03-F960-314C-4BB76A87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2" y="1613355"/>
            <a:ext cx="8920176" cy="36312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7E7C4D-52EC-0333-CD38-08B8B3AE6315}"/>
              </a:ext>
            </a:extLst>
          </p:cNvPr>
          <p:cNvSpPr/>
          <p:nvPr/>
        </p:nvSpPr>
        <p:spPr>
          <a:xfrm>
            <a:off x="6283981" y="3492444"/>
            <a:ext cx="1768377" cy="82175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AA452-5D1E-6461-3A1F-F4E44E20822B}"/>
              </a:ext>
            </a:extLst>
          </p:cNvPr>
          <p:cNvSpPr txBox="1"/>
          <p:nvPr/>
        </p:nvSpPr>
        <p:spPr>
          <a:xfrm>
            <a:off x="6072356" y="4308005"/>
            <a:ext cx="219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Type: Reference to i32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869074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C5C8-FF03-F960-314C-4BB76A87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2" y="1613355"/>
            <a:ext cx="8920176" cy="3631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450EA-02C9-F617-BB89-A27D61444DC9}"/>
              </a:ext>
            </a:extLst>
          </p:cNvPr>
          <p:cNvSpPr txBox="1"/>
          <p:nvPr/>
        </p:nvSpPr>
        <p:spPr>
          <a:xfrm>
            <a:off x="3811560" y="4571431"/>
            <a:ext cx="4568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That means: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b contains the memory address of a</a:t>
            </a:r>
          </a:p>
        </p:txBody>
      </p:sp>
    </p:spTree>
    <p:extLst>
      <p:ext uri="{BB962C8B-B14F-4D97-AF65-F5344CB8AC3E}">
        <p14:creationId xmlns:p14="http://schemas.microsoft.com/office/powerpoint/2010/main" val="31802224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EF235-B51E-F5F4-C361-0778D923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83" y="1423667"/>
            <a:ext cx="10911034" cy="194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783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EF235-B51E-F5F4-C361-0778D923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83" y="1423667"/>
            <a:ext cx="10911034" cy="1942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A06CBA-506F-AC27-2F25-FDFEB099258F}"/>
              </a:ext>
            </a:extLst>
          </p:cNvPr>
          <p:cNvSpPr/>
          <p:nvPr/>
        </p:nvSpPr>
        <p:spPr>
          <a:xfrm>
            <a:off x="6058404" y="2380663"/>
            <a:ext cx="829807" cy="55186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AA440-6D3C-F496-1EDB-1F94758D4411}"/>
              </a:ext>
            </a:extLst>
          </p:cNvPr>
          <p:cNvSpPr txBox="1"/>
          <p:nvPr/>
        </p:nvSpPr>
        <p:spPr>
          <a:xfrm>
            <a:off x="4423707" y="2946421"/>
            <a:ext cx="40991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Reference to v1, no copy or move involved!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v1 is still valid after this line!</a:t>
            </a:r>
          </a:p>
        </p:txBody>
      </p:sp>
    </p:spTree>
    <p:extLst>
      <p:ext uri="{BB962C8B-B14F-4D97-AF65-F5344CB8AC3E}">
        <p14:creationId xmlns:p14="http://schemas.microsoft.com/office/powerpoint/2010/main" val="17275356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EF235-B51E-F5F4-C361-0778D923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3667"/>
            <a:ext cx="9940239" cy="176982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060637-ED01-A191-080A-FF262C2D5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327842"/>
              </p:ext>
            </p:extLst>
          </p:nvPr>
        </p:nvGraphicFramePr>
        <p:xfrm>
          <a:off x="1504529" y="3502731"/>
          <a:ext cx="4306137" cy="150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4997">
                  <a:extLst>
                    <a:ext uri="{9D8B030D-6E8A-4147-A177-3AD203B41FA5}">
                      <a16:colId xmlns:a16="http://schemas.microsoft.com/office/drawing/2014/main" val="3494597591"/>
                    </a:ext>
                  </a:extLst>
                </a:gridCol>
                <a:gridCol w="656844">
                  <a:extLst>
                    <a:ext uri="{9D8B030D-6E8A-4147-A177-3AD203B41FA5}">
                      <a16:colId xmlns:a16="http://schemas.microsoft.com/office/drawing/2014/main" val="1185107576"/>
                    </a:ext>
                  </a:extLst>
                </a:gridCol>
                <a:gridCol w="765357">
                  <a:extLst>
                    <a:ext uri="{9D8B030D-6E8A-4147-A177-3AD203B41FA5}">
                      <a16:colId xmlns:a16="http://schemas.microsoft.com/office/drawing/2014/main" val="2360815579"/>
                    </a:ext>
                  </a:extLst>
                </a:gridCol>
                <a:gridCol w="1848939">
                  <a:extLst>
                    <a:ext uri="{9D8B030D-6E8A-4147-A177-3AD203B41FA5}">
                      <a16:colId xmlns:a16="http://schemas.microsoft.com/office/drawing/2014/main" val="2895858904"/>
                    </a:ext>
                  </a:extLst>
                </a:gridCol>
              </a:tblGrid>
              <a:tr h="251204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11697"/>
                  </a:ext>
                </a:extLst>
              </a:tr>
              <a:tr h="251204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752076"/>
                  </a:ext>
                </a:extLst>
              </a:tr>
              <a:tr h="25120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100_000_000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51785"/>
                  </a:ext>
                </a:extLst>
              </a:tr>
              <a:tr h="25120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100_000_000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1543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C5A637-870C-EE57-58C0-D5D1D1C44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74046"/>
              </p:ext>
            </p:extLst>
          </p:nvPr>
        </p:nvGraphicFramePr>
        <p:xfrm>
          <a:off x="7778442" y="3502731"/>
          <a:ext cx="2844800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668630056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5430572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86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90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60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64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881521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F6DBA6-F74B-E614-EC62-0896B21B7E61}"/>
              </a:ext>
            </a:extLst>
          </p:cNvPr>
          <p:cNvCxnSpPr>
            <a:cxnSpLocks/>
          </p:cNvCxnSpPr>
          <p:nvPr/>
        </p:nvCxnSpPr>
        <p:spPr>
          <a:xfrm>
            <a:off x="5808657" y="4051146"/>
            <a:ext cx="196978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8577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EF235-B51E-F5F4-C361-0778D923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3667"/>
            <a:ext cx="9940239" cy="176982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060637-ED01-A191-080A-FF262C2D5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69685"/>
              </p:ext>
            </p:extLst>
          </p:nvPr>
        </p:nvGraphicFramePr>
        <p:xfrm>
          <a:off x="1504529" y="3502731"/>
          <a:ext cx="4306137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4997">
                  <a:extLst>
                    <a:ext uri="{9D8B030D-6E8A-4147-A177-3AD203B41FA5}">
                      <a16:colId xmlns:a16="http://schemas.microsoft.com/office/drawing/2014/main" val="3494597591"/>
                    </a:ext>
                  </a:extLst>
                </a:gridCol>
                <a:gridCol w="656844">
                  <a:extLst>
                    <a:ext uri="{9D8B030D-6E8A-4147-A177-3AD203B41FA5}">
                      <a16:colId xmlns:a16="http://schemas.microsoft.com/office/drawing/2014/main" val="1185107576"/>
                    </a:ext>
                  </a:extLst>
                </a:gridCol>
                <a:gridCol w="765357">
                  <a:extLst>
                    <a:ext uri="{9D8B030D-6E8A-4147-A177-3AD203B41FA5}">
                      <a16:colId xmlns:a16="http://schemas.microsoft.com/office/drawing/2014/main" val="2360815579"/>
                    </a:ext>
                  </a:extLst>
                </a:gridCol>
                <a:gridCol w="1848939">
                  <a:extLst>
                    <a:ext uri="{9D8B030D-6E8A-4147-A177-3AD203B41FA5}">
                      <a16:colId xmlns:a16="http://schemas.microsoft.com/office/drawing/2014/main" val="2895858904"/>
                    </a:ext>
                  </a:extLst>
                </a:gridCol>
              </a:tblGrid>
              <a:tr h="251204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Addr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11697"/>
                  </a:ext>
                </a:extLst>
              </a:tr>
              <a:tr h="251204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752076"/>
                  </a:ext>
                </a:extLst>
              </a:tr>
              <a:tr h="25120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100_000_000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51785"/>
                  </a:ext>
                </a:extLst>
              </a:tr>
              <a:tr h="25120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100_000_000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154361"/>
                  </a:ext>
                </a:extLst>
              </a:tr>
              <a:tr h="251204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0x4000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13832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C5A637-870C-EE57-58C0-D5D1D1C445A3}"/>
              </a:ext>
            </a:extLst>
          </p:cNvPr>
          <p:cNvGraphicFramePr>
            <a:graphicFrameLocks noGrp="1"/>
          </p:cNvGraphicFramePr>
          <p:nvPr/>
        </p:nvGraphicFramePr>
        <p:xfrm>
          <a:off x="7778442" y="3502731"/>
          <a:ext cx="2844800" cy="1879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668630056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5430572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86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90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60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0x1008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64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881521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F6DBA6-F74B-E614-EC62-0896B21B7E61}"/>
              </a:ext>
            </a:extLst>
          </p:cNvPr>
          <p:cNvCxnSpPr>
            <a:cxnSpLocks/>
          </p:cNvCxnSpPr>
          <p:nvPr/>
        </p:nvCxnSpPr>
        <p:spPr>
          <a:xfrm>
            <a:off x="5808657" y="4051146"/>
            <a:ext cx="196978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8BC5EA0-544D-5A7A-D2EA-249143839B88}"/>
              </a:ext>
            </a:extLst>
          </p:cNvPr>
          <p:cNvSpPr/>
          <p:nvPr/>
        </p:nvSpPr>
        <p:spPr>
          <a:xfrm>
            <a:off x="1268416" y="4442691"/>
            <a:ext cx="236114" cy="1119909"/>
          </a:xfrm>
          <a:custGeom>
            <a:avLst/>
            <a:gdLst>
              <a:gd name="connsiteX0" fmla="*/ 0 w 320240"/>
              <a:gd name="connsiteY0" fmla="*/ 0 h 1196369"/>
              <a:gd name="connsiteX1" fmla="*/ 320240 w 320240"/>
              <a:gd name="connsiteY1" fmla="*/ 0 h 1196369"/>
              <a:gd name="connsiteX2" fmla="*/ 320240 w 320240"/>
              <a:gd name="connsiteY2" fmla="*/ 1196369 h 1196369"/>
              <a:gd name="connsiteX3" fmla="*/ 0 w 320240"/>
              <a:gd name="connsiteY3" fmla="*/ 1196369 h 1196369"/>
              <a:gd name="connsiteX4" fmla="*/ 0 w 320240"/>
              <a:gd name="connsiteY4" fmla="*/ 0 h 1196369"/>
              <a:gd name="connsiteX0" fmla="*/ 320240 w 411680"/>
              <a:gd name="connsiteY0" fmla="*/ 1196369 h 1196369"/>
              <a:gd name="connsiteX1" fmla="*/ 0 w 411680"/>
              <a:gd name="connsiteY1" fmla="*/ 1196369 h 1196369"/>
              <a:gd name="connsiteX2" fmla="*/ 0 w 411680"/>
              <a:gd name="connsiteY2" fmla="*/ 0 h 1196369"/>
              <a:gd name="connsiteX3" fmla="*/ 411680 w 411680"/>
              <a:gd name="connsiteY3" fmla="*/ 91440 h 1196369"/>
              <a:gd name="connsiteX0" fmla="*/ 320240 w 351257"/>
              <a:gd name="connsiteY0" fmla="*/ 1196369 h 1196369"/>
              <a:gd name="connsiteX1" fmla="*/ 0 w 351257"/>
              <a:gd name="connsiteY1" fmla="*/ 1196369 h 1196369"/>
              <a:gd name="connsiteX2" fmla="*/ 0 w 351257"/>
              <a:gd name="connsiteY2" fmla="*/ 0 h 1196369"/>
              <a:gd name="connsiteX3" fmla="*/ 351257 w 351257"/>
              <a:gd name="connsiteY3" fmla="*/ 2820 h 1196369"/>
              <a:gd name="connsiteX0" fmla="*/ 320240 w 325857"/>
              <a:gd name="connsiteY0" fmla="*/ 1198311 h 1198311"/>
              <a:gd name="connsiteX1" fmla="*/ 0 w 325857"/>
              <a:gd name="connsiteY1" fmla="*/ 1198311 h 1198311"/>
              <a:gd name="connsiteX2" fmla="*/ 0 w 325857"/>
              <a:gd name="connsiteY2" fmla="*/ 1942 h 1198311"/>
              <a:gd name="connsiteX3" fmla="*/ 325857 w 325857"/>
              <a:gd name="connsiteY3" fmla="*/ 0 h 1198311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0" fmla="*/ 320240 w 320240"/>
              <a:gd name="connsiteY0" fmla="*/ 1286157 h 1286157"/>
              <a:gd name="connsiteX1" fmla="*/ 0 w 320240"/>
              <a:gd name="connsiteY1" fmla="*/ 1286157 h 1286157"/>
              <a:gd name="connsiteX2" fmla="*/ 0 w 320240"/>
              <a:gd name="connsiteY2" fmla="*/ 89788 h 1286157"/>
              <a:gd name="connsiteX3" fmla="*/ 1888 w 320240"/>
              <a:gd name="connsiteY3" fmla="*/ 85746 h 1286157"/>
              <a:gd name="connsiteX0" fmla="*/ 320240 w 320240"/>
              <a:gd name="connsiteY0" fmla="*/ 1284916 h 1284916"/>
              <a:gd name="connsiteX1" fmla="*/ 0 w 320240"/>
              <a:gd name="connsiteY1" fmla="*/ 1284916 h 1284916"/>
              <a:gd name="connsiteX2" fmla="*/ 0 w 320240"/>
              <a:gd name="connsiteY2" fmla="*/ 88547 h 1284916"/>
              <a:gd name="connsiteX3" fmla="*/ 306688 w 320240"/>
              <a:gd name="connsiteY3" fmla="*/ 89267 h 128491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688 w 320240"/>
              <a:gd name="connsiteY3" fmla="*/ 720 h 1196369"/>
              <a:gd name="connsiteX0" fmla="*/ 320240 w 330501"/>
              <a:gd name="connsiteY0" fmla="*/ 1197236 h 1197236"/>
              <a:gd name="connsiteX1" fmla="*/ 0 w 330501"/>
              <a:gd name="connsiteY1" fmla="*/ 1197236 h 1197236"/>
              <a:gd name="connsiteX2" fmla="*/ 0 w 330501"/>
              <a:gd name="connsiteY2" fmla="*/ 867 h 1197236"/>
              <a:gd name="connsiteX3" fmla="*/ 330501 w 330501"/>
              <a:gd name="connsiteY3" fmla="*/ 0 h 119723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803 w 320240"/>
              <a:gd name="connsiteY3" fmla="*/ 720 h 1196369"/>
              <a:gd name="connsiteX0" fmla="*/ 320240 w 320240"/>
              <a:gd name="connsiteY0" fmla="*/ 1198824 h 1198824"/>
              <a:gd name="connsiteX1" fmla="*/ 0 w 320240"/>
              <a:gd name="connsiteY1" fmla="*/ 1198824 h 1198824"/>
              <a:gd name="connsiteX2" fmla="*/ 0 w 320240"/>
              <a:gd name="connsiteY2" fmla="*/ 2455 h 1198824"/>
              <a:gd name="connsiteX3" fmla="*/ 319442 w 320240"/>
              <a:gd name="connsiteY3" fmla="*/ 0 h 1198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40" h="1198824">
                <a:moveTo>
                  <a:pt x="320240" y="1198824"/>
                </a:moveTo>
                <a:lnTo>
                  <a:pt x="0" y="1198824"/>
                </a:lnTo>
                <a:lnTo>
                  <a:pt x="0" y="2455"/>
                </a:lnTo>
                <a:lnTo>
                  <a:pt x="319442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8DE689-F950-56AC-66B5-72C88BA62142}"/>
              </a:ext>
            </a:extLst>
          </p:cNvPr>
          <p:cNvSpPr/>
          <p:nvPr/>
        </p:nvSpPr>
        <p:spPr>
          <a:xfrm rot="16200000">
            <a:off x="3534575" y="3053553"/>
            <a:ext cx="242883" cy="4775201"/>
          </a:xfrm>
          <a:custGeom>
            <a:avLst/>
            <a:gdLst>
              <a:gd name="connsiteX0" fmla="*/ 0 w 320240"/>
              <a:gd name="connsiteY0" fmla="*/ 0 h 1196369"/>
              <a:gd name="connsiteX1" fmla="*/ 320240 w 320240"/>
              <a:gd name="connsiteY1" fmla="*/ 0 h 1196369"/>
              <a:gd name="connsiteX2" fmla="*/ 320240 w 320240"/>
              <a:gd name="connsiteY2" fmla="*/ 1196369 h 1196369"/>
              <a:gd name="connsiteX3" fmla="*/ 0 w 320240"/>
              <a:gd name="connsiteY3" fmla="*/ 1196369 h 1196369"/>
              <a:gd name="connsiteX4" fmla="*/ 0 w 320240"/>
              <a:gd name="connsiteY4" fmla="*/ 0 h 1196369"/>
              <a:gd name="connsiteX0" fmla="*/ 320240 w 411680"/>
              <a:gd name="connsiteY0" fmla="*/ 1196369 h 1196369"/>
              <a:gd name="connsiteX1" fmla="*/ 0 w 411680"/>
              <a:gd name="connsiteY1" fmla="*/ 1196369 h 1196369"/>
              <a:gd name="connsiteX2" fmla="*/ 0 w 411680"/>
              <a:gd name="connsiteY2" fmla="*/ 0 h 1196369"/>
              <a:gd name="connsiteX3" fmla="*/ 411680 w 411680"/>
              <a:gd name="connsiteY3" fmla="*/ 91440 h 1196369"/>
              <a:gd name="connsiteX0" fmla="*/ 320240 w 351257"/>
              <a:gd name="connsiteY0" fmla="*/ 1196369 h 1196369"/>
              <a:gd name="connsiteX1" fmla="*/ 0 w 351257"/>
              <a:gd name="connsiteY1" fmla="*/ 1196369 h 1196369"/>
              <a:gd name="connsiteX2" fmla="*/ 0 w 351257"/>
              <a:gd name="connsiteY2" fmla="*/ 0 h 1196369"/>
              <a:gd name="connsiteX3" fmla="*/ 351257 w 351257"/>
              <a:gd name="connsiteY3" fmla="*/ 2820 h 1196369"/>
              <a:gd name="connsiteX0" fmla="*/ 320240 w 325857"/>
              <a:gd name="connsiteY0" fmla="*/ 1198311 h 1198311"/>
              <a:gd name="connsiteX1" fmla="*/ 0 w 325857"/>
              <a:gd name="connsiteY1" fmla="*/ 1198311 h 1198311"/>
              <a:gd name="connsiteX2" fmla="*/ 0 w 325857"/>
              <a:gd name="connsiteY2" fmla="*/ 1942 h 1198311"/>
              <a:gd name="connsiteX3" fmla="*/ 325857 w 325857"/>
              <a:gd name="connsiteY3" fmla="*/ 0 h 1198311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0" fmla="*/ 320240 w 320240"/>
              <a:gd name="connsiteY0" fmla="*/ 1286157 h 1286157"/>
              <a:gd name="connsiteX1" fmla="*/ 0 w 320240"/>
              <a:gd name="connsiteY1" fmla="*/ 1286157 h 1286157"/>
              <a:gd name="connsiteX2" fmla="*/ 0 w 320240"/>
              <a:gd name="connsiteY2" fmla="*/ 89788 h 1286157"/>
              <a:gd name="connsiteX3" fmla="*/ 1888 w 320240"/>
              <a:gd name="connsiteY3" fmla="*/ 85746 h 1286157"/>
              <a:gd name="connsiteX0" fmla="*/ 320240 w 320240"/>
              <a:gd name="connsiteY0" fmla="*/ 1284916 h 1284916"/>
              <a:gd name="connsiteX1" fmla="*/ 0 w 320240"/>
              <a:gd name="connsiteY1" fmla="*/ 1284916 h 1284916"/>
              <a:gd name="connsiteX2" fmla="*/ 0 w 320240"/>
              <a:gd name="connsiteY2" fmla="*/ 88547 h 1284916"/>
              <a:gd name="connsiteX3" fmla="*/ 306688 w 320240"/>
              <a:gd name="connsiteY3" fmla="*/ 89267 h 128491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688 w 320240"/>
              <a:gd name="connsiteY3" fmla="*/ 720 h 1196369"/>
              <a:gd name="connsiteX0" fmla="*/ 320240 w 330501"/>
              <a:gd name="connsiteY0" fmla="*/ 1197236 h 1197236"/>
              <a:gd name="connsiteX1" fmla="*/ 0 w 330501"/>
              <a:gd name="connsiteY1" fmla="*/ 1197236 h 1197236"/>
              <a:gd name="connsiteX2" fmla="*/ 0 w 330501"/>
              <a:gd name="connsiteY2" fmla="*/ 867 h 1197236"/>
              <a:gd name="connsiteX3" fmla="*/ 330501 w 330501"/>
              <a:gd name="connsiteY3" fmla="*/ 0 h 119723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803 w 320240"/>
              <a:gd name="connsiteY3" fmla="*/ 720 h 1196369"/>
              <a:gd name="connsiteX0" fmla="*/ 320240 w 320240"/>
              <a:gd name="connsiteY0" fmla="*/ 1198824 h 1198824"/>
              <a:gd name="connsiteX1" fmla="*/ 0 w 320240"/>
              <a:gd name="connsiteY1" fmla="*/ 1198824 h 1198824"/>
              <a:gd name="connsiteX2" fmla="*/ 0 w 320240"/>
              <a:gd name="connsiteY2" fmla="*/ 2455 h 1198824"/>
              <a:gd name="connsiteX3" fmla="*/ 319442 w 320240"/>
              <a:gd name="connsiteY3" fmla="*/ 0 h 1198824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19442 w 320240"/>
              <a:gd name="connsiteY3" fmla="*/ 278 h 1196369"/>
              <a:gd name="connsiteX0" fmla="*/ 320240 w 320690"/>
              <a:gd name="connsiteY0" fmla="*/ 1196871 h 1196871"/>
              <a:gd name="connsiteX1" fmla="*/ 0 w 320690"/>
              <a:gd name="connsiteY1" fmla="*/ 1196871 h 1196871"/>
              <a:gd name="connsiteX2" fmla="*/ 0 w 320690"/>
              <a:gd name="connsiteY2" fmla="*/ 502 h 1196871"/>
              <a:gd name="connsiteX3" fmla="*/ 320690 w 320690"/>
              <a:gd name="connsiteY3" fmla="*/ 0 h 119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90" h="1196871">
                <a:moveTo>
                  <a:pt x="320240" y="1196871"/>
                </a:moveTo>
                <a:lnTo>
                  <a:pt x="0" y="1196871"/>
                </a:lnTo>
                <a:lnTo>
                  <a:pt x="0" y="502"/>
                </a:lnTo>
                <a:lnTo>
                  <a:pt x="32069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Lato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B1EEB86-ED3A-5FB5-5A51-AAFE87EDBE46}"/>
              </a:ext>
            </a:extLst>
          </p:cNvPr>
          <p:cNvSpPr/>
          <p:nvPr/>
        </p:nvSpPr>
        <p:spPr>
          <a:xfrm rot="10800000">
            <a:off x="5808657" y="5195886"/>
            <a:ext cx="234960" cy="365116"/>
          </a:xfrm>
          <a:custGeom>
            <a:avLst/>
            <a:gdLst>
              <a:gd name="connsiteX0" fmla="*/ 0 w 320240"/>
              <a:gd name="connsiteY0" fmla="*/ 0 h 1196369"/>
              <a:gd name="connsiteX1" fmla="*/ 320240 w 320240"/>
              <a:gd name="connsiteY1" fmla="*/ 0 h 1196369"/>
              <a:gd name="connsiteX2" fmla="*/ 320240 w 320240"/>
              <a:gd name="connsiteY2" fmla="*/ 1196369 h 1196369"/>
              <a:gd name="connsiteX3" fmla="*/ 0 w 320240"/>
              <a:gd name="connsiteY3" fmla="*/ 1196369 h 1196369"/>
              <a:gd name="connsiteX4" fmla="*/ 0 w 320240"/>
              <a:gd name="connsiteY4" fmla="*/ 0 h 1196369"/>
              <a:gd name="connsiteX0" fmla="*/ 320240 w 411680"/>
              <a:gd name="connsiteY0" fmla="*/ 1196369 h 1196369"/>
              <a:gd name="connsiteX1" fmla="*/ 0 w 411680"/>
              <a:gd name="connsiteY1" fmla="*/ 1196369 h 1196369"/>
              <a:gd name="connsiteX2" fmla="*/ 0 w 411680"/>
              <a:gd name="connsiteY2" fmla="*/ 0 h 1196369"/>
              <a:gd name="connsiteX3" fmla="*/ 411680 w 411680"/>
              <a:gd name="connsiteY3" fmla="*/ 91440 h 1196369"/>
              <a:gd name="connsiteX0" fmla="*/ 320240 w 351257"/>
              <a:gd name="connsiteY0" fmla="*/ 1196369 h 1196369"/>
              <a:gd name="connsiteX1" fmla="*/ 0 w 351257"/>
              <a:gd name="connsiteY1" fmla="*/ 1196369 h 1196369"/>
              <a:gd name="connsiteX2" fmla="*/ 0 w 351257"/>
              <a:gd name="connsiteY2" fmla="*/ 0 h 1196369"/>
              <a:gd name="connsiteX3" fmla="*/ 351257 w 351257"/>
              <a:gd name="connsiteY3" fmla="*/ 2820 h 1196369"/>
              <a:gd name="connsiteX0" fmla="*/ 320240 w 325857"/>
              <a:gd name="connsiteY0" fmla="*/ 1198311 h 1198311"/>
              <a:gd name="connsiteX1" fmla="*/ 0 w 325857"/>
              <a:gd name="connsiteY1" fmla="*/ 1198311 h 1198311"/>
              <a:gd name="connsiteX2" fmla="*/ 0 w 325857"/>
              <a:gd name="connsiteY2" fmla="*/ 1942 h 1198311"/>
              <a:gd name="connsiteX3" fmla="*/ 325857 w 325857"/>
              <a:gd name="connsiteY3" fmla="*/ 0 h 1198311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1095"/>
              <a:gd name="connsiteY0" fmla="*/ 1196724 h 1196724"/>
              <a:gd name="connsiteX1" fmla="*/ 0 w 321095"/>
              <a:gd name="connsiteY1" fmla="*/ 1196724 h 1196724"/>
              <a:gd name="connsiteX2" fmla="*/ 0 w 321095"/>
              <a:gd name="connsiteY2" fmla="*/ 355 h 1196724"/>
              <a:gd name="connsiteX3" fmla="*/ 321095 w 321095"/>
              <a:gd name="connsiteY3" fmla="*/ 0 h 1196724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0" fmla="*/ 320240 w 320240"/>
              <a:gd name="connsiteY0" fmla="*/ 1286157 h 1286157"/>
              <a:gd name="connsiteX1" fmla="*/ 0 w 320240"/>
              <a:gd name="connsiteY1" fmla="*/ 1286157 h 1286157"/>
              <a:gd name="connsiteX2" fmla="*/ 0 w 320240"/>
              <a:gd name="connsiteY2" fmla="*/ 89788 h 1286157"/>
              <a:gd name="connsiteX3" fmla="*/ 1888 w 320240"/>
              <a:gd name="connsiteY3" fmla="*/ 85746 h 1286157"/>
              <a:gd name="connsiteX0" fmla="*/ 320240 w 320240"/>
              <a:gd name="connsiteY0" fmla="*/ 1284916 h 1284916"/>
              <a:gd name="connsiteX1" fmla="*/ 0 w 320240"/>
              <a:gd name="connsiteY1" fmla="*/ 1284916 h 1284916"/>
              <a:gd name="connsiteX2" fmla="*/ 0 w 320240"/>
              <a:gd name="connsiteY2" fmla="*/ 88547 h 1284916"/>
              <a:gd name="connsiteX3" fmla="*/ 306688 w 320240"/>
              <a:gd name="connsiteY3" fmla="*/ 89267 h 128491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688 w 320240"/>
              <a:gd name="connsiteY3" fmla="*/ 720 h 1196369"/>
              <a:gd name="connsiteX0" fmla="*/ 320240 w 330501"/>
              <a:gd name="connsiteY0" fmla="*/ 1197236 h 1197236"/>
              <a:gd name="connsiteX1" fmla="*/ 0 w 330501"/>
              <a:gd name="connsiteY1" fmla="*/ 1197236 h 1197236"/>
              <a:gd name="connsiteX2" fmla="*/ 0 w 330501"/>
              <a:gd name="connsiteY2" fmla="*/ 867 h 1197236"/>
              <a:gd name="connsiteX3" fmla="*/ 330501 w 330501"/>
              <a:gd name="connsiteY3" fmla="*/ 0 h 1197236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06803 w 320240"/>
              <a:gd name="connsiteY3" fmla="*/ 720 h 1196369"/>
              <a:gd name="connsiteX0" fmla="*/ 320240 w 320240"/>
              <a:gd name="connsiteY0" fmla="*/ 1198824 h 1198824"/>
              <a:gd name="connsiteX1" fmla="*/ 0 w 320240"/>
              <a:gd name="connsiteY1" fmla="*/ 1198824 h 1198824"/>
              <a:gd name="connsiteX2" fmla="*/ 0 w 320240"/>
              <a:gd name="connsiteY2" fmla="*/ 2455 h 1198824"/>
              <a:gd name="connsiteX3" fmla="*/ 319442 w 320240"/>
              <a:gd name="connsiteY3" fmla="*/ 0 h 1198824"/>
              <a:gd name="connsiteX0" fmla="*/ 320240 w 320240"/>
              <a:gd name="connsiteY0" fmla="*/ 1196369 h 1196369"/>
              <a:gd name="connsiteX1" fmla="*/ 0 w 320240"/>
              <a:gd name="connsiteY1" fmla="*/ 1196369 h 1196369"/>
              <a:gd name="connsiteX2" fmla="*/ 0 w 320240"/>
              <a:gd name="connsiteY2" fmla="*/ 0 h 1196369"/>
              <a:gd name="connsiteX3" fmla="*/ 319442 w 320240"/>
              <a:gd name="connsiteY3" fmla="*/ 278 h 1196369"/>
              <a:gd name="connsiteX0" fmla="*/ 320240 w 320690"/>
              <a:gd name="connsiteY0" fmla="*/ 1196871 h 1196871"/>
              <a:gd name="connsiteX1" fmla="*/ 0 w 320690"/>
              <a:gd name="connsiteY1" fmla="*/ 1196871 h 1196871"/>
              <a:gd name="connsiteX2" fmla="*/ 0 w 320690"/>
              <a:gd name="connsiteY2" fmla="*/ 502 h 1196871"/>
              <a:gd name="connsiteX3" fmla="*/ 320690 w 320690"/>
              <a:gd name="connsiteY3" fmla="*/ 0 h 119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90" h="1196871">
                <a:moveTo>
                  <a:pt x="320240" y="1196871"/>
                </a:moveTo>
                <a:lnTo>
                  <a:pt x="0" y="1196871"/>
                </a:lnTo>
                <a:lnTo>
                  <a:pt x="0" y="502"/>
                </a:lnTo>
                <a:lnTo>
                  <a:pt x="320690" y="0"/>
                </a:lnTo>
              </a:path>
            </a:pathLst>
          </a:custGeom>
          <a:noFill/>
          <a:ln>
            <a:solidFill>
              <a:schemeClr val="bg1"/>
            </a:solidFill>
            <a:prstDash val="das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341885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794B-CD3E-D114-F7F2-3B8306E3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6553"/>
            <a:ext cx="9940238" cy="26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029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794B-CD3E-D114-F7F2-3B8306E3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6553"/>
            <a:ext cx="9940238" cy="26679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C96B8D-2E76-120F-8EBC-AC25515116FD}"/>
              </a:ext>
            </a:extLst>
          </p:cNvPr>
          <p:cNvSpPr/>
          <p:nvPr/>
        </p:nvSpPr>
        <p:spPr>
          <a:xfrm>
            <a:off x="6860014" y="2316212"/>
            <a:ext cx="1736152" cy="4471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12CB0-644A-B286-3DA5-B69C845E3646}"/>
              </a:ext>
            </a:extLst>
          </p:cNvPr>
          <p:cNvSpPr txBox="1"/>
          <p:nvPr/>
        </p:nvSpPr>
        <p:spPr>
          <a:xfrm>
            <a:off x="8596166" y="2366872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reference</a:t>
            </a:r>
          </a:p>
        </p:txBody>
      </p:sp>
    </p:spTree>
    <p:extLst>
      <p:ext uri="{BB962C8B-B14F-4D97-AF65-F5344CB8AC3E}">
        <p14:creationId xmlns:p14="http://schemas.microsoft.com/office/powerpoint/2010/main" val="267245598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794B-CD3E-D114-F7F2-3B8306E3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6553"/>
            <a:ext cx="9940238" cy="26679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C96B8D-2E76-120F-8EBC-AC25515116FD}"/>
              </a:ext>
            </a:extLst>
          </p:cNvPr>
          <p:cNvSpPr/>
          <p:nvPr/>
        </p:nvSpPr>
        <p:spPr>
          <a:xfrm>
            <a:off x="1881166" y="2764577"/>
            <a:ext cx="2157433" cy="4471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12CB0-644A-B286-3DA5-B69C845E3646}"/>
              </a:ext>
            </a:extLst>
          </p:cNvPr>
          <p:cNvSpPr txBox="1"/>
          <p:nvPr/>
        </p:nvSpPr>
        <p:spPr>
          <a:xfrm>
            <a:off x="3356306" y="4094544"/>
            <a:ext cx="5479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Pushing a value to a reference doesn‘t make sense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Rust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automatically dereferences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 reference if necessary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60347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794B-CD3E-D114-F7F2-3B8306E3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6553"/>
            <a:ext cx="9940238" cy="26679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C96B8D-2E76-120F-8EBC-AC25515116FD}"/>
              </a:ext>
            </a:extLst>
          </p:cNvPr>
          <p:cNvSpPr/>
          <p:nvPr/>
        </p:nvSpPr>
        <p:spPr>
          <a:xfrm>
            <a:off x="1881166" y="2764577"/>
            <a:ext cx="2157433" cy="4471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12CB0-644A-B286-3DA5-B69C845E3646}"/>
              </a:ext>
            </a:extLst>
          </p:cNvPr>
          <p:cNvSpPr txBox="1"/>
          <p:nvPr/>
        </p:nvSpPr>
        <p:spPr>
          <a:xfrm>
            <a:off x="3356306" y="4094544"/>
            <a:ext cx="54793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Pushing a value to a reference doesn‘t make sense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Rust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automatically dereferences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 reference if necessary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This line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pushes an element to v1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119753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794B-CD3E-D114-F7F2-3B8306E3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80" y="1426553"/>
            <a:ext cx="9940238" cy="26679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C96B8D-2E76-120F-8EBC-AC25515116FD}"/>
              </a:ext>
            </a:extLst>
          </p:cNvPr>
          <p:cNvSpPr/>
          <p:nvPr/>
        </p:nvSpPr>
        <p:spPr>
          <a:xfrm>
            <a:off x="1881166" y="3205435"/>
            <a:ext cx="5055384" cy="44713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12CB0-644A-B286-3DA5-B69C845E3646}"/>
              </a:ext>
            </a:extLst>
          </p:cNvPr>
          <p:cNvSpPr txBox="1"/>
          <p:nvPr/>
        </p:nvSpPr>
        <p:spPr>
          <a:xfrm>
            <a:off x="3356305" y="4094544"/>
            <a:ext cx="54793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Pushing a value to a reference doesn‘t make sense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Rust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automatically dereferences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a reference if necessary</a:t>
            </a:r>
          </a:p>
          <a:p>
            <a:pPr algn="ctr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This line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pushes an element to v1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5422C2-DC58-5AAB-AFB2-0DFFC4313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232" y="5203705"/>
            <a:ext cx="254353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886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403249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105587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131920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Ask your local Java developer, he‘ll tell you a story 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489693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51BF56-5F4A-02FA-4D6D-0B818C1E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3" y="599360"/>
            <a:ext cx="7557053" cy="56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05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51BF56-5F4A-02FA-4D6D-0B818C1E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3" y="599360"/>
            <a:ext cx="7557053" cy="56592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135B40-042F-5333-A455-01A99EE0D86B}"/>
              </a:ext>
            </a:extLst>
          </p:cNvPr>
          <p:cNvSpPr/>
          <p:nvPr/>
        </p:nvSpPr>
        <p:spPr>
          <a:xfrm>
            <a:off x="2646523" y="3790530"/>
            <a:ext cx="2199394" cy="66465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D3457-4CD6-6FD6-0B3B-D577EA856A20}"/>
              </a:ext>
            </a:extLst>
          </p:cNvPr>
          <p:cNvSpPr txBox="1"/>
          <p:nvPr/>
        </p:nvSpPr>
        <p:spPr>
          <a:xfrm>
            <a:off x="4845917" y="3953579"/>
            <a:ext cx="490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Object assignments in Java are references by default</a:t>
            </a:r>
          </a:p>
        </p:txBody>
      </p:sp>
    </p:spTree>
    <p:extLst>
      <p:ext uri="{BB962C8B-B14F-4D97-AF65-F5344CB8AC3E}">
        <p14:creationId xmlns:p14="http://schemas.microsoft.com/office/powerpoint/2010/main" val="35817916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51BF56-5F4A-02FA-4D6D-0B818C1E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3" y="599360"/>
            <a:ext cx="7557053" cy="56592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7208AB-8FDF-D4B9-6DFE-56EB26EC68A0}"/>
              </a:ext>
            </a:extLst>
          </p:cNvPr>
          <p:cNvSpPr/>
          <p:nvPr/>
        </p:nvSpPr>
        <p:spPr>
          <a:xfrm flipV="1">
            <a:off x="2618327" y="1293870"/>
            <a:ext cx="1901306" cy="309347"/>
          </a:xfrm>
          <a:prstGeom prst="rect">
            <a:avLst/>
          </a:prstGeom>
          <a:noFill/>
          <a:ln w="28575">
            <a:solidFill>
              <a:srgbClr val="00FF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F79DD-2FA1-B19C-1AC5-60B17BA00BB0}"/>
              </a:ext>
            </a:extLst>
          </p:cNvPr>
          <p:cNvSpPr txBox="1"/>
          <p:nvPr/>
        </p:nvSpPr>
        <p:spPr>
          <a:xfrm>
            <a:off x="4519633" y="1274441"/>
            <a:ext cx="3239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Objects are initialized with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.a = 10</a:t>
            </a:r>
          </a:p>
        </p:txBody>
      </p:sp>
    </p:spTree>
    <p:extLst>
      <p:ext uri="{BB962C8B-B14F-4D97-AF65-F5344CB8AC3E}">
        <p14:creationId xmlns:p14="http://schemas.microsoft.com/office/powerpoint/2010/main" val="128350369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51BF56-5F4A-02FA-4D6D-0B818C1E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3" y="599360"/>
            <a:ext cx="7557053" cy="56592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135B40-042F-5333-A455-01A99EE0D86B}"/>
              </a:ext>
            </a:extLst>
          </p:cNvPr>
          <p:cNvSpPr/>
          <p:nvPr/>
        </p:nvSpPr>
        <p:spPr>
          <a:xfrm flipV="1">
            <a:off x="2646523" y="4499492"/>
            <a:ext cx="1522658" cy="35448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D3457-4CD6-6FD6-0B3B-D577EA856A20}"/>
              </a:ext>
            </a:extLst>
          </p:cNvPr>
          <p:cNvSpPr txBox="1"/>
          <p:nvPr/>
        </p:nvSpPr>
        <p:spPr>
          <a:xfrm>
            <a:off x="4169181" y="4507455"/>
            <a:ext cx="3457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Modifying t2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also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modifies t1 and t3</a:t>
            </a:r>
          </a:p>
        </p:txBody>
      </p:sp>
    </p:spTree>
    <p:extLst>
      <p:ext uri="{BB962C8B-B14F-4D97-AF65-F5344CB8AC3E}">
        <p14:creationId xmlns:p14="http://schemas.microsoft.com/office/powerpoint/2010/main" val="15949560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51BF56-5F4A-02FA-4D6D-0B818C1E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13" y="599360"/>
            <a:ext cx="7557053" cy="56592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135B40-042F-5333-A455-01A99EE0D86B}"/>
              </a:ext>
            </a:extLst>
          </p:cNvPr>
          <p:cNvSpPr/>
          <p:nvPr/>
        </p:nvSpPr>
        <p:spPr>
          <a:xfrm flipV="1">
            <a:off x="2646523" y="4874113"/>
            <a:ext cx="2690834" cy="6807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D3457-4CD6-6FD6-0B3B-D577EA856A20}"/>
              </a:ext>
            </a:extLst>
          </p:cNvPr>
          <p:cNvSpPr txBox="1"/>
          <p:nvPr/>
        </p:nvSpPr>
        <p:spPr>
          <a:xfrm>
            <a:off x="5337357" y="5045218"/>
            <a:ext cx="2771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Do something with t1 and t3</a:t>
            </a:r>
            <a:endParaRPr lang="de-DE" sz="1600" dirty="0">
              <a:solidFill>
                <a:srgbClr val="FF0000"/>
              </a:solidFill>
              <a:latin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E9D1EB-2D4D-5FE0-A709-6CAAC421ED87}"/>
              </a:ext>
            </a:extLst>
          </p:cNvPr>
          <p:cNvSpPr/>
          <p:nvPr/>
        </p:nvSpPr>
        <p:spPr>
          <a:xfrm flipV="1">
            <a:off x="2646523" y="2363876"/>
            <a:ext cx="3987912" cy="34306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A6CE2-3B3F-B74B-A1A1-182AD12F2110}"/>
              </a:ext>
            </a:extLst>
          </p:cNvPr>
          <p:cNvSpPr txBox="1"/>
          <p:nvPr/>
        </p:nvSpPr>
        <p:spPr>
          <a:xfrm>
            <a:off x="6634435" y="2388838"/>
            <a:ext cx="5565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Prints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5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for both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t1.a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and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t3.a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Depending on the situation, you </a:t>
            </a:r>
            <a:r>
              <a:rPr lang="de-DE" sz="1600" dirty="0">
                <a:solidFill>
                  <a:srgbClr val="FF0000"/>
                </a:solidFill>
                <a:latin typeface="Lato"/>
              </a:rPr>
              <a:t>may not have wanted that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7208AB-8FDF-D4B9-6DFE-56EB26EC68A0}"/>
              </a:ext>
            </a:extLst>
          </p:cNvPr>
          <p:cNvSpPr/>
          <p:nvPr/>
        </p:nvSpPr>
        <p:spPr>
          <a:xfrm flipV="1">
            <a:off x="2618327" y="1293870"/>
            <a:ext cx="1873109" cy="309347"/>
          </a:xfrm>
          <a:prstGeom prst="rect">
            <a:avLst/>
          </a:prstGeom>
          <a:noFill/>
          <a:ln w="19050">
            <a:solidFill>
              <a:srgbClr val="00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F79DD-2FA1-B19C-1AC5-60B17BA00BB0}"/>
              </a:ext>
            </a:extLst>
          </p:cNvPr>
          <p:cNvSpPr txBox="1"/>
          <p:nvPr/>
        </p:nvSpPr>
        <p:spPr>
          <a:xfrm>
            <a:off x="4491436" y="1212008"/>
            <a:ext cx="3239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Objects are initialized with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.a = 10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Reasonable to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expect t1.a=10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703959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Ask your local Java developer, he‘ll tell you a story or two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Ask your local Multithreading developer, he‘ll tell you a story 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3222931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Ask your local Java developer, he‘ll tell you a story or two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Ask your local Multithreading developer, he‘ll tell you a story or two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Multiple references </a:t>
            </a:r>
            <a:r>
              <a:rPr lang="de-DE" dirty="0">
                <a:solidFill>
                  <a:srgbClr val="FFFF00"/>
                </a:solidFill>
              </a:rPr>
              <a:t>access the same data at the same 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One reference writes data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At the same time, </a:t>
            </a:r>
            <a:r>
              <a:rPr lang="de-DE" dirty="0">
                <a:solidFill>
                  <a:srgbClr val="00FF00"/>
                </a:solidFill>
              </a:rPr>
              <a:t>other reference reads data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Does it see the new value, or the old value?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689032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126918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1241742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 </a:t>
            </a:r>
            <a:r>
              <a:rPr lang="de-DE" dirty="0">
                <a:solidFill>
                  <a:schemeClr val="bg1"/>
                </a:solidFill>
              </a:rPr>
              <a:t>that </a:t>
            </a:r>
            <a:r>
              <a:rPr lang="de-DE" dirty="0">
                <a:solidFill>
                  <a:srgbClr val="FFFF00"/>
                </a:solidFill>
              </a:rPr>
              <a:t>must be true at any point</a:t>
            </a:r>
            <a:r>
              <a:rPr lang="de-DE" dirty="0">
                <a:solidFill>
                  <a:schemeClr val="bg1"/>
                </a:solidFill>
              </a:rPr>
              <a:t> in your program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4999188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 </a:t>
            </a:r>
            <a:r>
              <a:rPr lang="de-DE" dirty="0">
                <a:solidFill>
                  <a:schemeClr val="bg1"/>
                </a:solidFill>
              </a:rPr>
              <a:t>that </a:t>
            </a:r>
            <a:r>
              <a:rPr lang="de-DE" dirty="0">
                <a:solidFill>
                  <a:srgbClr val="FFFF00"/>
                </a:solidFill>
              </a:rPr>
              <a:t>must be true at any point</a:t>
            </a:r>
            <a:r>
              <a:rPr lang="de-DE" dirty="0">
                <a:solidFill>
                  <a:schemeClr val="bg1"/>
                </a:solidFill>
              </a:rPr>
              <a:t> in your program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mutably borrowed twice+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Not allowed,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illegal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Race condition: What happens if both write at the same time?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4983315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 </a:t>
            </a:r>
            <a:r>
              <a:rPr lang="de-DE" dirty="0">
                <a:solidFill>
                  <a:schemeClr val="bg1"/>
                </a:solidFill>
              </a:rPr>
              <a:t>that </a:t>
            </a:r>
            <a:r>
              <a:rPr lang="de-DE" dirty="0">
                <a:solidFill>
                  <a:srgbClr val="FFFF00"/>
                </a:solidFill>
              </a:rPr>
              <a:t>must be true at any point</a:t>
            </a:r>
            <a:r>
              <a:rPr lang="de-DE" dirty="0">
                <a:solidFill>
                  <a:schemeClr val="bg1"/>
                </a:solidFill>
              </a:rPr>
              <a:t> in your program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mutably borrowed twice+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Not allowed,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illegal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Reference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mutably borrowed once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No other references allowed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even immutable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Race condition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2187758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 </a:t>
            </a:r>
            <a:r>
              <a:rPr lang="de-DE" dirty="0">
                <a:solidFill>
                  <a:schemeClr val="bg1"/>
                </a:solidFill>
              </a:rPr>
              <a:t>that </a:t>
            </a:r>
            <a:r>
              <a:rPr lang="de-DE" dirty="0">
                <a:solidFill>
                  <a:srgbClr val="FFFF00"/>
                </a:solidFill>
              </a:rPr>
              <a:t>must be true at any point</a:t>
            </a:r>
            <a:r>
              <a:rPr lang="de-DE" dirty="0">
                <a:solidFill>
                  <a:schemeClr val="bg1"/>
                </a:solidFill>
              </a:rPr>
              <a:t> in your program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mutably borrowed twice+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Not allowed,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illegal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Reference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mutably borrowed once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No other references allowed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even immutable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immutably borrowed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Only other immutable borrows allowed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Immutable borrow is readonly, 100 Reads don‘t change the value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4683945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Borrow Checker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Rust is all about memory safety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References are powerful, but can also lead to all sorts of bugs if not treated carefully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Race condition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To prevent this, Rust has the </a:t>
            </a:r>
            <a:r>
              <a:rPr lang="de-DE" dirty="0">
                <a:solidFill>
                  <a:srgbClr val="00FF00"/>
                </a:solidFill>
              </a:rPr>
              <a:t>Borrow Checker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Guarantees at compile time </a:t>
            </a:r>
            <a:r>
              <a:rPr lang="de-DE" dirty="0">
                <a:solidFill>
                  <a:schemeClr val="bg1"/>
                </a:solidFill>
              </a:rPr>
              <a:t>that no data races or race conditions happen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Set of rules </a:t>
            </a:r>
            <a:r>
              <a:rPr lang="de-DE" dirty="0">
                <a:solidFill>
                  <a:schemeClr val="bg1"/>
                </a:solidFill>
              </a:rPr>
              <a:t>that </a:t>
            </a:r>
            <a:r>
              <a:rPr lang="de-DE" dirty="0">
                <a:solidFill>
                  <a:srgbClr val="FFFF00"/>
                </a:solidFill>
              </a:rPr>
              <a:t>must be true at any point</a:t>
            </a:r>
            <a:r>
              <a:rPr lang="de-DE" dirty="0">
                <a:solidFill>
                  <a:schemeClr val="bg1"/>
                </a:solidFill>
              </a:rPr>
              <a:t> in your program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mutably borrowed twice+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Not allowed,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illegal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Reference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mutably borrowed once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No other references allowed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even immutable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Reference </a:t>
            </a:r>
            <a:r>
              <a:rPr lang="de-DE" dirty="0">
                <a:solidFill>
                  <a:srgbClr val="00FF00"/>
                </a:solidFill>
              </a:rPr>
              <a:t>immutably borrowed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Only other immutable borrows allowed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Reference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may not outlive borrowed data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the original value was dropped in the meantime, we‘d have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dangling references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671322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4DC80-2408-5C07-913B-D52AAFA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References in its simplest form are memory addresses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Can point to any memory, to the stack, to the 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Pointers are easy to mishandle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Dangling references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Race conditions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0606057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0255-7A1A-5625-F5F4-3426A5EF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F6D0-751B-7BBB-A989-09805E3C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66856-63B3-174E-545E-BFE8478D93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812DC-7714-941F-2415-3AEBC15EC84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1BF91-BD87-BC66-A7A0-B0A099841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65" y="1381670"/>
            <a:ext cx="4919335" cy="40946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FDF3A1-613C-4FED-1C77-F0C3F75BCA7A}"/>
              </a:ext>
            </a:extLst>
          </p:cNvPr>
          <p:cNvSpPr/>
          <p:nvPr/>
        </p:nvSpPr>
        <p:spPr>
          <a:xfrm>
            <a:off x="5442090" y="1381670"/>
            <a:ext cx="653910" cy="36213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2">
                    <a:lumMod val="10000"/>
                  </a:schemeClr>
                </a:solidFill>
                <a:latin typeface="Lato"/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13079809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F28D-8CA8-BCD0-2A5A-F230FBCE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CEDF-6A45-88EA-D5C0-E23FFA6F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38EF1-B159-47AF-7CC0-05619018B8D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5AD72-AC55-482A-648C-6BF4EB41D8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6276C-260F-2D22-5EB2-A61EF7EA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65" y="1381670"/>
            <a:ext cx="4919335" cy="40946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508690-AB96-8403-C498-C84ED6800201}"/>
              </a:ext>
            </a:extLst>
          </p:cNvPr>
          <p:cNvSpPr/>
          <p:nvPr/>
        </p:nvSpPr>
        <p:spPr>
          <a:xfrm>
            <a:off x="5442090" y="1381670"/>
            <a:ext cx="653910" cy="36213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2">
                    <a:lumMod val="10000"/>
                  </a:schemeClr>
                </a:solidFill>
                <a:latin typeface="Lato"/>
              </a:rPr>
              <a:t>3/3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C8C18-2207-7AF1-1401-03B852C7526C}"/>
              </a:ext>
            </a:extLst>
          </p:cNvPr>
          <p:cNvSpPr txBox="1"/>
          <p:nvPr/>
        </p:nvSpPr>
        <p:spPr>
          <a:xfrm>
            <a:off x="6096000" y="1376398"/>
            <a:ext cx="2820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this C code print?</a:t>
            </a:r>
          </a:p>
        </p:txBody>
      </p:sp>
    </p:spTree>
    <p:extLst>
      <p:ext uri="{BB962C8B-B14F-4D97-AF65-F5344CB8AC3E}">
        <p14:creationId xmlns:p14="http://schemas.microsoft.com/office/powerpoint/2010/main" val="43992160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C3FC-40A2-F3A5-42AF-BD4A1A31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E138-68BD-678F-0BA0-14A4D471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F9D8-19E5-B344-0CF1-7ABC736CAF7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BACC-24F4-FC1E-158B-3540EE791F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E18B6-30F5-35A2-F075-7063F00F1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65" y="1381670"/>
            <a:ext cx="4919335" cy="40946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0EAADC-F2B6-F64A-EA61-D82047285E1C}"/>
              </a:ext>
            </a:extLst>
          </p:cNvPr>
          <p:cNvSpPr/>
          <p:nvPr/>
        </p:nvSpPr>
        <p:spPr>
          <a:xfrm>
            <a:off x="5442090" y="1381670"/>
            <a:ext cx="653910" cy="36213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2">
                    <a:lumMod val="10000"/>
                  </a:schemeClr>
                </a:solidFill>
                <a:latin typeface="Lato"/>
              </a:rPr>
              <a:t>3/3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61AA1-F3FD-E700-E00D-9F4B5F8120C0}"/>
              </a:ext>
            </a:extLst>
          </p:cNvPr>
          <p:cNvSpPr txBox="1"/>
          <p:nvPr/>
        </p:nvSpPr>
        <p:spPr>
          <a:xfrm>
            <a:off x="6096000" y="1376398"/>
            <a:ext cx="53309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this C code print?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can‘t know.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The first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printf()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prints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10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somethingElse()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may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overwrite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the memory the pointer is pointing to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571487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3E20-D45B-C1B9-403F-3B69AEC3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D977-EA40-B480-4CA1-B7DD53CD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1A59A-FBBF-74D9-F28C-7D0C57DB5C4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7ED66-B839-4FC5-2A7D-8D0ED3F993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12F73-8058-BAF9-106D-BC5994A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65" y="1381670"/>
            <a:ext cx="4919335" cy="40946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87B233-C557-BA3F-0C71-453EFAB9211C}"/>
              </a:ext>
            </a:extLst>
          </p:cNvPr>
          <p:cNvSpPr/>
          <p:nvPr/>
        </p:nvSpPr>
        <p:spPr>
          <a:xfrm>
            <a:off x="5442090" y="1381670"/>
            <a:ext cx="653910" cy="362130"/>
          </a:xfrm>
          <a:prstGeom prst="rect">
            <a:avLst/>
          </a:prstGeom>
          <a:solidFill>
            <a:srgbClr val="BF00FF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bg2">
                    <a:lumMod val="10000"/>
                  </a:schemeClr>
                </a:solidFill>
                <a:latin typeface="Lato"/>
              </a:rPr>
              <a:t>3/3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2A0C5-627E-F58C-1772-7F433FFCCF46}"/>
              </a:ext>
            </a:extLst>
          </p:cNvPr>
          <p:cNvSpPr txBox="1"/>
          <p:nvPr/>
        </p:nvSpPr>
        <p:spPr>
          <a:xfrm>
            <a:off x="6096000" y="1376398"/>
            <a:ext cx="53309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What does this C code print?</a:t>
            </a:r>
          </a:p>
          <a:p>
            <a:endParaRPr lang="de-DE" sz="1600" dirty="0">
              <a:solidFill>
                <a:schemeClr val="bg1"/>
              </a:solidFill>
              <a:latin typeface="Lato"/>
            </a:endParaRP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We can‘t know.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The first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printf()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prints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10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somethingElse()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may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overwrite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the memory the pointer is pointing to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91A776-0B18-6F7D-3F6C-D4571B18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142300"/>
            <a:ext cx="2543530" cy="1533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CBF91D-C4D6-54F0-915A-666BE2010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46058"/>
            <a:ext cx="4199134" cy="11962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2EB30-0D48-30BE-6A0A-85BC18EE5C73}"/>
              </a:ext>
            </a:extLst>
          </p:cNvPr>
          <p:cNvSpPr txBox="1"/>
          <p:nvPr/>
        </p:nvSpPr>
        <p:spPr>
          <a:xfrm>
            <a:off x="1883147" y="5846917"/>
            <a:ext cx="8425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chemeClr val="bg1"/>
                </a:solidFill>
                <a:latin typeface="Lato"/>
              </a:rPr>
              <a:t>Note: Next session will introduce functions, and explain in more detail what‘s going on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410448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3011-B03D-D620-D487-2AD7C049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809B-9325-F62D-498E-4823DCA5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FCE55E-D451-ACBA-FCB4-6B97B91E3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References in its simplest form are memory addresses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Can point to any memory, to the stack, to the 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Pointers are easy to mishandle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More is required to make them memory safe, and fit for Rust‘s goals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The compiler needs to analyze when and how references are valid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Part One: Borrow Checker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Part Two: Lifetimes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2D914-40C1-63C3-2266-F1BBADFF596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9480-EC0B-1D77-2D5E-F30596883AB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64885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F36D-25F7-FED7-D7B7-380640F2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BB6B-C513-7000-4E2A-86CA23F6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025AF9-F1C0-56C3-17D9-28B4F9BE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Lifetimes are a construct of the compiler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Technically </a:t>
            </a:r>
            <a:r>
              <a:rPr lang="de-DE" i="1">
                <a:solidFill>
                  <a:schemeClr val="bg1"/>
                </a:solidFill>
              </a:rPr>
              <a:t>everything</a:t>
            </a:r>
            <a:r>
              <a:rPr lang="de-DE">
                <a:solidFill>
                  <a:schemeClr val="bg1"/>
                </a:solidFill>
              </a:rPr>
              <a:t> is a construct of the compiler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Lifetimes allow the compiler to analyze and optimize the final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Lifetimes are purely static, they don‘t get into the final executable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 No performance overhead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Memory Safety guarantees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0858-8B8C-C41D-C5ED-730EE441AC2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94D0-33CE-1817-D765-257D35CF93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3923425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AAC1-AEA4-A66D-D069-B900BCF9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139-A633-F942-A4E0-612F07F8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555F4C-1C38-C800-D041-4650360C3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lifetime describes two things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</a:t>
            </a:r>
            <a:r>
              <a:rPr lang="de-DE">
                <a:solidFill>
                  <a:srgbClr val="00FF00"/>
                </a:solidFill>
              </a:rPr>
              <a:t>region of code</a:t>
            </a:r>
            <a:r>
              <a:rPr lang="de-DE">
                <a:solidFill>
                  <a:schemeClr val="bg1"/>
                </a:solidFill>
              </a:rPr>
              <a:t> where the reference </a:t>
            </a:r>
            <a:r>
              <a:rPr lang="de-DE">
                <a:solidFill>
                  <a:srgbClr val="FFFF00"/>
                </a:solidFill>
              </a:rPr>
              <a:t>must be valid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</a:t>
            </a:r>
            <a:r>
              <a:rPr lang="de-DE">
                <a:solidFill>
                  <a:srgbClr val="00FF00"/>
                </a:solidFill>
              </a:rPr>
              <a:t>region of memory</a:t>
            </a:r>
            <a:r>
              <a:rPr lang="de-DE">
                <a:solidFill>
                  <a:schemeClr val="bg1"/>
                </a:solidFill>
              </a:rPr>
              <a:t> where the reference </a:t>
            </a:r>
            <a:r>
              <a:rPr lang="de-DE">
                <a:solidFill>
                  <a:srgbClr val="FFFF00"/>
                </a:solidFill>
              </a:rPr>
              <a:t>may point into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C72C-BD93-8728-6C72-A8211ED6117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84DF-CC0D-3873-7D5F-A04B07C8141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078576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CDBF-D887-BA37-1766-318C00B8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7811-0E45-920B-A8A5-B7C68BB9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7E01F-ADBA-BF8B-E1B5-698E7176714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FDADD-DC77-3FE7-8653-EB46413834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833E89-83E3-1147-51BD-05CBAA86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863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387DA-6DAF-63C4-EEA7-552642B0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EDB0-DDCC-099B-AFB7-4DF83FF6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57CCA-5BD9-CD57-D552-1F2C206C7E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0527-09F4-925B-C9D2-B1E49A4657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0A558-EB49-765B-51AE-FFF4C9045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3FE680-6355-972B-52EA-62455583233D}"/>
              </a:ext>
            </a:extLst>
          </p:cNvPr>
          <p:cNvSpPr/>
          <p:nvPr/>
        </p:nvSpPr>
        <p:spPr>
          <a:xfrm>
            <a:off x="1730000" y="2283986"/>
            <a:ext cx="5934529" cy="3093653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19510-ECDA-C438-1B0E-D8705B87C8D4}"/>
              </a:ext>
            </a:extLst>
          </p:cNvPr>
          <p:cNvSpPr txBox="1"/>
          <p:nvPr/>
        </p:nvSpPr>
        <p:spPr>
          <a:xfrm>
            <a:off x="7664529" y="2277432"/>
            <a:ext cx="3674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</p:spTree>
    <p:extLst>
      <p:ext uri="{BB962C8B-B14F-4D97-AF65-F5344CB8AC3E}">
        <p14:creationId xmlns:p14="http://schemas.microsoft.com/office/powerpoint/2010/main" val="1338064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D4FB-DD5F-B4FF-CC69-A883DF9C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6BED-EE2E-38D7-DA97-C90146B9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C6C7-BF02-ED66-7039-64B15AC0970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F6ED-EF23-ABC1-0213-3B38786EDCF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F4A1C4-BC28-4031-2E0B-1ED28F55D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282E8F-7631-DAAF-417F-27363D5A7671}"/>
              </a:ext>
            </a:extLst>
          </p:cNvPr>
          <p:cNvSpPr/>
          <p:nvPr/>
        </p:nvSpPr>
        <p:spPr>
          <a:xfrm>
            <a:off x="1730000" y="2283986"/>
            <a:ext cx="5934529" cy="3093653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1EA39-96F3-61F6-E4E8-F309E333C9BD}"/>
              </a:ext>
            </a:extLst>
          </p:cNvPr>
          <p:cNvSpPr txBox="1"/>
          <p:nvPr/>
        </p:nvSpPr>
        <p:spPr>
          <a:xfrm>
            <a:off x="7664529" y="2277432"/>
            <a:ext cx="3674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A357B9-5013-80A0-CC0D-70BAD9E0DBF0}"/>
              </a:ext>
            </a:extLst>
          </p:cNvPr>
          <p:cNvSpPr/>
          <p:nvPr/>
        </p:nvSpPr>
        <p:spPr>
          <a:xfrm>
            <a:off x="1828799" y="3798587"/>
            <a:ext cx="5800599" cy="15427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F589A-0A97-6A4A-D872-8897250029DB}"/>
              </a:ext>
            </a:extLst>
          </p:cNvPr>
          <p:cNvSpPr txBox="1"/>
          <p:nvPr/>
        </p:nvSpPr>
        <p:spPr>
          <a:xfrm>
            <a:off x="7664529" y="3797024"/>
            <a:ext cx="3663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&amp;c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</p:spTree>
    <p:extLst>
      <p:ext uri="{BB962C8B-B14F-4D97-AF65-F5344CB8AC3E}">
        <p14:creationId xmlns:p14="http://schemas.microsoft.com/office/powerpoint/2010/main" val="206750845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A8BA-AD1F-DEC2-BFE8-425B06E3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AFAE2-91CA-EEEF-9C2C-090D5921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125D-6A55-A246-FDA9-3E00B6E095F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B90C2-C78D-661C-2D2E-5F4C2D25034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FBF48-8037-9CC6-1A5F-9C964698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332BF8-34F2-97D9-32C8-C6EC5FC226BA}"/>
              </a:ext>
            </a:extLst>
          </p:cNvPr>
          <p:cNvSpPr/>
          <p:nvPr/>
        </p:nvSpPr>
        <p:spPr>
          <a:xfrm>
            <a:off x="1730000" y="2283986"/>
            <a:ext cx="5934529" cy="3093653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7A889-AB6C-40BD-8E45-946C218E591C}"/>
              </a:ext>
            </a:extLst>
          </p:cNvPr>
          <p:cNvSpPr txBox="1"/>
          <p:nvPr/>
        </p:nvSpPr>
        <p:spPr>
          <a:xfrm>
            <a:off x="7664529" y="2277432"/>
            <a:ext cx="3674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636F80-5203-611C-DF07-7BFCEA2C78FE}"/>
              </a:ext>
            </a:extLst>
          </p:cNvPr>
          <p:cNvSpPr/>
          <p:nvPr/>
        </p:nvSpPr>
        <p:spPr>
          <a:xfrm>
            <a:off x="1828799" y="3798587"/>
            <a:ext cx="5800599" cy="15427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3F3DCB-5BBC-375C-5C42-B07354A18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09656"/>
              </p:ext>
            </p:extLst>
          </p:nvPr>
        </p:nvGraphicFramePr>
        <p:xfrm>
          <a:off x="7850950" y="3266836"/>
          <a:ext cx="1591136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5568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795568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68B3E6-9BDB-E403-6F27-5B135EE00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789230"/>
              </p:ext>
            </p:extLst>
          </p:nvPr>
        </p:nvGraphicFramePr>
        <p:xfrm>
          <a:off x="9961722" y="3266836"/>
          <a:ext cx="167170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5851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835851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547784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A1AA5-C592-E6B4-3D4A-29631D0F974F}"/>
              </a:ext>
            </a:extLst>
          </p:cNvPr>
          <p:cNvCxnSpPr>
            <a:cxnSpLocks/>
          </p:cNvCxnSpPr>
          <p:nvPr/>
        </p:nvCxnSpPr>
        <p:spPr>
          <a:xfrm>
            <a:off x="8970788" y="3827979"/>
            <a:ext cx="1170861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7D733D-32EA-7A7C-14F6-EAB6B8F9EDD0}"/>
              </a:ext>
            </a:extLst>
          </p:cNvPr>
          <p:cNvCxnSpPr>
            <a:cxnSpLocks/>
          </p:cNvCxnSpPr>
          <p:nvPr/>
        </p:nvCxnSpPr>
        <p:spPr>
          <a:xfrm>
            <a:off x="8986229" y="3827979"/>
            <a:ext cx="1155420" cy="37745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007156-0F4F-8477-C527-4C1521A768BC}"/>
              </a:ext>
            </a:extLst>
          </p:cNvPr>
          <p:cNvSpPr/>
          <p:nvPr/>
        </p:nvSpPr>
        <p:spPr>
          <a:xfrm>
            <a:off x="1929505" y="4805635"/>
            <a:ext cx="4543802" cy="503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F5D68-D91B-2CF1-2DDC-1DF1567F2054}"/>
              </a:ext>
            </a:extLst>
          </p:cNvPr>
          <p:cNvSpPr txBox="1"/>
          <p:nvPr/>
        </p:nvSpPr>
        <p:spPr>
          <a:xfrm>
            <a:off x="3464666" y="4467081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 use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276647821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3D02-00BD-AFEB-E72F-65BACD2B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D8B3-0554-7F62-7F84-C10B7E0F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DDEF0-F6B4-E157-939B-FF8AD0CCF59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73CC5-1AB9-D110-D941-854D2E8DDF2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492E0-6C9D-4625-67DA-941E23A5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381419-4908-5D3B-8506-E3064C96887C}"/>
              </a:ext>
            </a:extLst>
          </p:cNvPr>
          <p:cNvSpPr/>
          <p:nvPr/>
        </p:nvSpPr>
        <p:spPr>
          <a:xfrm>
            <a:off x="1730000" y="2283986"/>
            <a:ext cx="5934529" cy="3093653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AC751-90FE-2FC9-31A6-134B53DB2C1C}"/>
              </a:ext>
            </a:extLst>
          </p:cNvPr>
          <p:cNvSpPr txBox="1"/>
          <p:nvPr/>
        </p:nvSpPr>
        <p:spPr>
          <a:xfrm>
            <a:off x="7664529" y="2277432"/>
            <a:ext cx="3674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DBB1AD-1514-DB36-9589-91F1CCC43AD2}"/>
              </a:ext>
            </a:extLst>
          </p:cNvPr>
          <p:cNvSpPr/>
          <p:nvPr/>
        </p:nvSpPr>
        <p:spPr>
          <a:xfrm>
            <a:off x="1828799" y="3798587"/>
            <a:ext cx="5800599" cy="15427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AF3D49B-B1F4-D840-CC34-CD5B34EBD558}"/>
              </a:ext>
            </a:extLst>
          </p:cNvPr>
          <p:cNvGraphicFramePr>
            <a:graphicFrameLocks noGrp="1"/>
          </p:cNvGraphicFramePr>
          <p:nvPr/>
        </p:nvGraphicFramePr>
        <p:xfrm>
          <a:off x="7850950" y="3266836"/>
          <a:ext cx="1591136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5568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795568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7C2CBF-4188-68C3-DC50-8B7545A13A44}"/>
              </a:ext>
            </a:extLst>
          </p:cNvPr>
          <p:cNvGraphicFramePr>
            <a:graphicFrameLocks noGrp="1"/>
          </p:cNvGraphicFramePr>
          <p:nvPr/>
        </p:nvGraphicFramePr>
        <p:xfrm>
          <a:off x="9961722" y="3266836"/>
          <a:ext cx="167170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5851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835851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547784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01E81E-8965-AFBB-8046-32E23CAB8549}"/>
              </a:ext>
            </a:extLst>
          </p:cNvPr>
          <p:cNvCxnSpPr>
            <a:cxnSpLocks/>
          </p:cNvCxnSpPr>
          <p:nvPr/>
        </p:nvCxnSpPr>
        <p:spPr>
          <a:xfrm>
            <a:off x="8970788" y="3827979"/>
            <a:ext cx="1170861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0F8FCC-1AAA-0AB7-679A-5C8EA75578A7}"/>
              </a:ext>
            </a:extLst>
          </p:cNvPr>
          <p:cNvCxnSpPr>
            <a:cxnSpLocks/>
          </p:cNvCxnSpPr>
          <p:nvPr/>
        </p:nvCxnSpPr>
        <p:spPr>
          <a:xfrm>
            <a:off x="8986229" y="3827979"/>
            <a:ext cx="1155420" cy="37745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CB0C9-82F7-0F2B-A5EF-424145B33267}"/>
              </a:ext>
            </a:extLst>
          </p:cNvPr>
          <p:cNvSpPr/>
          <p:nvPr/>
        </p:nvSpPr>
        <p:spPr>
          <a:xfrm>
            <a:off x="1929505" y="4805635"/>
            <a:ext cx="4543802" cy="503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7055A9-53FA-024B-0A45-6F44DC759F8F}"/>
              </a:ext>
            </a:extLst>
          </p:cNvPr>
          <p:cNvSpPr txBox="1"/>
          <p:nvPr/>
        </p:nvSpPr>
        <p:spPr>
          <a:xfrm>
            <a:off x="3464666" y="4467081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 use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C565-0C56-5C37-5C64-5E0C21B10D0E}"/>
              </a:ext>
            </a:extLst>
          </p:cNvPr>
          <p:cNvSpPr txBox="1"/>
          <p:nvPr/>
        </p:nvSpPr>
        <p:spPr>
          <a:xfrm>
            <a:off x="6343655" y="5387551"/>
            <a:ext cx="4995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Depending on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RNG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may point to either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or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c</a:t>
            </a:r>
          </a:p>
          <a:p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When we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*b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, both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memory locations must be alive</a:t>
            </a:r>
            <a:endParaRPr lang="de-DE" sz="1600" dirty="0">
              <a:solidFill>
                <a:srgbClr val="00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405185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1BACC-9BA0-6508-6FC7-A6AB96B9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9AAB-A648-32EE-4CFA-D6CC207C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41F2-EF42-58FA-1DF4-1361D63E757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EEEB-23FE-0A43-68A3-F88589224A1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D575C0-2615-2378-E65E-443F95A0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50" y="1268682"/>
            <a:ext cx="6626379" cy="455403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D479F6B-62E7-838F-7541-574FD073DFFD}"/>
              </a:ext>
            </a:extLst>
          </p:cNvPr>
          <p:cNvGraphicFramePr>
            <a:graphicFrameLocks noGrp="1"/>
          </p:cNvGraphicFramePr>
          <p:nvPr/>
        </p:nvGraphicFramePr>
        <p:xfrm>
          <a:off x="7850950" y="3266836"/>
          <a:ext cx="1591136" cy="7519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5568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795568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>
                        <a:latin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CB0C53-A0B2-978C-B136-A92E97BB8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236579"/>
              </p:ext>
            </p:extLst>
          </p:nvPr>
        </p:nvGraphicFramePr>
        <p:xfrm>
          <a:off x="9961722" y="3266836"/>
          <a:ext cx="1671702" cy="11279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5851">
                  <a:extLst>
                    <a:ext uri="{9D8B030D-6E8A-4147-A177-3AD203B41FA5}">
                      <a16:colId xmlns:a16="http://schemas.microsoft.com/office/drawing/2014/main" val="2958816151"/>
                    </a:ext>
                  </a:extLst>
                </a:gridCol>
                <a:gridCol w="835851">
                  <a:extLst>
                    <a:ext uri="{9D8B030D-6E8A-4147-A177-3AD203B41FA5}">
                      <a16:colId xmlns:a16="http://schemas.microsoft.com/office/drawing/2014/main" val="363305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6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1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c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Lato"/>
                        </a:rPr>
                        <a:t>40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547784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69D970-8B58-EAD2-D9E2-B1AB33EBA867}"/>
              </a:ext>
            </a:extLst>
          </p:cNvPr>
          <p:cNvCxnSpPr>
            <a:cxnSpLocks/>
          </p:cNvCxnSpPr>
          <p:nvPr/>
        </p:nvCxnSpPr>
        <p:spPr>
          <a:xfrm>
            <a:off x="8970788" y="3827979"/>
            <a:ext cx="1170861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CE5F73-7184-DB21-BAC3-D45048C0B923}"/>
              </a:ext>
            </a:extLst>
          </p:cNvPr>
          <p:cNvCxnSpPr>
            <a:cxnSpLocks/>
          </p:cNvCxnSpPr>
          <p:nvPr/>
        </p:nvCxnSpPr>
        <p:spPr>
          <a:xfrm>
            <a:off x="8986229" y="3827979"/>
            <a:ext cx="1155420" cy="37745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C219FB1-8733-33D7-552B-55E36BC81063}"/>
              </a:ext>
            </a:extLst>
          </p:cNvPr>
          <p:cNvSpPr/>
          <p:nvPr/>
        </p:nvSpPr>
        <p:spPr>
          <a:xfrm>
            <a:off x="1933533" y="3266836"/>
            <a:ext cx="5730996" cy="1579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36440C-0F0A-32C1-3849-726EAB4D6536}"/>
              </a:ext>
            </a:extLst>
          </p:cNvPr>
          <p:cNvSpPr txBox="1"/>
          <p:nvPr/>
        </p:nvSpPr>
        <p:spPr>
          <a:xfrm>
            <a:off x="3413211" y="4394788"/>
            <a:ext cx="3103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FF00"/>
                </a:solidFill>
                <a:latin typeface="Lato"/>
              </a:rPr>
              <a:t>c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is alive here and then dropped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567EB-0EE2-DC05-9E56-86B445F9682E}"/>
              </a:ext>
            </a:extLst>
          </p:cNvPr>
          <p:cNvSpPr txBox="1"/>
          <p:nvPr/>
        </p:nvSpPr>
        <p:spPr>
          <a:xfrm>
            <a:off x="7664529" y="5033688"/>
            <a:ext cx="3663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&amp;c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A0B00A-F3F3-449F-55CD-F57375DFA4E5}"/>
              </a:ext>
            </a:extLst>
          </p:cNvPr>
          <p:cNvSpPr/>
          <p:nvPr/>
        </p:nvSpPr>
        <p:spPr>
          <a:xfrm>
            <a:off x="1828799" y="3798587"/>
            <a:ext cx="5800599" cy="154279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0050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79F4E-0A7C-1A6D-BC0D-B9D83584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58AA-E261-361A-50C7-5D735175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874EB-AEB0-ED5A-7AF8-E85B80D81D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F2A5-6873-23C3-FE92-ED9062F78A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4702D-742A-9221-F824-B7B7C95F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94" y="1273120"/>
            <a:ext cx="6626379" cy="4531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4F352B-4B48-D179-96D6-EF22E915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91" y="1268683"/>
            <a:ext cx="6916409" cy="24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7227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229A-F247-B4C8-0733-5D9542FE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FDD9-8DEA-BB6B-797F-541EDC88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E0BCAD-2A08-41C4-E470-CEEA2A22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lifetime describes two things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</a:t>
            </a:r>
            <a:r>
              <a:rPr lang="de-DE">
                <a:solidFill>
                  <a:srgbClr val="00FF00"/>
                </a:solidFill>
              </a:rPr>
              <a:t>region of code</a:t>
            </a:r>
            <a:r>
              <a:rPr lang="de-DE">
                <a:solidFill>
                  <a:schemeClr val="bg1"/>
                </a:solidFill>
              </a:rPr>
              <a:t> where the reference </a:t>
            </a:r>
            <a:r>
              <a:rPr lang="de-DE">
                <a:solidFill>
                  <a:srgbClr val="FFFF00"/>
                </a:solidFill>
              </a:rPr>
              <a:t>must be valid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A </a:t>
            </a:r>
            <a:r>
              <a:rPr lang="de-DE">
                <a:solidFill>
                  <a:srgbClr val="00FF00"/>
                </a:solidFill>
              </a:rPr>
              <a:t>region of memory</a:t>
            </a:r>
            <a:r>
              <a:rPr lang="de-DE">
                <a:solidFill>
                  <a:schemeClr val="bg1"/>
                </a:solidFill>
              </a:rPr>
              <a:t> where the reference </a:t>
            </a:r>
            <a:r>
              <a:rPr lang="de-DE">
                <a:solidFill>
                  <a:srgbClr val="FFFF00"/>
                </a:solidFill>
              </a:rPr>
              <a:t>may point into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The regions of code don‘t have to be contiguous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References must </a:t>
            </a:r>
            <a:r>
              <a:rPr lang="de-DE">
                <a:solidFill>
                  <a:srgbClr val="FFFF00"/>
                </a:solidFill>
              </a:rPr>
              <a:t>only be valid between uses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</a:rPr>
              <a:t>Non-Lexical Lifetimes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The compiler is very good at figuring out the shortest required lifetimes for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67B06-A229-A5A5-7D56-6312572CA2E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C7C8-85BE-E5D3-5AB0-33955D093C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392767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0F18A-07F8-1C71-00FE-F6C0BD5A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67" y="1210622"/>
            <a:ext cx="5930066" cy="485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4797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1479-3152-4076-22F6-6E4B4E40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A020-5AD5-3358-C526-3EEEA17A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7ED9D-FB61-7D48-4A12-087EA1F6FC8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A101D-EEC7-5EDC-54B0-CAB980F22A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065A1-5E3F-3C4B-ACFF-CEB48959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67" y="1210622"/>
            <a:ext cx="5930066" cy="48590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4D9577-F99C-3A32-5A12-CA43E1978DA1}"/>
              </a:ext>
            </a:extLst>
          </p:cNvPr>
          <p:cNvSpPr/>
          <p:nvPr/>
        </p:nvSpPr>
        <p:spPr>
          <a:xfrm>
            <a:off x="1760320" y="4580774"/>
            <a:ext cx="5243311" cy="787892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142C5-606D-6A14-2BEA-356DAA792DAA}"/>
              </a:ext>
            </a:extLst>
          </p:cNvPr>
          <p:cNvSpPr txBox="1"/>
          <p:nvPr/>
        </p:nvSpPr>
        <p:spPr>
          <a:xfrm>
            <a:off x="7003631" y="4775647"/>
            <a:ext cx="3701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68E1F2-1500-F13F-F713-059792C63630}"/>
              </a:ext>
            </a:extLst>
          </p:cNvPr>
          <p:cNvSpPr/>
          <p:nvPr/>
        </p:nvSpPr>
        <p:spPr>
          <a:xfrm>
            <a:off x="1760321" y="2670693"/>
            <a:ext cx="5243311" cy="787892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3BF61-207A-953D-49CF-7007DEA8142B}"/>
              </a:ext>
            </a:extLst>
          </p:cNvPr>
          <p:cNvSpPr txBox="1"/>
          <p:nvPr/>
        </p:nvSpPr>
        <p:spPr>
          <a:xfrm>
            <a:off x="7003631" y="2865566"/>
            <a:ext cx="3663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</p:spTree>
    <p:extLst>
      <p:ext uri="{BB962C8B-B14F-4D97-AF65-F5344CB8AC3E}">
        <p14:creationId xmlns:p14="http://schemas.microsoft.com/office/powerpoint/2010/main" val="233190266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3C2D-BCF2-0A89-2D07-58EC9529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F3E3-2AA2-DF74-CEEF-1ADAD6FE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EDAB7-A397-7127-9EF8-7A1127B8F0C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89F18-A168-7857-19A0-D966E806FA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1E6CC-6A25-D0E3-EBC7-0CAE5D99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67" y="1210622"/>
            <a:ext cx="5930066" cy="48590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188CC6-23EF-3425-AB4E-3C326FFF7B3F}"/>
              </a:ext>
            </a:extLst>
          </p:cNvPr>
          <p:cNvSpPr/>
          <p:nvPr/>
        </p:nvSpPr>
        <p:spPr>
          <a:xfrm>
            <a:off x="1760320" y="4580774"/>
            <a:ext cx="5243311" cy="787892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2055F-8D98-A5E3-D110-690196F0E23B}"/>
              </a:ext>
            </a:extLst>
          </p:cNvPr>
          <p:cNvSpPr txBox="1"/>
          <p:nvPr/>
        </p:nvSpPr>
        <p:spPr>
          <a:xfrm>
            <a:off x="7003631" y="4775647"/>
            <a:ext cx="3701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&amp;y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84399-9BF9-16E5-8E5F-DCFA8254430D}"/>
              </a:ext>
            </a:extLst>
          </p:cNvPr>
          <p:cNvSpPr/>
          <p:nvPr/>
        </p:nvSpPr>
        <p:spPr>
          <a:xfrm>
            <a:off x="1760321" y="2670693"/>
            <a:ext cx="5243311" cy="787892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474B6-4A6E-185A-9B25-9C8E77EB164E}"/>
              </a:ext>
            </a:extLst>
          </p:cNvPr>
          <p:cNvSpPr txBox="1"/>
          <p:nvPr/>
        </p:nvSpPr>
        <p:spPr>
          <a:xfrm>
            <a:off x="7003631" y="2865566"/>
            <a:ext cx="3663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FF00"/>
                </a:solidFill>
                <a:latin typeface="Lato"/>
              </a:rPr>
              <a:t>region of code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where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&amp;x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must be valid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F001B-9BC8-2C90-5A61-2C8062EEE003}"/>
              </a:ext>
            </a:extLst>
          </p:cNvPr>
          <p:cNvSpPr/>
          <p:nvPr/>
        </p:nvSpPr>
        <p:spPr>
          <a:xfrm>
            <a:off x="1760318" y="3458585"/>
            <a:ext cx="5243312" cy="1122188"/>
          </a:xfrm>
          <a:prstGeom prst="rect">
            <a:avLst/>
          </a:prstGeom>
          <a:noFill/>
          <a:ln w="19050"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1C54F-D5E4-A696-6CA9-32ECA66BD5A7}"/>
              </a:ext>
            </a:extLst>
          </p:cNvPr>
          <p:cNvSpPr txBox="1"/>
          <p:nvPr/>
        </p:nvSpPr>
        <p:spPr>
          <a:xfrm>
            <a:off x="7003630" y="3601839"/>
            <a:ext cx="4634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  <a:latin typeface="Lato"/>
              </a:rPr>
              <a:t>We don‘t care about this section</a:t>
            </a:r>
            <a:br>
              <a:rPr lang="de-DE" sz="1600" dirty="0">
                <a:solidFill>
                  <a:schemeClr val="bg1"/>
                </a:solidFill>
                <a:latin typeface="Lato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refers to a dropped value, but </a:t>
            </a:r>
            <a:r>
              <a:rPr lang="de-DE" sz="1600" dirty="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we don‘t 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use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</a:t>
            </a:r>
            <a:r>
              <a:rPr lang="de-DE" sz="160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r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</a:t>
            </a:r>
            <a:r>
              <a:rPr lang="de-DE" sz="1600">
                <a:solidFill>
                  <a:srgbClr val="00FF00"/>
                </a:solidFill>
                <a:latin typeface="Lato"/>
                <a:sym typeface="Wingdings" panose="05000000000000000000" pitchFamily="2" charset="2"/>
              </a:rPr>
              <a:t>before reassigning a new value</a:t>
            </a:r>
            <a:r>
              <a:rPr lang="de-DE" sz="160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to it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0238023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0705-00EF-6D7E-0960-E0CEFBC8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A1FA-BE2A-FBCB-8999-9C170394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BB89-2266-4419-C80D-AB6CC4B7E11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EB267-82CE-2E62-0347-F7056485F02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BBB11-C6FA-0560-450D-FFD0A761D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6" y="1206832"/>
            <a:ext cx="10592807" cy="377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4868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22F7F1-0BE5-1843-43FB-AEED6D5CA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6" y="1206832"/>
            <a:ext cx="10592807" cy="3775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0FF642-1CA0-A2BC-B3A3-6AEA41816846}"/>
              </a:ext>
            </a:extLst>
          </p:cNvPr>
          <p:cNvSpPr txBox="1"/>
          <p:nvPr/>
        </p:nvSpPr>
        <p:spPr>
          <a:xfrm>
            <a:off x="1618651" y="4535747"/>
            <a:ext cx="8954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Even though we have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4 mutable references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it‘s fine because we‘re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not doing anything with them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0969680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751E-38EE-3D57-CAAF-00DE07F1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AEAD-2702-6EF6-4214-244EBAC4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5C55D-180C-CB8C-D59C-17355D8892D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01DA-72F4-6F0F-DA4C-0E41FB496D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91265D-A0C4-936B-4565-E2F79A1E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6" y="1206832"/>
            <a:ext cx="10592807" cy="3775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46A7A-1459-84FF-49E8-4671BC700561}"/>
              </a:ext>
            </a:extLst>
          </p:cNvPr>
          <p:cNvSpPr txBox="1"/>
          <p:nvPr/>
        </p:nvSpPr>
        <p:spPr>
          <a:xfrm>
            <a:off x="1618651" y="4535747"/>
            <a:ext cx="8954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Even though we have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4 mutable references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, it‘s fine because we‘re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not doing anything with them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8DB74-1E22-E311-28EA-D499638C4EB9}"/>
              </a:ext>
            </a:extLst>
          </p:cNvPr>
          <p:cNvSpPr/>
          <p:nvPr/>
        </p:nvSpPr>
        <p:spPr>
          <a:xfrm>
            <a:off x="1785232" y="2313492"/>
            <a:ext cx="9134039" cy="500884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76EA2-1161-6ECD-7DC6-86FCFD185109}"/>
              </a:ext>
            </a:extLst>
          </p:cNvPr>
          <p:cNvSpPr/>
          <p:nvPr/>
        </p:nvSpPr>
        <p:spPr>
          <a:xfrm>
            <a:off x="1785232" y="2858643"/>
            <a:ext cx="9134039" cy="500884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La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5C443-E9DB-50AB-2834-37B8A0546152}"/>
              </a:ext>
            </a:extLst>
          </p:cNvPr>
          <p:cNvSpPr/>
          <p:nvPr/>
        </p:nvSpPr>
        <p:spPr>
          <a:xfrm>
            <a:off x="1785231" y="3403794"/>
            <a:ext cx="9134039" cy="500884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Lat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265BE7-FC3B-D8BE-7BE1-68EC0F28F7D4}"/>
              </a:ext>
            </a:extLst>
          </p:cNvPr>
          <p:cNvSpPr/>
          <p:nvPr/>
        </p:nvSpPr>
        <p:spPr>
          <a:xfrm>
            <a:off x="1785230" y="3948945"/>
            <a:ext cx="9134039" cy="500884"/>
          </a:xfrm>
          <a:prstGeom prst="rect">
            <a:avLst/>
          </a:prstGeom>
          <a:noFill/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5E0CE-71DA-BFE5-668D-810B52D6FF8E}"/>
              </a:ext>
            </a:extLst>
          </p:cNvPr>
          <p:cNvSpPr txBox="1"/>
          <p:nvPr/>
        </p:nvSpPr>
        <p:spPr>
          <a:xfrm>
            <a:off x="414341" y="2374092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v1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used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11F66-7259-5BC1-BFE6-F1731FD5462C}"/>
              </a:ext>
            </a:extLst>
          </p:cNvPr>
          <p:cNvSpPr txBox="1"/>
          <p:nvPr/>
        </p:nvSpPr>
        <p:spPr>
          <a:xfrm>
            <a:off x="414343" y="2897363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v2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used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385FA-2764-1859-16DD-7FBAB3AA4D58}"/>
              </a:ext>
            </a:extLst>
          </p:cNvPr>
          <p:cNvSpPr txBox="1"/>
          <p:nvPr/>
        </p:nvSpPr>
        <p:spPr>
          <a:xfrm>
            <a:off x="414342" y="3465630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v3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used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E9346-4683-CC88-0FBC-FE0D13B70832}"/>
              </a:ext>
            </a:extLst>
          </p:cNvPr>
          <p:cNvSpPr txBox="1"/>
          <p:nvPr/>
        </p:nvSpPr>
        <p:spPr>
          <a:xfrm>
            <a:off x="414341" y="4013640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v4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used here</a:t>
            </a:r>
          </a:p>
        </p:txBody>
      </p:sp>
    </p:spTree>
    <p:extLst>
      <p:ext uri="{BB962C8B-B14F-4D97-AF65-F5344CB8AC3E}">
        <p14:creationId xmlns:p14="http://schemas.microsoft.com/office/powerpoint/2010/main" val="78201727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F932A-1E89-67B3-1B18-DE938BFF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6" y="1206833"/>
            <a:ext cx="10592807" cy="43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3969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F932A-1E89-67B3-1B18-DE938BFF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96" y="1206833"/>
            <a:ext cx="10592807" cy="43307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10A93A-1062-8077-C2D1-6046CB50C0C1}"/>
              </a:ext>
            </a:extLst>
          </p:cNvPr>
          <p:cNvSpPr/>
          <p:nvPr/>
        </p:nvSpPr>
        <p:spPr>
          <a:xfrm>
            <a:off x="1730000" y="2320239"/>
            <a:ext cx="9662403" cy="279396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59804-3904-9959-F044-7002DF3193F0}"/>
              </a:ext>
            </a:extLst>
          </p:cNvPr>
          <p:cNvSpPr txBox="1"/>
          <p:nvPr/>
        </p:nvSpPr>
        <p:spPr>
          <a:xfrm>
            <a:off x="4812164" y="4529425"/>
            <a:ext cx="3498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reference used in this range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No other references allowed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43932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266C9A1-1FF7-C6A3-32D0-D9D8DE2F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08" y="1210861"/>
            <a:ext cx="10592807" cy="4320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820308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784B5A-2BB6-335B-F3B5-344869146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08" y="1210861"/>
            <a:ext cx="10592807" cy="4320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0A93A-1062-8077-C2D1-6046CB50C0C1}"/>
              </a:ext>
            </a:extLst>
          </p:cNvPr>
          <p:cNvSpPr/>
          <p:nvPr/>
        </p:nvSpPr>
        <p:spPr>
          <a:xfrm>
            <a:off x="1730000" y="3955686"/>
            <a:ext cx="9662403" cy="115851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59804-3904-9959-F044-7002DF3193F0}"/>
              </a:ext>
            </a:extLst>
          </p:cNvPr>
          <p:cNvSpPr txBox="1"/>
          <p:nvPr/>
        </p:nvSpPr>
        <p:spPr>
          <a:xfrm>
            <a:off x="4812164" y="4534943"/>
            <a:ext cx="3498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Mutable reference used in this range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No other references allowed here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6508293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8C11-A514-0800-9CDC-D57CEF76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2B06-AFA8-5DE9-4F3E-75BBA52F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/>
              <a:t>Borrow Checker – Lifetimes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94DD13-5151-78C9-8F6F-13F2BF36B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/>
              <a:t>Lifetimes get complicated when we cross the function border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But as we don‘t know what functions are, we will cover that later :^)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/>
              <a:t>Lifetimes also get complicated when we define custom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But as we don‘t know what structs are, we will cover that later :^)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/>
              <a:t>Extra details about lifetimes will be introduced when needed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1A3BE-C102-F04C-39A0-24D302FBFD3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6EB5C-AEC8-D354-DC53-306EA248C2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9408220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881134-056B-C047-3E5D-1B985336B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Time for exercises!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1762302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AF4642-6E2C-8EDE-ED5B-DB138E5C67A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71181105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3E43C-95FC-8995-671A-C4F9A1CB4BE8}"/>
              </a:ext>
            </a:extLst>
          </p:cNvPr>
          <p:cNvSpPr txBox="1"/>
          <p:nvPr/>
        </p:nvSpPr>
        <p:spPr>
          <a:xfrm>
            <a:off x="7323086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169657951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76F7C-BDD4-0E5F-4D77-BA3A0DAA9CB2}"/>
              </a:ext>
            </a:extLst>
          </p:cNvPr>
          <p:cNvSpPr/>
          <p:nvPr/>
        </p:nvSpPr>
        <p:spPr>
          <a:xfrm>
            <a:off x="3347429" y="2905780"/>
            <a:ext cx="6406131" cy="5232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E18BF-AA8E-32A8-132F-F3012A32C467}"/>
              </a:ext>
            </a:extLst>
          </p:cNvPr>
          <p:cNvSpPr txBox="1"/>
          <p:nvPr/>
        </p:nvSpPr>
        <p:spPr>
          <a:xfrm>
            <a:off x="6440431" y="3428999"/>
            <a:ext cx="3425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b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contains the memory address of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0A302-C6AC-A069-A320-945E6A2C1979}"/>
              </a:ext>
            </a:extLst>
          </p:cNvPr>
          <p:cNvSpPr txBox="1"/>
          <p:nvPr/>
        </p:nvSpPr>
        <p:spPr>
          <a:xfrm>
            <a:off x="7323086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326653783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76F7C-BDD4-0E5F-4D77-BA3A0DAA9CB2}"/>
              </a:ext>
            </a:extLst>
          </p:cNvPr>
          <p:cNvSpPr/>
          <p:nvPr/>
        </p:nvSpPr>
        <p:spPr>
          <a:xfrm>
            <a:off x="3347429" y="3463413"/>
            <a:ext cx="636455" cy="5232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E18BF-AA8E-32A8-132F-F3012A32C467}"/>
              </a:ext>
            </a:extLst>
          </p:cNvPr>
          <p:cNvSpPr txBox="1"/>
          <p:nvPr/>
        </p:nvSpPr>
        <p:spPr>
          <a:xfrm>
            <a:off x="5441452" y="3463413"/>
            <a:ext cx="3405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Dereference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 b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Get the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original memory address</a:t>
            </a:r>
            <a:b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</a:b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Gets </a:t>
            </a:r>
            <a:r>
              <a:rPr lang="de-DE" sz="1600" dirty="0">
                <a:solidFill>
                  <a:srgbClr val="FFFF00"/>
                </a:solidFill>
                <a:latin typeface="Lato"/>
                <a:sym typeface="Wingdings" panose="05000000000000000000" pitchFamily="2" charset="2"/>
              </a:rPr>
              <a:t>address of a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519EB-22E0-026D-6F93-ED990A7FAEB8}"/>
              </a:ext>
            </a:extLst>
          </p:cNvPr>
          <p:cNvSpPr txBox="1"/>
          <p:nvPr/>
        </p:nvSpPr>
        <p:spPr>
          <a:xfrm>
            <a:off x="7323086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224361673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76F7C-BDD4-0E5F-4D77-BA3A0DAA9CB2}"/>
              </a:ext>
            </a:extLst>
          </p:cNvPr>
          <p:cNvSpPr/>
          <p:nvPr/>
        </p:nvSpPr>
        <p:spPr>
          <a:xfrm>
            <a:off x="3347429" y="3463413"/>
            <a:ext cx="2078548" cy="5232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E18BF-AA8E-32A8-132F-F3012A32C467}"/>
              </a:ext>
            </a:extLst>
          </p:cNvPr>
          <p:cNvSpPr txBox="1"/>
          <p:nvPr/>
        </p:nvSpPr>
        <p:spPr>
          <a:xfrm>
            <a:off x="5425977" y="3555746"/>
            <a:ext cx="1609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Writes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10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8A025-2739-BC0F-26D1-DCDB103E1A4A}"/>
              </a:ext>
            </a:extLst>
          </p:cNvPr>
          <p:cNvSpPr txBox="1"/>
          <p:nvPr/>
        </p:nvSpPr>
        <p:spPr>
          <a:xfrm>
            <a:off x="7323086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73913736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E2FB7-646B-5FDE-2E88-561CEA9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8363833" cy="436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76F7C-BDD4-0E5F-4D77-BA3A0DAA9CB2}"/>
              </a:ext>
            </a:extLst>
          </p:cNvPr>
          <p:cNvSpPr/>
          <p:nvPr/>
        </p:nvSpPr>
        <p:spPr>
          <a:xfrm>
            <a:off x="3347429" y="3463413"/>
            <a:ext cx="2078548" cy="5232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E18BF-AA8E-32A8-132F-F3012A32C467}"/>
              </a:ext>
            </a:extLst>
          </p:cNvPr>
          <p:cNvSpPr txBox="1"/>
          <p:nvPr/>
        </p:nvSpPr>
        <p:spPr>
          <a:xfrm>
            <a:off x="5425977" y="3555746"/>
            <a:ext cx="1609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Writes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10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 into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75B1A4-4B7D-400A-596E-2C4C7C7F3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557" y="4716974"/>
            <a:ext cx="1991003" cy="895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E15008-9BC5-2AF5-6325-92C760823D23}"/>
              </a:ext>
            </a:extLst>
          </p:cNvPr>
          <p:cNvSpPr txBox="1"/>
          <p:nvPr/>
        </p:nvSpPr>
        <p:spPr>
          <a:xfrm>
            <a:off x="7529874" y="4378420"/>
            <a:ext cx="2223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compiles, and prints: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60EF8-4BE7-885D-84FB-BB6A3FB64F65}"/>
              </a:ext>
            </a:extLst>
          </p:cNvPr>
          <p:cNvSpPr txBox="1"/>
          <p:nvPr/>
        </p:nvSpPr>
        <p:spPr>
          <a:xfrm>
            <a:off x="7323086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77029986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0CE38-CE00-B715-3BC6-40102C3F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44973" cy="356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5760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0CE38-CE00-B715-3BC6-40102C3F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44973" cy="3566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6F3C14-B8CA-E9CD-2C05-16453EE698E7}"/>
              </a:ext>
            </a:extLst>
          </p:cNvPr>
          <p:cNvSpPr txBox="1"/>
          <p:nvPr/>
        </p:nvSpPr>
        <p:spPr>
          <a:xfrm>
            <a:off x="9004226" y="1174293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419146234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0CE38-CE00-B715-3BC6-40102C3F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44973" cy="3566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824EB8-4C54-EAE4-3EB1-F8B2534BC0E2}"/>
              </a:ext>
            </a:extLst>
          </p:cNvPr>
          <p:cNvSpPr/>
          <p:nvPr/>
        </p:nvSpPr>
        <p:spPr>
          <a:xfrm>
            <a:off x="2296070" y="2263845"/>
            <a:ext cx="9138630" cy="159919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4CC5A-1B77-2644-D5A2-E8377B2049C0}"/>
              </a:ext>
            </a:extLst>
          </p:cNvPr>
          <p:cNvSpPr txBox="1"/>
          <p:nvPr/>
        </p:nvSpPr>
        <p:spPr>
          <a:xfrm>
            <a:off x="9331239" y="3524484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9F35D-E8E8-EB56-6C2A-CEAAB8C6BE20}"/>
              </a:ext>
            </a:extLst>
          </p:cNvPr>
          <p:cNvSpPr txBox="1"/>
          <p:nvPr/>
        </p:nvSpPr>
        <p:spPr>
          <a:xfrm>
            <a:off x="9004226" y="1174293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281709934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0CE38-CE00-B715-3BC6-40102C3F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44973" cy="3566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824EB8-4C54-EAE4-3EB1-F8B2534BC0E2}"/>
              </a:ext>
            </a:extLst>
          </p:cNvPr>
          <p:cNvSpPr/>
          <p:nvPr/>
        </p:nvSpPr>
        <p:spPr>
          <a:xfrm>
            <a:off x="2296070" y="2263845"/>
            <a:ext cx="9138630" cy="159919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4CC5A-1B77-2644-D5A2-E8377B2049C0}"/>
              </a:ext>
            </a:extLst>
          </p:cNvPr>
          <p:cNvSpPr txBox="1"/>
          <p:nvPr/>
        </p:nvSpPr>
        <p:spPr>
          <a:xfrm>
            <a:off x="9331239" y="3524484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304ADA-6E41-5542-215B-C01626A45297}"/>
              </a:ext>
            </a:extLst>
          </p:cNvPr>
          <p:cNvSpPr/>
          <p:nvPr/>
        </p:nvSpPr>
        <p:spPr>
          <a:xfrm>
            <a:off x="2356492" y="2783483"/>
            <a:ext cx="8950647" cy="5295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D16A2-2580-793F-5177-A882EDAB2443}"/>
              </a:ext>
            </a:extLst>
          </p:cNvPr>
          <p:cNvSpPr txBox="1"/>
          <p:nvPr/>
        </p:nvSpPr>
        <p:spPr>
          <a:xfrm>
            <a:off x="9004226" y="2974459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Immutable borrow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28B99-B0B1-ADA0-EE1A-8DD546DB1CCE}"/>
              </a:ext>
            </a:extLst>
          </p:cNvPr>
          <p:cNvSpPr txBox="1"/>
          <p:nvPr/>
        </p:nvSpPr>
        <p:spPr>
          <a:xfrm>
            <a:off x="9004226" y="1174293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13517522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0CE38-CE00-B715-3BC6-40102C3F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44973" cy="3566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824EB8-4C54-EAE4-3EB1-F8B2534BC0E2}"/>
              </a:ext>
            </a:extLst>
          </p:cNvPr>
          <p:cNvSpPr/>
          <p:nvPr/>
        </p:nvSpPr>
        <p:spPr>
          <a:xfrm>
            <a:off x="2296070" y="2263845"/>
            <a:ext cx="9138630" cy="159919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304ADA-6E41-5542-215B-C01626A45297}"/>
              </a:ext>
            </a:extLst>
          </p:cNvPr>
          <p:cNvSpPr/>
          <p:nvPr/>
        </p:nvSpPr>
        <p:spPr>
          <a:xfrm>
            <a:off x="2356492" y="2783483"/>
            <a:ext cx="8950647" cy="5295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89453-713F-DF96-1677-0112E5831814}"/>
              </a:ext>
            </a:extLst>
          </p:cNvPr>
          <p:cNvSpPr txBox="1"/>
          <p:nvPr/>
        </p:nvSpPr>
        <p:spPr>
          <a:xfrm>
            <a:off x="5059117" y="4812108"/>
            <a:ext cx="27061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</a:rPr>
              <a:t>Regions overlap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Borrow Checker violation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Code does </a:t>
            </a:r>
            <a:r>
              <a:rPr lang="de-DE" sz="1600" dirty="0">
                <a:solidFill>
                  <a:srgbClr val="FF0000"/>
                </a:solidFill>
                <a:latin typeface="Lato"/>
                <a:sym typeface="Wingdings" panose="05000000000000000000" pitchFamily="2" charset="2"/>
              </a:rPr>
              <a:t>not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 compile!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CDE82-8502-2804-41CA-C143E4A7B728}"/>
              </a:ext>
            </a:extLst>
          </p:cNvPr>
          <p:cNvSpPr txBox="1"/>
          <p:nvPr/>
        </p:nvSpPr>
        <p:spPr>
          <a:xfrm>
            <a:off x="9004226" y="1174293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968F9-82BF-AD14-4223-31BBEF878144}"/>
              </a:ext>
            </a:extLst>
          </p:cNvPr>
          <p:cNvSpPr txBox="1"/>
          <p:nvPr/>
        </p:nvSpPr>
        <p:spPr>
          <a:xfrm>
            <a:off x="9331239" y="3524484"/>
            <a:ext cx="2103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01FBC-3718-550C-ED25-715D12051517}"/>
              </a:ext>
            </a:extLst>
          </p:cNvPr>
          <p:cNvSpPr txBox="1"/>
          <p:nvPr/>
        </p:nvSpPr>
        <p:spPr>
          <a:xfrm>
            <a:off x="9004226" y="2974459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FFFF00"/>
                </a:solidFill>
                <a:latin typeface="Lato"/>
              </a:rPr>
              <a:t>Immutable borrow here</a:t>
            </a:r>
          </a:p>
        </p:txBody>
      </p:sp>
    </p:spTree>
    <p:extLst>
      <p:ext uri="{BB962C8B-B14F-4D97-AF65-F5344CB8AC3E}">
        <p14:creationId xmlns:p14="http://schemas.microsoft.com/office/powerpoint/2010/main" val="206275659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10D0C7-8556-F96F-229A-8EDC9539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0"/>
            <a:ext cx="10079132" cy="35665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0C7376-615A-0D79-C7EF-41832276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80" y="4380528"/>
            <a:ext cx="8092226" cy="16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8167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6370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14517567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1CE85-3BC8-32A2-3254-111B605529E4}"/>
              </a:ext>
            </a:extLst>
          </p:cNvPr>
          <p:cNvSpPr txBox="1"/>
          <p:nvPr/>
        </p:nvSpPr>
        <p:spPr>
          <a:xfrm>
            <a:off x="7154072" y="2335431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</p:txBody>
      </p:sp>
    </p:spTree>
    <p:extLst>
      <p:ext uri="{BB962C8B-B14F-4D97-AF65-F5344CB8AC3E}">
        <p14:creationId xmlns:p14="http://schemas.microsoft.com/office/powerpoint/2010/main" val="17549836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1CE85-3BC8-32A2-3254-111B605529E4}"/>
              </a:ext>
            </a:extLst>
          </p:cNvPr>
          <p:cNvSpPr txBox="1"/>
          <p:nvPr/>
        </p:nvSpPr>
        <p:spPr>
          <a:xfrm>
            <a:off x="7154072" y="2335431"/>
            <a:ext cx="40799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We‘re finally at a point where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we can reuse the same Vector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in a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-loop!</a:t>
            </a:r>
          </a:p>
        </p:txBody>
      </p:sp>
    </p:spTree>
    <p:extLst>
      <p:ext uri="{BB962C8B-B14F-4D97-AF65-F5344CB8AC3E}">
        <p14:creationId xmlns:p14="http://schemas.microsoft.com/office/powerpoint/2010/main" val="186696747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1CE85-3BC8-32A2-3254-111B605529E4}"/>
              </a:ext>
            </a:extLst>
          </p:cNvPr>
          <p:cNvSpPr txBox="1"/>
          <p:nvPr/>
        </p:nvSpPr>
        <p:spPr>
          <a:xfrm>
            <a:off x="7154072" y="2335431"/>
            <a:ext cx="40799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It does compile!</a:t>
            </a:r>
          </a:p>
          <a:p>
            <a:pPr algn="l"/>
            <a:endParaRPr lang="de-DE" sz="1600" dirty="0">
              <a:solidFill>
                <a:schemeClr val="bg1"/>
              </a:solidFill>
              <a:latin typeface="Lato"/>
            </a:endParaRP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We‘re finally at a point where </a:t>
            </a:r>
            <a:r>
              <a:rPr lang="de-DE" sz="1600" dirty="0">
                <a:solidFill>
                  <a:srgbClr val="00FF00"/>
                </a:solidFill>
                <a:latin typeface="Lato"/>
              </a:rPr>
              <a:t>we can reuse the same Vector 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in a </a:t>
            </a:r>
            <a:r>
              <a:rPr lang="de-DE" sz="1600" dirty="0">
                <a:solidFill>
                  <a:srgbClr val="FFFF00"/>
                </a:solidFill>
                <a:latin typeface="Lato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Lato"/>
              </a:rPr>
              <a:t>-loop!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0A194A-E0AC-E65B-079D-8B61B81C7E56}"/>
              </a:ext>
            </a:extLst>
          </p:cNvPr>
          <p:cNvSpPr/>
          <p:nvPr/>
        </p:nvSpPr>
        <p:spPr>
          <a:xfrm>
            <a:off x="1901307" y="2727086"/>
            <a:ext cx="4902312" cy="88620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40813-8CBD-3EEA-AFD9-3EB75F50D549}"/>
              </a:ext>
            </a:extLst>
          </p:cNvPr>
          <p:cNvSpPr/>
          <p:nvPr/>
        </p:nvSpPr>
        <p:spPr>
          <a:xfrm>
            <a:off x="1901307" y="3613289"/>
            <a:ext cx="4902312" cy="88620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B4FF8-1F4A-9DC5-7792-8E172379549D}"/>
              </a:ext>
            </a:extLst>
          </p:cNvPr>
          <p:cNvSpPr txBox="1"/>
          <p:nvPr/>
        </p:nvSpPr>
        <p:spPr>
          <a:xfrm>
            <a:off x="6803619" y="3459400"/>
            <a:ext cx="5200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Those loops modify the elements of our original vector!</a:t>
            </a:r>
          </a:p>
        </p:txBody>
      </p:sp>
    </p:spTree>
    <p:extLst>
      <p:ext uri="{BB962C8B-B14F-4D97-AF65-F5344CB8AC3E}">
        <p14:creationId xmlns:p14="http://schemas.microsoft.com/office/powerpoint/2010/main" val="150668929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0A194A-E0AC-E65B-079D-8B61B81C7E56}"/>
              </a:ext>
            </a:extLst>
          </p:cNvPr>
          <p:cNvSpPr/>
          <p:nvPr/>
        </p:nvSpPr>
        <p:spPr>
          <a:xfrm>
            <a:off x="1901307" y="2727086"/>
            <a:ext cx="4902312" cy="88620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40813-8CBD-3EEA-AFD9-3EB75F50D549}"/>
              </a:ext>
            </a:extLst>
          </p:cNvPr>
          <p:cNvSpPr/>
          <p:nvPr/>
        </p:nvSpPr>
        <p:spPr>
          <a:xfrm>
            <a:off x="1901307" y="3613289"/>
            <a:ext cx="4902312" cy="88620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D6A56-5E01-A87A-A372-0917DDA99874}"/>
              </a:ext>
            </a:extLst>
          </p:cNvPr>
          <p:cNvSpPr txBox="1"/>
          <p:nvPr/>
        </p:nvSpPr>
        <p:spPr>
          <a:xfrm>
            <a:off x="6805947" y="3016299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in this range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9F3102-4E63-6170-526C-993B1F1FAEFC}"/>
              </a:ext>
            </a:extLst>
          </p:cNvPr>
          <p:cNvSpPr txBox="1"/>
          <p:nvPr/>
        </p:nvSpPr>
        <p:spPr>
          <a:xfrm>
            <a:off x="6803619" y="3902501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in this range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F6705-0056-B304-6516-2FBD48FDCD67}"/>
              </a:ext>
            </a:extLst>
          </p:cNvPr>
          <p:cNvSpPr txBox="1"/>
          <p:nvPr/>
        </p:nvSpPr>
        <p:spPr>
          <a:xfrm>
            <a:off x="7422538" y="3429000"/>
            <a:ext cx="4152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No overlap </a:t>
            </a:r>
            <a:r>
              <a:rPr lang="de-DE" sz="1600" dirty="0">
                <a:solidFill>
                  <a:schemeClr val="bg1"/>
                </a:solidFill>
                <a:latin typeface="Lato"/>
                <a:sym typeface="Wingdings" panose="05000000000000000000" pitchFamily="2" charset="2"/>
              </a:rPr>
              <a:t> No Borrow Checker violation!</a:t>
            </a:r>
            <a:endParaRPr lang="de-DE" sz="1600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F19F8-0C56-853F-2645-13339B1B9B02}"/>
              </a:ext>
            </a:extLst>
          </p:cNvPr>
          <p:cNvSpPr/>
          <p:nvPr/>
        </p:nvSpPr>
        <p:spPr>
          <a:xfrm>
            <a:off x="2458743" y="2119537"/>
            <a:ext cx="2125531" cy="318337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E7F52-E6BF-1BAC-792D-ACB3643CCB4E}"/>
              </a:ext>
            </a:extLst>
          </p:cNvPr>
          <p:cNvSpPr txBox="1"/>
          <p:nvPr/>
        </p:nvSpPr>
        <p:spPr>
          <a:xfrm>
            <a:off x="4584274" y="2109428"/>
            <a:ext cx="2818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rgbClr val="00FF00"/>
                </a:solidFill>
                <a:latin typeface="Lato"/>
              </a:rPr>
              <a:t>Mutable borrow in this range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B173EE-B159-0025-F6E6-A86E38F94902}"/>
              </a:ext>
            </a:extLst>
          </p:cNvPr>
          <p:cNvSpPr/>
          <p:nvPr/>
        </p:nvSpPr>
        <p:spPr>
          <a:xfrm>
            <a:off x="1901307" y="4500746"/>
            <a:ext cx="5137732" cy="30248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0E540D-B960-0C11-A7EF-BEBEAAA50F24}"/>
              </a:ext>
            </a:extLst>
          </p:cNvPr>
          <p:cNvSpPr/>
          <p:nvPr/>
        </p:nvSpPr>
        <p:spPr>
          <a:xfrm>
            <a:off x="1901307" y="4799263"/>
            <a:ext cx="5137732" cy="30248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33DB28-2BC9-BD1E-9769-BDE2EE1676C4}"/>
              </a:ext>
            </a:extLst>
          </p:cNvPr>
          <p:cNvSpPr/>
          <p:nvPr/>
        </p:nvSpPr>
        <p:spPr>
          <a:xfrm>
            <a:off x="1901307" y="5093210"/>
            <a:ext cx="5137732" cy="30248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76F736-FB79-3DCA-32B0-42D97D82649C}"/>
              </a:ext>
            </a:extLst>
          </p:cNvPr>
          <p:cNvSpPr/>
          <p:nvPr/>
        </p:nvSpPr>
        <p:spPr>
          <a:xfrm>
            <a:off x="1901307" y="5397776"/>
            <a:ext cx="5137732" cy="30248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CB978-C5AC-23F2-87F1-DCCC5B0E994D}"/>
              </a:ext>
            </a:extLst>
          </p:cNvPr>
          <p:cNvSpPr txBox="1"/>
          <p:nvPr/>
        </p:nvSpPr>
        <p:spPr>
          <a:xfrm>
            <a:off x="7039039" y="4929037"/>
            <a:ext cx="3182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>
                <a:solidFill>
                  <a:srgbClr val="FFFF00"/>
                </a:solidFill>
                <a:latin typeface="Lato"/>
              </a:rPr>
              <a:t>Immutable borrows in these lines</a:t>
            </a:r>
            <a:endParaRPr lang="de-DE" sz="1600" dirty="0">
              <a:solidFill>
                <a:srgbClr val="FFFF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907863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2F0647-5CFA-3944-B63E-07044C85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71" y="4516990"/>
            <a:ext cx="878147" cy="11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2897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08943-DCE7-3F67-55D9-D74E529FDB1B}"/>
              </a:ext>
            </a:extLst>
          </p:cNvPr>
          <p:cNvSpPr/>
          <p:nvPr/>
        </p:nvSpPr>
        <p:spPr>
          <a:xfrm>
            <a:off x="692849" y="1245550"/>
            <a:ext cx="696878" cy="442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rgbClr val="000000"/>
                </a:solidFill>
                <a:latin typeface="Lato"/>
              </a:rPr>
              <a:t>2/3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A97A-EA82-27E8-2167-04EB537A0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27" y="1245551"/>
            <a:ext cx="5764345" cy="5041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23C9A4-0272-9D3B-13D1-C0B3FB4B4C8A}"/>
              </a:ext>
            </a:extLst>
          </p:cNvPr>
          <p:cNvSpPr txBox="1"/>
          <p:nvPr/>
        </p:nvSpPr>
        <p:spPr>
          <a:xfrm>
            <a:off x="7154072" y="1245550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Does the code compile?</a:t>
            </a:r>
          </a:p>
          <a:p>
            <a:pPr algn="l"/>
            <a:r>
              <a:rPr lang="de-DE" sz="1600" dirty="0">
                <a:solidFill>
                  <a:schemeClr val="bg1"/>
                </a:solidFill>
                <a:latin typeface="Lato"/>
              </a:rPr>
              <a:t>If yes, what does it print?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2F0647-5CFA-3944-B63E-07044C85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71" y="4516990"/>
            <a:ext cx="878147" cy="1188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61A363-1183-C923-74A0-3DCA1342E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181" y="5705071"/>
            <a:ext cx="5642157" cy="3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4724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2DED-8FE1-6C6D-C885-DF48440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Next time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645C1-D089-56D8-BBE8-2066F2F61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/>
              <a:t>Functions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2A8A4-A04B-87EB-96A5-0D70016F124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AE35A7-4268-4D18-9747-F85C64DECA46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D59D-1EC9-D127-B0F3-C57DCB35FD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58604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bg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DBFD8670-388A-45DB-B6D8-A4419426ACB6}" vid="{3722A3BE-AE64-47AA-9AAF-C7F0BEC620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courses</Template>
  <TotalTime>0</TotalTime>
  <Words>6048</Words>
  <Application>Microsoft Office PowerPoint</Application>
  <PresentationFormat>Widescreen</PresentationFormat>
  <Paragraphs>1265</Paragraphs>
  <Slides>166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73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Ownership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Intermission - References</vt:lpstr>
      <vt:lpstr>Borrow Checker</vt:lpstr>
      <vt:lpstr>Borrow Checker</vt:lpstr>
      <vt:lpstr>Borrow Checker</vt:lpstr>
      <vt:lpstr>Borrow Checker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Borrow Checker</vt:lpstr>
      <vt:lpstr>Borrow Checker</vt:lpstr>
      <vt:lpstr>Borrow Checker</vt:lpstr>
      <vt:lpstr>Borrow Checker</vt:lpstr>
      <vt:lpstr>Borrow Checker</vt:lpstr>
      <vt:lpstr>Borrow Checker</vt:lpstr>
      <vt:lpstr>Borrow Checker</vt:lpstr>
      <vt:lpstr>Borrow Checker</vt:lpstr>
      <vt:lpstr>Borrow Checker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Borrow Checker – Lifetimes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Intermission - Exercises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Felix Haupt</dc:creator>
  <cp:lastModifiedBy>Philippe Felix Haupt</cp:lastModifiedBy>
  <cp:revision>108</cp:revision>
  <dcterms:created xsi:type="dcterms:W3CDTF">2024-06-11T08:40:32Z</dcterms:created>
  <dcterms:modified xsi:type="dcterms:W3CDTF">2025-11-11T20:02:00Z</dcterms:modified>
</cp:coreProperties>
</file>