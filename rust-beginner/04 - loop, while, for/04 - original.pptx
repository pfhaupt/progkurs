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5" r:id="rId38"/>
    <p:sldId id="292" r:id="rId39"/>
    <p:sldId id="294" r:id="rId40"/>
    <p:sldId id="293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438" r:id="rId56"/>
    <p:sldId id="439" r:id="rId57"/>
    <p:sldId id="440" r:id="rId58"/>
    <p:sldId id="441" r:id="rId59"/>
    <p:sldId id="442" r:id="rId60"/>
    <p:sldId id="443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426" r:id="rId69"/>
    <p:sldId id="427" r:id="rId70"/>
    <p:sldId id="428" r:id="rId71"/>
    <p:sldId id="429" r:id="rId72"/>
    <p:sldId id="430" r:id="rId73"/>
    <p:sldId id="431" r:id="rId74"/>
    <p:sldId id="433" r:id="rId75"/>
    <p:sldId id="328" r:id="rId76"/>
    <p:sldId id="444" r:id="rId77"/>
    <p:sldId id="445" r:id="rId78"/>
    <p:sldId id="331" r:id="rId79"/>
    <p:sldId id="332" r:id="rId80"/>
    <p:sldId id="316" r:id="rId81"/>
    <p:sldId id="318" r:id="rId82"/>
    <p:sldId id="317" r:id="rId83"/>
    <p:sldId id="319" r:id="rId84"/>
    <p:sldId id="320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446" r:id="rId127"/>
    <p:sldId id="447" r:id="rId128"/>
    <p:sldId id="448" r:id="rId129"/>
    <p:sldId id="378" r:id="rId130"/>
    <p:sldId id="379" r:id="rId131"/>
    <p:sldId id="380" r:id="rId132"/>
    <p:sldId id="381" r:id="rId133"/>
    <p:sldId id="382" r:id="rId134"/>
    <p:sldId id="449" r:id="rId135"/>
    <p:sldId id="384" r:id="rId136"/>
    <p:sldId id="385" r:id="rId137"/>
    <p:sldId id="386" r:id="rId138"/>
    <p:sldId id="387" r:id="rId139"/>
    <p:sldId id="451" r:id="rId140"/>
    <p:sldId id="452" r:id="rId141"/>
    <p:sldId id="453" r:id="rId142"/>
    <p:sldId id="454" r:id="rId143"/>
    <p:sldId id="455" r:id="rId144"/>
    <p:sldId id="456" r:id="rId145"/>
    <p:sldId id="457" r:id="rId146"/>
    <p:sldId id="458" r:id="rId147"/>
    <p:sldId id="459" r:id="rId148"/>
    <p:sldId id="460" r:id="rId149"/>
    <p:sldId id="461" r:id="rId150"/>
    <p:sldId id="462" r:id="rId151"/>
    <p:sldId id="463" r:id="rId152"/>
    <p:sldId id="464" r:id="rId153"/>
    <p:sldId id="465" r:id="rId154"/>
    <p:sldId id="466" r:id="rId155"/>
    <p:sldId id="467" r:id="rId156"/>
    <p:sldId id="468" r:id="rId157"/>
    <p:sldId id="476" r:id="rId158"/>
    <p:sldId id="469" r:id="rId159"/>
    <p:sldId id="470" r:id="rId160"/>
    <p:sldId id="471" r:id="rId161"/>
    <p:sldId id="477" r:id="rId162"/>
    <p:sldId id="472" r:id="rId163"/>
    <p:sldId id="473" r:id="rId164"/>
    <p:sldId id="478" r:id="rId165"/>
    <p:sldId id="474" r:id="rId166"/>
    <p:sldId id="475" r:id="rId167"/>
    <p:sldId id="388" r:id="rId168"/>
    <p:sldId id="389" r:id="rId169"/>
    <p:sldId id="390" r:id="rId170"/>
    <p:sldId id="391" r:id="rId171"/>
    <p:sldId id="392" r:id="rId172"/>
    <p:sldId id="393" r:id="rId173"/>
    <p:sldId id="394" r:id="rId174"/>
    <p:sldId id="395" r:id="rId175"/>
    <p:sldId id="396" r:id="rId176"/>
    <p:sldId id="397" r:id="rId177"/>
    <p:sldId id="398" r:id="rId178"/>
    <p:sldId id="399" r:id="rId179"/>
    <p:sldId id="400" r:id="rId180"/>
    <p:sldId id="401" r:id="rId181"/>
    <p:sldId id="402" r:id="rId182"/>
    <p:sldId id="403" r:id="rId183"/>
    <p:sldId id="404" r:id="rId184"/>
    <p:sldId id="405" r:id="rId185"/>
    <p:sldId id="406" r:id="rId186"/>
    <p:sldId id="434" r:id="rId187"/>
    <p:sldId id="407" r:id="rId188"/>
    <p:sldId id="408" r:id="rId189"/>
    <p:sldId id="409" r:id="rId190"/>
    <p:sldId id="410" r:id="rId191"/>
    <p:sldId id="411" r:id="rId192"/>
    <p:sldId id="412" r:id="rId193"/>
    <p:sldId id="413" r:id="rId194"/>
    <p:sldId id="414" r:id="rId195"/>
    <p:sldId id="415" r:id="rId196"/>
    <p:sldId id="419" r:id="rId197"/>
    <p:sldId id="416" r:id="rId198"/>
    <p:sldId id="417" r:id="rId199"/>
    <p:sldId id="418" r:id="rId200"/>
    <p:sldId id="420" r:id="rId201"/>
    <p:sldId id="435" r:id="rId202"/>
    <p:sldId id="422" r:id="rId203"/>
    <p:sldId id="423" r:id="rId204"/>
    <p:sldId id="425" r:id="rId205"/>
    <p:sldId id="436" r:id="rId206"/>
    <p:sldId id="437" r:id="rId20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B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6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presProps" Target="pres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tableStyles" Target="tableStyle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ato"/>
              </a:defRPr>
            </a:lvl1pPr>
          </a:lstStyle>
          <a:p>
            <a:fld id="{26134E7D-CF16-4CF0-BE8E-6D3F3B0A602F}" type="datetimeFigureOut">
              <a:rPr lang="de-DE" smtClean="0"/>
              <a:pPr/>
              <a:t>04.11.2025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ato"/>
              </a:defRPr>
            </a:lvl1pPr>
          </a:lstStyle>
          <a:p>
            <a:fld id="{690A4C48-769C-49B0-928E-1E63AA77CDE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84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Lat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C4925AFE-7045-4D0C-B4C7-197B04A8CCCE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333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600"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400"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400"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  <a:p>
            <a:pPr lvl="2"/>
            <a:endParaRPr lang="en-US"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6E18E7F3-A8C7-4A95-9196-C5E52C9EABF4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0082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F6194302-4C5A-444F-85AF-71C3F8BFB904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1284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8E3E885C-7E2C-45F0-94D3-DCCC8AFDBA11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029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12F8F75F-6882-4156-A506-137BCBB0E2FE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705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8B336115-0402-4F2E-B2CD-A1C30D5C7D8A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3250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0A053E69-4CA3-4AF0-884A-AB33CB862E66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4910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ED5F945A-060E-41FB-88D8-ADB07E03D7DB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1679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7775B618-0E07-4FF7-BF09-A8DDE36F547F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710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1547273-6BED-496F-8066-660BD08414FA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9868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fld id="{678AB786-F9B5-4F26-B301-8F9FBD116627}" type="datetime1">
              <a:rPr lang="de-DE" smtClean="0"/>
              <a:pPr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32574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80B-A2ED-E6BF-A8E8-BECC7CC53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09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4765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0518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  <a:p>
            <a:pPr>
              <a:buFont typeface="+mj-lt"/>
              <a:buAutoNum type="arabicPeriod"/>
            </a:pPr>
            <a:r>
              <a:rPr lang="de-DE" dirty="0"/>
              <a:t>Loops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8681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1950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in Rust: </a:t>
            </a:r>
            <a:r>
              <a:rPr lang="de-DE" dirty="0">
                <a:solidFill>
                  <a:srgbClr val="FFFF00"/>
                </a:solidFill>
              </a:rPr>
              <a:t>i8, u8, i16, u16, ... , i128, u128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9154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in Rust: </a:t>
            </a:r>
            <a:r>
              <a:rPr lang="de-DE" dirty="0">
                <a:solidFill>
                  <a:srgbClr val="FFFF00"/>
                </a:solidFill>
              </a:rPr>
              <a:t>i8, u8, i16, u16, ... , i128, u128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&lt;name&gt; = ...; </a:t>
            </a:r>
            <a:r>
              <a:rPr lang="de-DE" dirty="0">
                <a:solidFill>
                  <a:schemeClr val="bg1"/>
                </a:solidFill>
              </a:rPr>
              <a:t>to declare an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mut &lt;name&gt; = ...; </a:t>
            </a:r>
            <a:r>
              <a:rPr lang="de-DE" dirty="0">
                <a:solidFill>
                  <a:schemeClr val="bg1"/>
                </a:solidFill>
              </a:rPr>
              <a:t>to declare a mutable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1429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in Rust: </a:t>
            </a:r>
            <a:r>
              <a:rPr lang="de-DE" dirty="0">
                <a:solidFill>
                  <a:srgbClr val="FFFF00"/>
                </a:solidFill>
              </a:rPr>
              <a:t>i8, u8, i16, u16, ... , i128, u128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&lt;name&gt; = ...; </a:t>
            </a:r>
            <a:r>
              <a:rPr lang="de-DE" dirty="0">
                <a:solidFill>
                  <a:schemeClr val="bg1"/>
                </a:solidFill>
              </a:rPr>
              <a:t>to declare an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mut &lt;name&gt; = ...; </a:t>
            </a:r>
            <a:r>
              <a:rPr lang="de-DE" dirty="0">
                <a:solidFill>
                  <a:schemeClr val="bg1"/>
                </a:solidFill>
              </a:rPr>
              <a:t>to declare a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[type; size]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an array with the given type and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Vec&lt;type&gt;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 Vector with the given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1839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in Rust: </a:t>
            </a:r>
            <a:r>
              <a:rPr lang="de-DE" dirty="0">
                <a:solidFill>
                  <a:srgbClr val="FFFF00"/>
                </a:solidFill>
              </a:rPr>
              <a:t>i8, u8, i16, u16, ... , i128, u128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&lt;name&gt; = ...; </a:t>
            </a:r>
            <a:r>
              <a:rPr lang="de-DE" dirty="0">
                <a:solidFill>
                  <a:schemeClr val="bg1"/>
                </a:solidFill>
              </a:rPr>
              <a:t>to declare an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mut &lt;name&gt; = ...; </a:t>
            </a:r>
            <a:r>
              <a:rPr lang="de-DE" dirty="0">
                <a:solidFill>
                  <a:schemeClr val="bg1"/>
                </a:solidFill>
              </a:rPr>
              <a:t>to declare a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[type; size]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an array with the given type and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Vec&lt;type&gt;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 Vector with the given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Elements in Arrays and Vectors always have the same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82525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in Rust: </a:t>
            </a:r>
            <a:r>
              <a:rPr lang="de-DE" dirty="0">
                <a:solidFill>
                  <a:srgbClr val="FFFF00"/>
                </a:solidFill>
              </a:rPr>
              <a:t>i8, u8, i16, u16, ... , i128, u128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&lt;name&gt; = ...; </a:t>
            </a:r>
            <a:r>
              <a:rPr lang="de-DE" dirty="0">
                <a:solidFill>
                  <a:schemeClr val="bg1"/>
                </a:solidFill>
              </a:rPr>
              <a:t>to declare an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mut &lt;name&gt; = ...; </a:t>
            </a:r>
            <a:r>
              <a:rPr lang="de-DE" dirty="0">
                <a:solidFill>
                  <a:schemeClr val="bg1"/>
                </a:solidFill>
              </a:rPr>
              <a:t>to declare a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[type; size]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an array with the given type and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var</a:t>
            </a:r>
            <a:r>
              <a:rPr lang="de-DE" dirty="0">
                <a:solidFill>
                  <a:srgbClr val="00FF00"/>
                </a:solidFill>
              </a:rPr>
              <a:t>: Vec&lt;type&gt; </a:t>
            </a:r>
            <a:r>
              <a:rPr lang="de-DE" dirty="0">
                <a:solidFill>
                  <a:srgbClr val="FFFF00"/>
                </a:solidFill>
              </a:rPr>
              <a:t>= ...;</a:t>
            </a:r>
            <a:r>
              <a:rPr lang="de-DE" dirty="0">
                <a:solidFill>
                  <a:schemeClr val="bg1"/>
                </a:solidFill>
              </a:rPr>
              <a:t> to declare a Vector with the given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Elements in Arrays and Vectors always have the 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fixed size, Vectors are resizable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4050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var[index] </a:t>
            </a:r>
            <a:r>
              <a:rPr lang="de-DE" dirty="0">
                <a:solidFill>
                  <a:schemeClr val="bg1"/>
                </a:solidFill>
              </a:rPr>
              <a:t>to access the element at a given index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var[0]</a:t>
            </a:r>
            <a:r>
              <a:rPr lang="de-DE" dirty="0">
                <a:solidFill>
                  <a:srgbClr val="FFFF00"/>
                </a:solidFill>
              </a:rPr>
              <a:t> = 5; </a:t>
            </a:r>
            <a:r>
              <a:rPr lang="de-DE" dirty="0">
                <a:solidFill>
                  <a:schemeClr val="bg1"/>
                </a:solidFill>
              </a:rPr>
              <a:t>sets the element at index 0 to 5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 x = </a:t>
            </a:r>
            <a:r>
              <a:rPr lang="de-DE" dirty="0">
                <a:solidFill>
                  <a:srgbClr val="00FF00"/>
                </a:solidFill>
              </a:rPr>
              <a:t>var[1]</a:t>
            </a:r>
            <a:r>
              <a:rPr lang="de-DE" dirty="0">
                <a:solidFill>
                  <a:srgbClr val="FFFF00"/>
                </a:solidFill>
              </a:rPr>
              <a:t>; </a:t>
            </a:r>
            <a:r>
              <a:rPr lang="de-DE" dirty="0">
                <a:solidFill>
                  <a:schemeClr val="bg1"/>
                </a:solidFill>
              </a:rPr>
              <a:t>gets the element at index 1 and stores it in 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5218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var[index] </a:t>
            </a:r>
            <a:r>
              <a:rPr lang="de-DE" dirty="0">
                <a:solidFill>
                  <a:schemeClr val="bg1"/>
                </a:solidFill>
              </a:rPr>
              <a:t>to access the element at a given index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zero-indexed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size </a:t>
            </a:r>
            <a:r>
              <a:rPr lang="de-DE" dirty="0">
                <a:solidFill>
                  <a:srgbClr val="FFFF00"/>
                </a:solidFill>
              </a:rPr>
              <a:t>N</a:t>
            </a:r>
            <a:r>
              <a:rPr lang="de-DE" dirty="0">
                <a:solidFill>
                  <a:schemeClr val="bg1"/>
                </a:solidFill>
              </a:rPr>
              <a:t>, indices </a:t>
            </a:r>
            <a:r>
              <a:rPr lang="de-DE" dirty="0">
                <a:solidFill>
                  <a:srgbClr val="00FF00"/>
                </a:solidFill>
              </a:rPr>
              <a:t>0 to N-1 are defined</a:t>
            </a:r>
            <a:r>
              <a:rPr lang="de-DE" dirty="0">
                <a:solidFill>
                  <a:schemeClr val="bg1"/>
                </a:solidFill>
              </a:rPr>
              <a:t>, anything else results in </a:t>
            </a:r>
            <a:r>
              <a:rPr lang="de-DE" dirty="0">
                <a:solidFill>
                  <a:srgbClr val="FF0000"/>
                </a:solidFill>
              </a:rPr>
              <a:t>Out-Of-Bounds panics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425318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var[index] </a:t>
            </a:r>
            <a:r>
              <a:rPr lang="de-DE" dirty="0">
                <a:solidFill>
                  <a:schemeClr val="bg1"/>
                </a:solidFill>
              </a:rPr>
              <a:t>to access the element at a given index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zero-indexed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vec![] </a:t>
            </a:r>
            <a:r>
              <a:rPr lang="de-DE" dirty="0">
                <a:solidFill>
                  <a:schemeClr val="bg1"/>
                </a:solidFill>
              </a:rPr>
              <a:t>is a macro to easily create Vectors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01868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Important to know: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01174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helper methods exist for Arrays and Vectors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name.reverse()</a:t>
            </a:r>
            <a:r>
              <a:rPr lang="de-DE" dirty="0">
                <a:solidFill>
                  <a:schemeClr val="bg1"/>
                </a:solidFill>
              </a:rPr>
              <a:t> reverses the order of elements in </a:t>
            </a:r>
            <a:r>
              <a:rPr lang="de-DE" dirty="0">
                <a:solidFill>
                  <a:srgbClr val="FFFF00"/>
                </a:solidFill>
              </a:rPr>
              <a:t>name</a:t>
            </a:r>
            <a:r>
              <a:rPr lang="de-DE" dirty="0">
                <a:solidFill>
                  <a:schemeClr val="bg1"/>
                </a:solidFill>
              </a:rPr>
              <a:t>, and stores the result in </a:t>
            </a:r>
            <a:r>
              <a:rPr lang="de-DE" dirty="0">
                <a:solidFill>
                  <a:srgbClr val="FFFF00"/>
                </a:solidFill>
              </a:rPr>
              <a:t>name</a:t>
            </a:r>
            <a:r>
              <a:rPr lang="de-DE" dirty="0">
                <a:solidFill>
                  <a:schemeClr val="bg1"/>
                </a:solidFill>
              </a:rPr>
              <a:t> again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vector.pop()</a:t>
            </a:r>
            <a:r>
              <a:rPr lang="de-DE" dirty="0">
                <a:solidFill>
                  <a:schemeClr val="bg1"/>
                </a:solidFill>
              </a:rPr>
              <a:t> removes the </a:t>
            </a:r>
            <a:r>
              <a:rPr lang="de-DE" dirty="0">
                <a:solidFill>
                  <a:srgbClr val="FFFF00"/>
                </a:solidFill>
              </a:rPr>
              <a:t>last element</a:t>
            </a:r>
            <a:r>
              <a:rPr lang="de-DE" dirty="0">
                <a:solidFill>
                  <a:schemeClr val="bg1"/>
                </a:solidFill>
              </a:rPr>
              <a:t> of a Vector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name.len()</a:t>
            </a:r>
            <a:r>
              <a:rPr lang="de-DE" dirty="0">
                <a:solidFill>
                  <a:schemeClr val="bg1"/>
                </a:solidFill>
              </a:rPr>
              <a:t> returns the </a:t>
            </a:r>
            <a:r>
              <a:rPr lang="de-DE" dirty="0">
                <a:solidFill>
                  <a:srgbClr val="FFFF00"/>
                </a:solidFill>
              </a:rPr>
              <a:t>number of elements</a:t>
            </a:r>
            <a:r>
              <a:rPr lang="de-DE" dirty="0">
                <a:solidFill>
                  <a:schemeClr val="bg1"/>
                </a:solidFill>
              </a:rPr>
              <a:t> in your Array/Vector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0463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helper methods exist for Arrays and Vectors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Type Declaration itself is a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9284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FF00C-1B02-4C8A-0959-B13537EC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helper methods exist for Arrays and Vectors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Type Declaration itself is a Type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[i32; 5] </a:t>
            </a:r>
            <a:r>
              <a:rPr lang="de-DE" dirty="0">
                <a:solidFill>
                  <a:schemeClr val="bg1"/>
                </a:solidFill>
              </a:rPr>
              <a:t>is an</a:t>
            </a:r>
            <a:r>
              <a:rPr lang="de-DE" dirty="0">
                <a:solidFill>
                  <a:srgbClr val="00FF00"/>
                </a:solidFill>
              </a:rPr>
              <a:t> Array of i32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[</a:t>
            </a:r>
            <a:r>
              <a:rPr lang="de-DE" dirty="0">
                <a:solidFill>
                  <a:srgbClr val="00FF00"/>
                </a:solidFill>
              </a:rPr>
              <a:t>[i32; 5]</a:t>
            </a:r>
            <a:r>
              <a:rPr lang="de-DE" dirty="0">
                <a:solidFill>
                  <a:srgbClr val="FFFF00"/>
                </a:solidFill>
              </a:rPr>
              <a:t>; 5]</a:t>
            </a:r>
            <a:r>
              <a:rPr lang="de-DE" dirty="0">
                <a:solidFill>
                  <a:schemeClr val="bg1"/>
                </a:solidFill>
              </a:rPr>
              <a:t> is an </a:t>
            </a:r>
            <a:r>
              <a:rPr lang="de-DE" dirty="0">
                <a:solidFill>
                  <a:srgbClr val="FFFF00"/>
                </a:solidFill>
              </a:rPr>
              <a:t>Array of </a:t>
            </a:r>
            <a:r>
              <a:rPr lang="de-DE" dirty="0">
                <a:solidFill>
                  <a:srgbClr val="00FF00"/>
                </a:solidFill>
              </a:rPr>
              <a:t>Arrays of i32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Vec&lt;</a:t>
            </a:r>
            <a:r>
              <a:rPr lang="de-DE" dirty="0">
                <a:solidFill>
                  <a:srgbClr val="00FF00"/>
                </a:solidFill>
              </a:rPr>
              <a:t>[i32; 5]</a:t>
            </a:r>
            <a:r>
              <a:rPr lang="de-DE" dirty="0">
                <a:solidFill>
                  <a:srgbClr val="FFFF00"/>
                </a:solidFill>
              </a:rPr>
              <a:t>&gt; </a:t>
            </a:r>
            <a:r>
              <a:rPr lang="de-DE" dirty="0">
                <a:solidFill>
                  <a:schemeClr val="bg1"/>
                </a:solidFill>
              </a:rPr>
              <a:t>is a </a:t>
            </a:r>
            <a:r>
              <a:rPr lang="de-DE" dirty="0">
                <a:solidFill>
                  <a:srgbClr val="FFFF00"/>
                </a:solidFill>
              </a:rPr>
              <a:t>Vector of </a:t>
            </a:r>
            <a:r>
              <a:rPr lang="de-DE" dirty="0">
                <a:solidFill>
                  <a:srgbClr val="00FF00"/>
                </a:solidFill>
              </a:rPr>
              <a:t>Arrays of i32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[</a:t>
            </a:r>
            <a:r>
              <a:rPr lang="de-DE" dirty="0">
                <a:solidFill>
                  <a:srgbClr val="00FF00"/>
                </a:solidFill>
              </a:rPr>
              <a:t>Vec&lt;i32&gt;</a:t>
            </a:r>
            <a:r>
              <a:rPr lang="de-DE" dirty="0">
                <a:solidFill>
                  <a:srgbClr val="FFFF00"/>
                </a:solidFill>
              </a:rPr>
              <a:t>; 5] </a:t>
            </a:r>
            <a:r>
              <a:rPr lang="de-DE" dirty="0">
                <a:solidFill>
                  <a:schemeClr val="bg1"/>
                </a:solidFill>
              </a:rPr>
              <a:t>is an </a:t>
            </a:r>
            <a:r>
              <a:rPr lang="de-DE" dirty="0">
                <a:solidFill>
                  <a:srgbClr val="FFFF00"/>
                </a:solidFill>
              </a:rPr>
              <a:t>Array of </a:t>
            </a:r>
            <a:r>
              <a:rPr lang="de-DE" dirty="0">
                <a:solidFill>
                  <a:srgbClr val="00FF00"/>
                </a:solidFill>
              </a:rPr>
              <a:t>Vectors of i32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21195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3532D-E54E-BB8D-1DE8-5E9C225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8" y="1546078"/>
            <a:ext cx="9352123" cy="360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9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3532D-E54E-BB8D-1DE8-5E9C225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8" y="1546078"/>
            <a:ext cx="9352123" cy="36031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71BB1E-F545-9150-B7CE-1C35514EAE92}"/>
              </a:ext>
            </a:extLst>
          </p:cNvPr>
          <p:cNvSpPr/>
          <p:nvPr/>
        </p:nvSpPr>
        <p:spPr>
          <a:xfrm>
            <a:off x="4149040" y="4205434"/>
            <a:ext cx="2574016" cy="390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Lato"/>
              </a:rPr>
              <a:t>[5, 6, 7, 8]</a:t>
            </a:r>
          </a:p>
        </p:txBody>
      </p:sp>
    </p:spTree>
    <p:extLst>
      <p:ext uri="{BB962C8B-B14F-4D97-AF65-F5344CB8AC3E}">
        <p14:creationId xmlns:p14="http://schemas.microsoft.com/office/powerpoint/2010/main" val="1694606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3532D-E54E-BB8D-1DE8-5E9C225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8" y="1546078"/>
            <a:ext cx="9352123" cy="36031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71BB1E-F545-9150-B7CE-1C35514EAE92}"/>
              </a:ext>
            </a:extLst>
          </p:cNvPr>
          <p:cNvSpPr/>
          <p:nvPr/>
        </p:nvSpPr>
        <p:spPr>
          <a:xfrm>
            <a:off x="4149040" y="4205434"/>
            <a:ext cx="3162132" cy="390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Lato"/>
              </a:rPr>
              <a:t>[5, 6, 7, 8][2]</a:t>
            </a:r>
          </a:p>
        </p:txBody>
      </p:sp>
    </p:spTree>
    <p:extLst>
      <p:ext uri="{BB962C8B-B14F-4D97-AF65-F5344CB8AC3E}">
        <p14:creationId xmlns:p14="http://schemas.microsoft.com/office/powerpoint/2010/main" val="3654448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3532D-E54E-BB8D-1DE8-5E9C225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8" y="1546078"/>
            <a:ext cx="9352123" cy="36031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71BB1E-F545-9150-B7CE-1C35514EAE92}"/>
              </a:ext>
            </a:extLst>
          </p:cNvPr>
          <p:cNvSpPr/>
          <p:nvPr/>
        </p:nvSpPr>
        <p:spPr>
          <a:xfrm>
            <a:off x="4149040" y="4205434"/>
            <a:ext cx="3162132" cy="390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La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56895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3532D-E54E-BB8D-1DE8-5E9C225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38" y="1546078"/>
            <a:ext cx="9352123" cy="36031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71BB1E-F545-9150-B7CE-1C35514EAE92}"/>
              </a:ext>
            </a:extLst>
          </p:cNvPr>
          <p:cNvSpPr/>
          <p:nvPr/>
        </p:nvSpPr>
        <p:spPr>
          <a:xfrm>
            <a:off x="4149040" y="4205434"/>
            <a:ext cx="3162132" cy="390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Lato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4402C-36F9-7683-7349-ABB76AF9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579" y="5149277"/>
            <a:ext cx="4784754" cy="39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60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Note: I will use Arrays and Vectors interchangeably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23632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16501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F9A62-BC86-A3C6-6D6D-C826FE26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61" y="2478499"/>
            <a:ext cx="8992478" cy="343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42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F9A62-BC86-A3C6-6D6D-C826FE26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61" y="2478499"/>
            <a:ext cx="8992478" cy="3438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7A404-4B9D-2BBA-3E88-DE042D76E31F}"/>
              </a:ext>
            </a:extLst>
          </p:cNvPr>
          <p:cNvSpPr txBox="1"/>
          <p:nvPr/>
        </p:nvSpPr>
        <p:spPr>
          <a:xfrm>
            <a:off x="6795252" y="3723090"/>
            <a:ext cx="3801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happens if we add a 6th element?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8EE2C8-4546-FEB6-3073-2B953B057BCA}"/>
              </a:ext>
            </a:extLst>
          </p:cNvPr>
          <p:cNvCxnSpPr/>
          <p:nvPr/>
        </p:nvCxnSpPr>
        <p:spPr>
          <a:xfrm flipV="1">
            <a:off x="8088613" y="3113794"/>
            <a:ext cx="620342" cy="6203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952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F9A62-BC86-A3C6-6D6D-C826FE26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61" y="2478499"/>
            <a:ext cx="8992478" cy="3438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7A404-4B9D-2BBA-3E88-DE042D76E31F}"/>
              </a:ext>
            </a:extLst>
          </p:cNvPr>
          <p:cNvSpPr txBox="1"/>
          <p:nvPr/>
        </p:nvSpPr>
        <p:spPr>
          <a:xfrm>
            <a:off x="6795252" y="3723090"/>
            <a:ext cx="3801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happens if we add a 6th element?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Write another line, easy!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8EE2C8-4546-FEB6-3073-2B953B057BCA}"/>
              </a:ext>
            </a:extLst>
          </p:cNvPr>
          <p:cNvCxnSpPr/>
          <p:nvPr/>
        </p:nvCxnSpPr>
        <p:spPr>
          <a:xfrm flipV="1">
            <a:off x="8088613" y="3113794"/>
            <a:ext cx="620342" cy="6203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43EC3B-ACA3-AD04-462C-E9A2DEB1213D}"/>
              </a:ext>
            </a:extLst>
          </p:cNvPr>
          <p:cNvCxnSpPr/>
          <p:nvPr/>
        </p:nvCxnSpPr>
        <p:spPr>
          <a:xfrm flipH="1">
            <a:off x="6054375" y="4426985"/>
            <a:ext cx="849949" cy="7573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522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F9A62-BC86-A3C6-6D6D-C826FE265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61" y="2478499"/>
            <a:ext cx="8992478" cy="3438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7A404-4B9D-2BBA-3E88-DE042D76E31F}"/>
              </a:ext>
            </a:extLst>
          </p:cNvPr>
          <p:cNvSpPr txBox="1"/>
          <p:nvPr/>
        </p:nvSpPr>
        <p:spPr>
          <a:xfrm>
            <a:off x="6795252" y="3723090"/>
            <a:ext cx="3801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happens if we add a 6th element?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Write another line, easy!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Now do it for 1000 elements :^)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8EE2C8-4546-FEB6-3073-2B953B057BCA}"/>
              </a:ext>
            </a:extLst>
          </p:cNvPr>
          <p:cNvCxnSpPr/>
          <p:nvPr/>
        </p:nvCxnSpPr>
        <p:spPr>
          <a:xfrm flipV="1">
            <a:off x="8088613" y="3113794"/>
            <a:ext cx="620342" cy="6203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43EC3B-ACA3-AD04-462C-E9A2DEB1213D}"/>
              </a:ext>
            </a:extLst>
          </p:cNvPr>
          <p:cNvCxnSpPr/>
          <p:nvPr/>
        </p:nvCxnSpPr>
        <p:spPr>
          <a:xfrm flipH="1">
            <a:off x="6054375" y="4426985"/>
            <a:ext cx="849949" cy="7573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370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don‘t </a:t>
            </a:r>
            <a:r>
              <a:rPr lang="de-DE"/>
              <a:t>know its size, </a:t>
            </a:r>
            <a:r>
              <a:rPr lang="de-DE" dirty="0"/>
              <a:t>but want to do something for every element in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51315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</a:t>
            </a:r>
            <a:r>
              <a:rPr lang="de-DE"/>
              <a:t>t know its size, </a:t>
            </a:r>
            <a:r>
              <a:rPr lang="de-DE" dirty="0"/>
              <a:t>but want to do something for every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for </a:t>
            </a:r>
            <a:r>
              <a:rPr lang="de-DE"/>
              <a:t>every number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87818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don‘t </a:t>
            </a:r>
            <a:r>
              <a:rPr lang="de-DE"/>
              <a:t>know its size, </a:t>
            </a:r>
            <a:r>
              <a:rPr lang="de-DE" dirty="0"/>
              <a:t>but want to do something for every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</a:t>
            </a:r>
            <a:r>
              <a:rPr lang="de-DE"/>
              <a:t>for every number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For every number below 1000, print the primes :)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449969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don‘t </a:t>
            </a:r>
            <a:r>
              <a:rPr lang="de-DE"/>
              <a:t>know its size, </a:t>
            </a:r>
            <a:r>
              <a:rPr lang="de-DE" dirty="0"/>
              <a:t>but want to do something for every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for </a:t>
            </a:r>
            <a:r>
              <a:rPr lang="de-DE"/>
              <a:t>every number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For every number below 1000, print the primes :)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Play a game of </a:t>
            </a:r>
            <a:r>
              <a:rPr lang="de-DE" dirty="0">
                <a:solidFill>
                  <a:srgbClr val="FFFF00"/>
                </a:solidFill>
              </a:rPr>
              <a:t>FizzBuzz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11221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</a:t>
            </a:r>
            <a:r>
              <a:rPr lang="de-DE"/>
              <a:t>t know its size, </a:t>
            </a:r>
            <a:r>
              <a:rPr lang="de-DE" dirty="0"/>
              <a:t>but want to do something for every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for </a:t>
            </a:r>
            <a:r>
              <a:rPr lang="de-DE"/>
              <a:t>every number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For every number below 1000, print the primes :)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Play a game of </a:t>
            </a:r>
            <a:r>
              <a:rPr lang="de-DE" dirty="0">
                <a:solidFill>
                  <a:srgbClr val="FFFF00"/>
                </a:solidFill>
              </a:rPr>
              <a:t>FizzBuzz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every number below 100: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3, print „Fizz“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5, print „Buzz“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15, print „FizzBuzz“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else print the number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16131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don‘t </a:t>
            </a:r>
            <a:r>
              <a:rPr lang="de-DE"/>
              <a:t>know its size, </a:t>
            </a:r>
            <a:r>
              <a:rPr lang="de-DE" dirty="0"/>
              <a:t>but want to do something </a:t>
            </a:r>
            <a:r>
              <a:rPr lang="de-DE" dirty="0">
                <a:solidFill>
                  <a:srgbClr val="00FF00"/>
                </a:solidFill>
              </a:rPr>
              <a:t>for every</a:t>
            </a:r>
            <a:r>
              <a:rPr lang="de-DE" dirty="0"/>
              <a:t>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</a:t>
            </a:r>
            <a:r>
              <a:rPr lang="de-DE" dirty="0">
                <a:solidFill>
                  <a:srgbClr val="00FF00"/>
                </a:solidFill>
              </a:rPr>
              <a:t>for </a:t>
            </a:r>
            <a:r>
              <a:rPr lang="de-DE">
                <a:solidFill>
                  <a:srgbClr val="00FF00"/>
                </a:solidFill>
              </a:rPr>
              <a:t>every</a:t>
            </a:r>
            <a:r>
              <a:rPr lang="de-DE"/>
              <a:t> number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 every</a:t>
            </a:r>
            <a:r>
              <a:rPr lang="de-DE" dirty="0"/>
              <a:t> number below 1000, print the primes :)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Play a game of </a:t>
            </a:r>
            <a:r>
              <a:rPr lang="de-DE" dirty="0">
                <a:solidFill>
                  <a:srgbClr val="FFFF00"/>
                </a:solidFill>
              </a:rPr>
              <a:t>FizzBuzz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 every</a:t>
            </a:r>
            <a:r>
              <a:rPr lang="de-DE" dirty="0">
                <a:solidFill>
                  <a:schemeClr val="bg1"/>
                </a:solidFill>
              </a:rPr>
              <a:t> number below 100: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3, print „Fizz“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5, print „Buzz“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number is divisible by 15, print „FizzBuzz“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else print the number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F2F7F5-805C-BB00-6B6A-D06A1811DF40}"/>
              </a:ext>
            </a:extLst>
          </p:cNvPr>
          <p:cNvCxnSpPr>
            <a:cxnSpLocks/>
          </p:cNvCxnSpPr>
          <p:nvPr/>
        </p:nvCxnSpPr>
        <p:spPr>
          <a:xfrm flipV="1">
            <a:off x="2988554" y="3738823"/>
            <a:ext cx="648539" cy="5840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DBB005-2017-2D83-EA8D-B1CF44D0CE68}"/>
              </a:ext>
            </a:extLst>
          </p:cNvPr>
          <p:cNvCxnSpPr>
            <a:cxnSpLocks/>
          </p:cNvCxnSpPr>
          <p:nvPr/>
        </p:nvCxnSpPr>
        <p:spPr>
          <a:xfrm flipV="1">
            <a:off x="1804631" y="3216512"/>
            <a:ext cx="1172204" cy="3464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AD111B-1161-449F-69CD-B0B76FEC9D2F}"/>
              </a:ext>
            </a:extLst>
          </p:cNvPr>
          <p:cNvCxnSpPr/>
          <p:nvPr/>
        </p:nvCxnSpPr>
        <p:spPr>
          <a:xfrm flipH="1" flipV="1">
            <a:off x="9681492" y="2963743"/>
            <a:ext cx="624034" cy="9305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A8D5E2-3ADC-2E90-F647-C20156ED2334}"/>
              </a:ext>
            </a:extLst>
          </p:cNvPr>
          <p:cNvCxnSpPr>
            <a:cxnSpLocks/>
          </p:cNvCxnSpPr>
          <p:nvPr/>
        </p:nvCxnSpPr>
        <p:spPr>
          <a:xfrm flipH="1">
            <a:off x="8808227" y="1954901"/>
            <a:ext cx="2014097" cy="5720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380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Writing code that fits a single Vector size is easy, but breaks once you modify its 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don‘</a:t>
            </a:r>
            <a:r>
              <a:rPr lang="de-DE"/>
              <a:t>t know its size, </a:t>
            </a:r>
            <a:r>
              <a:rPr lang="de-DE" dirty="0"/>
              <a:t>but want to do something </a:t>
            </a:r>
            <a:r>
              <a:rPr lang="de-DE" dirty="0">
                <a:solidFill>
                  <a:srgbClr val="00FF00"/>
                </a:solidFill>
              </a:rPr>
              <a:t>for every</a:t>
            </a:r>
            <a:r>
              <a:rPr lang="de-DE" dirty="0"/>
              <a:t> element in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Sometimes you want to go over a range of numbers, and do something </a:t>
            </a:r>
            <a:r>
              <a:rPr lang="de-DE" dirty="0">
                <a:solidFill>
                  <a:srgbClr val="00FF00"/>
                </a:solidFill>
              </a:rPr>
              <a:t>for </a:t>
            </a:r>
            <a:r>
              <a:rPr lang="de-DE">
                <a:solidFill>
                  <a:srgbClr val="00FF00"/>
                </a:solidFill>
              </a:rPr>
              <a:t>every</a:t>
            </a:r>
            <a:r>
              <a:rPr lang="de-DE"/>
              <a:t> number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Need to do any of that? Loops are your friend!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38424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88195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loop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while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for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335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F49A8-ADF8-17FB-A553-167F9E7A2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93" y="2879161"/>
            <a:ext cx="10832414" cy="21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2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2FFB7-BEBF-BDAD-161B-35C558BD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12" y="2823926"/>
            <a:ext cx="10783608" cy="26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45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E71F5E-281D-A8C9-313E-D10D66CCB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3" y="2810002"/>
            <a:ext cx="11491094" cy="170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08031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40993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 server will </a:t>
            </a:r>
            <a:r>
              <a:rPr lang="de-DE" dirty="0">
                <a:solidFill>
                  <a:srgbClr val="FFFF00"/>
                </a:solidFill>
              </a:rPr>
              <a:t>never stop </a:t>
            </a:r>
            <a:r>
              <a:rPr lang="de-DE" dirty="0">
                <a:solidFill>
                  <a:schemeClr val="bg1"/>
                </a:solidFill>
              </a:rPr>
              <a:t>listening to requests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15125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>
                <a:solidFill>
                  <a:schemeClr val="bg1"/>
                </a:solidFill>
              </a:rPr>
              <a:t> if you want to loop based on a condition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46835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>
                <a:solidFill>
                  <a:schemeClr val="bg1"/>
                </a:solidFill>
              </a:rPr>
              <a:t> if you want to loop based on a condition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While there are elements in this set, do 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93407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>
                <a:solidFill>
                  <a:schemeClr val="bg1"/>
                </a:solidFill>
              </a:rPr>
              <a:t> if you want to loop based on a condition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if you want to iterate* over a collection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65186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Loop does exactly what you think it does </a:t>
            </a:r>
            <a:r>
              <a:rPr lang="de-DE" dirty="0">
                <a:sym typeface="Wingdings" panose="05000000000000000000" pitchFamily="2" charset="2"/>
              </a:rPr>
              <a:t> It loops a piece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There are many types of loops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Each type has their own use cases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if you know that your loop never stops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>
                <a:solidFill>
                  <a:schemeClr val="bg1"/>
                </a:solidFill>
              </a:rPr>
              <a:t> if you want to loop based on a condition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if you want to iterate* over a collection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every number in a range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every element in a Vector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every dog in my local park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03010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14731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It‘s also pretty dumb, it can not stop, ever*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116681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It‘s also pretty dumb, it can not stop, ever*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cases include: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43015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It‘s also pretty dumb, it can not stop, ever*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cases include: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don‘t want your code to ever stop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Servers listen to requests 24/7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00650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It‘s also pretty dumb, it can not stop, ever*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cases include: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don‘t want your code to ever stop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Your </a:t>
            </a:r>
            <a:r>
              <a:rPr lang="de-DE" dirty="0">
                <a:solidFill>
                  <a:srgbClr val="FFFF00"/>
                </a:solidFill>
              </a:rPr>
              <a:t>while-condition</a:t>
            </a:r>
            <a:r>
              <a:rPr lang="de-DE" dirty="0">
                <a:solidFill>
                  <a:schemeClr val="bg1"/>
                </a:solidFill>
              </a:rPr>
              <a:t> would be too complex to put in one expression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Instead, you can split it into sub-expressions and test each of them separately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933324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3E3F29-D191-3E00-BC49-2F702D8A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loop</a:t>
            </a:r>
            <a:r>
              <a:rPr lang="de-DE" dirty="0"/>
              <a:t> is the simplest form of loops in Rust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It‘s also pretty dumb, it can not stop, ever*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cases include: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don‘t want your code to ever stop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Your </a:t>
            </a:r>
            <a:r>
              <a:rPr lang="de-DE" dirty="0">
                <a:solidFill>
                  <a:srgbClr val="FFFF00"/>
                </a:solidFill>
              </a:rPr>
              <a:t>while-condition</a:t>
            </a:r>
            <a:r>
              <a:rPr lang="de-DE" dirty="0">
                <a:solidFill>
                  <a:schemeClr val="bg1"/>
                </a:solidFill>
              </a:rPr>
              <a:t> would be too complex to put in one expression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Stress Testing your CPU (simplest way of getting 100% usage)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05097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B34FB-499D-B1D7-6302-E7389D8CE082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1EAA9D-C4E4-DFB1-A592-175AF476E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73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E0403-FD96-737E-AEB0-CC00CD8D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7A70-5F20-20F4-C8C0-B917788F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D8FD-57D0-4AEB-E92D-36BBBCC83E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5226-AC64-B33F-638B-F4BDA81801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BB65F9-9338-7085-83CD-3D34356AA9C6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0E7B3F-0376-8EF6-2852-96791D69C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21E532-A4D3-A5F1-4D7E-8932B0BD3FC4}"/>
              </a:ext>
            </a:extLst>
          </p:cNvPr>
          <p:cNvSpPr/>
          <p:nvPr/>
        </p:nvSpPr>
        <p:spPr>
          <a:xfrm>
            <a:off x="1536104" y="3532726"/>
            <a:ext cx="9119791" cy="181268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BF30A-A4E9-1B53-1FD6-1E1C6EB0AC41}"/>
              </a:ext>
            </a:extLst>
          </p:cNvPr>
          <p:cNvSpPr txBox="1"/>
          <p:nvPr/>
        </p:nvSpPr>
        <p:spPr>
          <a:xfrm>
            <a:off x="4971332" y="5345413"/>
            <a:ext cx="255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Body of the loop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This part gets repeated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974192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47C5-7986-482D-1EC0-664E83F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F8B8-17BE-AB83-B187-633C4063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5B8D-9FCD-9A67-F6CB-5C375B47D34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F5B7B-E686-3D26-6695-DC6237FC8B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1256D-D863-B657-1443-156EC51B5E3E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1B9F59-4AB6-1193-0623-8CE3AC33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7025F8-BC63-8572-77DB-2241EA8ADDF3}"/>
              </a:ext>
            </a:extLst>
          </p:cNvPr>
          <p:cNvSpPr/>
          <p:nvPr/>
        </p:nvSpPr>
        <p:spPr>
          <a:xfrm>
            <a:off x="1244087" y="2420730"/>
            <a:ext cx="1684643" cy="2409074"/>
          </a:xfrm>
          <a:custGeom>
            <a:avLst/>
            <a:gdLst>
              <a:gd name="connsiteX0" fmla="*/ 1531339 w 1531339"/>
              <a:gd name="connsiteY0" fmla="*/ 2332324 h 2332324"/>
              <a:gd name="connsiteX1" fmla="*/ 1354098 w 1531339"/>
              <a:gd name="connsiteY1" fmla="*/ 2320240 h 2332324"/>
              <a:gd name="connsiteX2" fmla="*/ 1269506 w 1531339"/>
              <a:gd name="connsiteY2" fmla="*/ 2312183 h 2332324"/>
              <a:gd name="connsiteX3" fmla="*/ 1124491 w 1531339"/>
              <a:gd name="connsiteY3" fmla="*/ 2300099 h 2332324"/>
              <a:gd name="connsiteX4" fmla="*/ 955307 w 1531339"/>
              <a:gd name="connsiteY4" fmla="*/ 2275930 h 2332324"/>
              <a:gd name="connsiteX5" fmla="*/ 854602 w 1531339"/>
              <a:gd name="connsiteY5" fmla="*/ 2251761 h 2332324"/>
              <a:gd name="connsiteX6" fmla="*/ 741813 w 1531339"/>
              <a:gd name="connsiteY6" fmla="*/ 2231620 h 2332324"/>
              <a:gd name="connsiteX7" fmla="*/ 641108 w 1531339"/>
              <a:gd name="connsiteY7" fmla="*/ 2195366 h 2332324"/>
              <a:gd name="connsiteX8" fmla="*/ 459839 w 1531339"/>
              <a:gd name="connsiteY8" fmla="*/ 2122858 h 2332324"/>
              <a:gd name="connsiteX9" fmla="*/ 435670 w 1531339"/>
              <a:gd name="connsiteY9" fmla="*/ 2110774 h 2332324"/>
              <a:gd name="connsiteX10" fmla="*/ 351078 w 1531339"/>
              <a:gd name="connsiteY10" fmla="*/ 2030210 h 2332324"/>
              <a:gd name="connsiteX11" fmla="*/ 310796 w 1531339"/>
              <a:gd name="connsiteY11" fmla="*/ 1969787 h 2332324"/>
              <a:gd name="connsiteX12" fmla="*/ 226204 w 1531339"/>
              <a:gd name="connsiteY12" fmla="*/ 1861026 h 2332324"/>
              <a:gd name="connsiteX13" fmla="*/ 181894 w 1531339"/>
              <a:gd name="connsiteY13" fmla="*/ 1804631 h 2332324"/>
              <a:gd name="connsiteX14" fmla="*/ 141612 w 1531339"/>
              <a:gd name="connsiteY14" fmla="*/ 1736152 h 2332324"/>
              <a:gd name="connsiteX15" fmla="*/ 105358 w 1531339"/>
              <a:gd name="connsiteY15" fmla="*/ 1655588 h 2332324"/>
              <a:gd name="connsiteX16" fmla="*/ 48963 w 1531339"/>
              <a:gd name="connsiteY16" fmla="*/ 1486404 h 2332324"/>
              <a:gd name="connsiteX17" fmla="*/ 16738 w 1531339"/>
              <a:gd name="connsiteY17" fmla="*/ 1301107 h 2332324"/>
              <a:gd name="connsiteX18" fmla="*/ 8681 w 1531339"/>
              <a:gd name="connsiteY18" fmla="*/ 894259 h 2332324"/>
              <a:gd name="connsiteX19" fmla="*/ 24794 w 1531339"/>
              <a:gd name="connsiteY19" fmla="*/ 833836 h 2332324"/>
              <a:gd name="connsiteX20" fmla="*/ 36879 w 1531339"/>
              <a:gd name="connsiteY20" fmla="*/ 773413 h 2332324"/>
              <a:gd name="connsiteX21" fmla="*/ 77161 w 1531339"/>
              <a:gd name="connsiteY21" fmla="*/ 636455 h 2332324"/>
              <a:gd name="connsiteX22" fmla="*/ 145640 w 1531339"/>
              <a:gd name="connsiteY22" fmla="*/ 447130 h 2332324"/>
              <a:gd name="connsiteX23" fmla="*/ 206063 w 1531339"/>
              <a:gd name="connsiteY23" fmla="*/ 338368 h 2332324"/>
              <a:gd name="connsiteX24" fmla="*/ 250373 w 1531339"/>
              <a:gd name="connsiteY24" fmla="*/ 253776 h 2332324"/>
              <a:gd name="connsiteX25" fmla="*/ 318852 w 1531339"/>
              <a:gd name="connsiteY25" fmla="*/ 169184 h 2332324"/>
              <a:gd name="connsiteX26" fmla="*/ 343021 w 1531339"/>
              <a:gd name="connsiteY26" fmla="*/ 140987 h 2332324"/>
              <a:gd name="connsiteX27" fmla="*/ 395388 w 1531339"/>
              <a:gd name="connsiteY27" fmla="*/ 104733 h 2332324"/>
              <a:gd name="connsiteX28" fmla="*/ 411501 w 1531339"/>
              <a:gd name="connsiteY28" fmla="*/ 88620 h 2332324"/>
              <a:gd name="connsiteX29" fmla="*/ 427613 w 1531339"/>
              <a:gd name="connsiteY29" fmla="*/ 76536 h 2332324"/>
              <a:gd name="connsiteX30" fmla="*/ 439698 w 1531339"/>
              <a:gd name="connsiteY30" fmla="*/ 64451 h 2332324"/>
              <a:gd name="connsiteX31" fmla="*/ 475952 w 1531339"/>
              <a:gd name="connsiteY31" fmla="*/ 36254 h 2332324"/>
              <a:gd name="connsiteX32" fmla="*/ 508177 w 1531339"/>
              <a:gd name="connsiteY32" fmla="*/ 12085 h 2332324"/>
              <a:gd name="connsiteX33" fmla="*/ 524290 w 1531339"/>
              <a:gd name="connsiteY33" fmla="*/ 0 h 2332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531339" h="2332324">
                <a:moveTo>
                  <a:pt x="1531339" y="2332324"/>
                </a:moveTo>
                <a:cubicBezTo>
                  <a:pt x="1457310" y="2317519"/>
                  <a:pt x="1536957" y="2332431"/>
                  <a:pt x="1354098" y="2320240"/>
                </a:cubicBezTo>
                <a:cubicBezTo>
                  <a:pt x="1325836" y="2318356"/>
                  <a:pt x="1297738" y="2314472"/>
                  <a:pt x="1269506" y="2312183"/>
                </a:cubicBezTo>
                <a:cubicBezTo>
                  <a:pt x="1204081" y="2306878"/>
                  <a:pt x="1193923" y="2309787"/>
                  <a:pt x="1124491" y="2300099"/>
                </a:cubicBezTo>
                <a:cubicBezTo>
                  <a:pt x="888285" y="2267140"/>
                  <a:pt x="1159818" y="2297456"/>
                  <a:pt x="955307" y="2275930"/>
                </a:cubicBezTo>
                <a:cubicBezTo>
                  <a:pt x="921739" y="2267874"/>
                  <a:pt x="888403" y="2258776"/>
                  <a:pt x="854602" y="2251761"/>
                </a:cubicBezTo>
                <a:cubicBezTo>
                  <a:pt x="817208" y="2244000"/>
                  <a:pt x="778738" y="2241374"/>
                  <a:pt x="741813" y="2231620"/>
                </a:cubicBezTo>
                <a:cubicBezTo>
                  <a:pt x="707319" y="2222508"/>
                  <a:pt x="674954" y="2206648"/>
                  <a:pt x="641108" y="2195366"/>
                </a:cubicBezTo>
                <a:cubicBezTo>
                  <a:pt x="485979" y="2143656"/>
                  <a:pt x="586726" y="2188839"/>
                  <a:pt x="459839" y="2122858"/>
                </a:cubicBezTo>
                <a:cubicBezTo>
                  <a:pt x="451848" y="2118703"/>
                  <a:pt x="442703" y="2116401"/>
                  <a:pt x="435670" y="2110774"/>
                </a:cubicBezTo>
                <a:cubicBezTo>
                  <a:pt x="395967" y="2079011"/>
                  <a:pt x="384575" y="2073278"/>
                  <a:pt x="351078" y="2030210"/>
                </a:cubicBezTo>
                <a:cubicBezTo>
                  <a:pt x="336217" y="2011103"/>
                  <a:pt x="325171" y="1989263"/>
                  <a:pt x="310796" y="1969787"/>
                </a:cubicBezTo>
                <a:cubicBezTo>
                  <a:pt x="283521" y="1932834"/>
                  <a:pt x="254462" y="1897232"/>
                  <a:pt x="226204" y="1861026"/>
                </a:cubicBezTo>
                <a:cubicBezTo>
                  <a:pt x="211495" y="1842180"/>
                  <a:pt x="194015" y="1825237"/>
                  <a:pt x="181894" y="1804631"/>
                </a:cubicBezTo>
                <a:cubicBezTo>
                  <a:pt x="168467" y="1781805"/>
                  <a:pt x="153709" y="1759710"/>
                  <a:pt x="141612" y="1736152"/>
                </a:cubicBezTo>
                <a:cubicBezTo>
                  <a:pt x="128160" y="1709956"/>
                  <a:pt x="116508" y="1682844"/>
                  <a:pt x="105358" y="1655588"/>
                </a:cubicBezTo>
                <a:cubicBezTo>
                  <a:pt x="78655" y="1590315"/>
                  <a:pt x="64935" y="1552066"/>
                  <a:pt x="48963" y="1486404"/>
                </a:cubicBezTo>
                <a:cubicBezTo>
                  <a:pt x="31028" y="1412671"/>
                  <a:pt x="28618" y="1381303"/>
                  <a:pt x="16738" y="1301107"/>
                </a:cubicBezTo>
                <a:cubicBezTo>
                  <a:pt x="3048" y="1116289"/>
                  <a:pt x="-8625" y="1073084"/>
                  <a:pt x="8681" y="894259"/>
                </a:cubicBezTo>
                <a:cubicBezTo>
                  <a:pt x="10689" y="873511"/>
                  <a:pt x="20057" y="854136"/>
                  <a:pt x="24794" y="833836"/>
                </a:cubicBezTo>
                <a:cubicBezTo>
                  <a:pt x="29461" y="813833"/>
                  <a:pt x="31612" y="793266"/>
                  <a:pt x="36879" y="773413"/>
                </a:cubicBezTo>
                <a:cubicBezTo>
                  <a:pt x="49082" y="727418"/>
                  <a:pt x="63837" y="682138"/>
                  <a:pt x="77161" y="636455"/>
                </a:cubicBezTo>
                <a:cubicBezTo>
                  <a:pt x="98608" y="562922"/>
                  <a:pt x="104980" y="528451"/>
                  <a:pt x="145640" y="447130"/>
                </a:cubicBezTo>
                <a:cubicBezTo>
                  <a:pt x="217639" y="303130"/>
                  <a:pt x="129045" y="476190"/>
                  <a:pt x="206063" y="338368"/>
                </a:cubicBezTo>
                <a:cubicBezTo>
                  <a:pt x="221591" y="310581"/>
                  <a:pt x="231274" y="279241"/>
                  <a:pt x="250373" y="253776"/>
                </a:cubicBezTo>
                <a:cubicBezTo>
                  <a:pt x="287199" y="204675"/>
                  <a:pt x="267678" y="229389"/>
                  <a:pt x="318852" y="169184"/>
                </a:cubicBezTo>
                <a:cubicBezTo>
                  <a:pt x="326869" y="159752"/>
                  <a:pt x="333511" y="148912"/>
                  <a:pt x="343021" y="140987"/>
                </a:cubicBezTo>
                <a:cubicBezTo>
                  <a:pt x="428626" y="69652"/>
                  <a:pt x="303254" y="171741"/>
                  <a:pt x="395388" y="104733"/>
                </a:cubicBezTo>
                <a:cubicBezTo>
                  <a:pt x="401531" y="100265"/>
                  <a:pt x="405785" y="93622"/>
                  <a:pt x="411501" y="88620"/>
                </a:cubicBezTo>
                <a:cubicBezTo>
                  <a:pt x="416553" y="84199"/>
                  <a:pt x="422516" y="80905"/>
                  <a:pt x="427613" y="76536"/>
                </a:cubicBezTo>
                <a:cubicBezTo>
                  <a:pt x="431938" y="72828"/>
                  <a:pt x="435321" y="68098"/>
                  <a:pt x="439698" y="64451"/>
                </a:cubicBezTo>
                <a:cubicBezTo>
                  <a:pt x="451459" y="54650"/>
                  <a:pt x="465127" y="47079"/>
                  <a:pt x="475952" y="36254"/>
                </a:cubicBezTo>
                <a:cubicBezTo>
                  <a:pt x="510801" y="1405"/>
                  <a:pt x="473817" y="34992"/>
                  <a:pt x="508177" y="12085"/>
                </a:cubicBezTo>
                <a:cubicBezTo>
                  <a:pt x="538714" y="-8274"/>
                  <a:pt x="496745" y="13773"/>
                  <a:pt x="524290" y="0"/>
                </a:cubicBezTo>
              </a:path>
            </a:pathLst>
          </a:custGeom>
          <a:noFill/>
          <a:ln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71B8-9ED6-B824-3CBF-9930D6F106EF}"/>
              </a:ext>
            </a:extLst>
          </p:cNvPr>
          <p:cNvSpPr txBox="1"/>
          <p:nvPr/>
        </p:nvSpPr>
        <p:spPr>
          <a:xfrm>
            <a:off x="1316382" y="3571296"/>
            <a:ext cx="1391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increments this variable</a:t>
            </a:r>
          </a:p>
        </p:txBody>
      </p:sp>
    </p:spTree>
    <p:extLst>
      <p:ext uri="{BB962C8B-B14F-4D97-AF65-F5344CB8AC3E}">
        <p14:creationId xmlns:p14="http://schemas.microsoft.com/office/powerpoint/2010/main" val="2625137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858F-EB9D-7053-73D3-ED829439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D571-F33B-E8DE-8DDD-0285D149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9F5E-B186-D231-819C-161F20228F1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B357-DDC1-52F3-7C5D-B7AED4B17D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2D7AF-364F-8C68-772A-76CB9BCD5FF7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EF6A7B-0E8C-9D9E-F06A-AC8B4740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3AF80-7340-A86B-AE25-789AF02E0D2D}"/>
              </a:ext>
            </a:extLst>
          </p:cNvPr>
          <p:cNvSpPr/>
          <p:nvPr/>
        </p:nvSpPr>
        <p:spPr>
          <a:xfrm>
            <a:off x="2884187" y="4488070"/>
            <a:ext cx="7158100" cy="8437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CB343-0BD4-8327-0BE1-E4AFD8DEF86E}"/>
              </a:ext>
            </a:extLst>
          </p:cNvPr>
          <p:cNvSpPr txBox="1"/>
          <p:nvPr/>
        </p:nvSpPr>
        <p:spPr>
          <a:xfrm>
            <a:off x="4671721" y="5331791"/>
            <a:ext cx="4079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Debug mode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Crash once number is 127</a:t>
            </a:r>
          </a:p>
        </p:txBody>
      </p:sp>
    </p:spTree>
    <p:extLst>
      <p:ext uri="{BB962C8B-B14F-4D97-AF65-F5344CB8AC3E}">
        <p14:creationId xmlns:p14="http://schemas.microsoft.com/office/powerpoint/2010/main" val="29178647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E5B3-70A6-036A-9714-97113D5C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2D8C-0E96-FA5A-0994-A9D5AC3C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33001-8B43-DE2C-F93F-800C74EA0AF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2CA6-37DB-DC1D-6AAA-4EE1261573D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85240-971E-545A-4A93-33CCB7EAE708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B6AF80-F899-BDDF-09D5-CFFC0312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EF6185-87AA-9B61-D716-29333BB936A1}"/>
              </a:ext>
            </a:extLst>
          </p:cNvPr>
          <p:cNvSpPr/>
          <p:nvPr/>
        </p:nvSpPr>
        <p:spPr>
          <a:xfrm>
            <a:off x="2884187" y="4488070"/>
            <a:ext cx="7158100" cy="8437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102FB-DE83-48CA-2EF8-44A3AA4C071B}"/>
              </a:ext>
            </a:extLst>
          </p:cNvPr>
          <p:cNvSpPr txBox="1"/>
          <p:nvPr/>
        </p:nvSpPr>
        <p:spPr>
          <a:xfrm>
            <a:off x="4671721" y="5331791"/>
            <a:ext cx="40799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Debug mode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Crash once number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is 127</a:t>
            </a:r>
            <a:b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Why?</a:t>
            </a:r>
            <a:endParaRPr lang="de-DE" sz="1600" dirty="0">
              <a:solidFill>
                <a:schemeClr val="bg1"/>
              </a:solidFill>
              <a:latin typeface="Lato"/>
              <a:sym typeface="Wingdings" panose="05000000000000000000" pitchFamily="2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E1CE9-A6B9-80DF-424A-E24666EE5999}"/>
              </a:ext>
            </a:extLst>
          </p:cNvPr>
          <p:cNvSpPr/>
          <p:nvPr/>
        </p:nvSpPr>
        <p:spPr>
          <a:xfrm>
            <a:off x="4075549" y="5392954"/>
            <a:ext cx="596172" cy="307777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>
                <a:solidFill>
                  <a:schemeClr val="tx1"/>
                </a:solidFill>
                <a:latin typeface="Lato"/>
              </a:rPr>
              <a:t>0/3</a:t>
            </a:r>
          </a:p>
        </p:txBody>
      </p:sp>
    </p:spTree>
    <p:extLst>
      <p:ext uri="{BB962C8B-B14F-4D97-AF65-F5344CB8AC3E}">
        <p14:creationId xmlns:p14="http://schemas.microsoft.com/office/powerpoint/2010/main" val="35104422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D7B5-D512-1592-936A-D7772F7D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ADFB-B255-25E1-8CE8-04147165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44D28-3830-F47B-01B2-C19F1221379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5B00E-7862-7EB2-7914-3204270D5B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17704-3E82-20FB-0D38-C44BD83555BB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B1D25D-3F8C-D90E-6B8D-A7C88FAD1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A499AE-6982-9906-F6D1-8207E38BD945}"/>
              </a:ext>
            </a:extLst>
          </p:cNvPr>
          <p:cNvSpPr/>
          <p:nvPr/>
        </p:nvSpPr>
        <p:spPr>
          <a:xfrm>
            <a:off x="2884187" y="4488070"/>
            <a:ext cx="7158100" cy="8437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B3B2BE-6A35-D06E-CA4D-CFC8C5CEF36D}"/>
              </a:ext>
            </a:extLst>
          </p:cNvPr>
          <p:cNvSpPr txBox="1"/>
          <p:nvPr/>
        </p:nvSpPr>
        <p:spPr>
          <a:xfrm>
            <a:off x="4671721" y="5331791"/>
            <a:ext cx="4079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Debug mode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Crash once number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is 127</a:t>
            </a:r>
            <a:b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Why?</a:t>
            </a:r>
          </a:p>
          <a:p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i8 can only </a:t>
            </a:r>
            <a:r>
              <a:rPr lang="de-DE" sz="160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store up to 127, Overflow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E8CDA-B80C-7E9C-EE0E-75DAA05F8825}"/>
              </a:ext>
            </a:extLst>
          </p:cNvPr>
          <p:cNvSpPr/>
          <p:nvPr/>
        </p:nvSpPr>
        <p:spPr>
          <a:xfrm>
            <a:off x="4075549" y="5392954"/>
            <a:ext cx="596172" cy="307777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>
                <a:solidFill>
                  <a:schemeClr val="tx1"/>
                </a:solidFill>
                <a:latin typeface="Lato"/>
              </a:rPr>
              <a:t>0/3</a:t>
            </a:r>
          </a:p>
        </p:txBody>
      </p:sp>
    </p:spTree>
    <p:extLst>
      <p:ext uri="{BB962C8B-B14F-4D97-AF65-F5344CB8AC3E}">
        <p14:creationId xmlns:p14="http://schemas.microsoft.com/office/powerpoint/2010/main" val="26700677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B4D5-E56E-567F-6D1B-7C313C75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7C2A-5DA8-32A4-8747-CB9CC978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3A3D-6C99-AEF7-3350-A778E67057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3CFC9-4E2A-FD49-B373-B691803D5AE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A2A981-2EA9-4F9A-F167-D3EAE0BA627D}"/>
              </a:ext>
            </a:extLst>
          </p:cNvPr>
          <p:cNvSpPr txBox="1"/>
          <p:nvPr/>
        </p:nvSpPr>
        <p:spPr>
          <a:xfrm>
            <a:off x="1536104" y="1556355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AE8141-C3E9-5B84-49E0-20C2F3FD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04" y="1894909"/>
            <a:ext cx="9119791" cy="42055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97EEEF-0900-4D1C-A031-8E77D8A2826D}"/>
              </a:ext>
            </a:extLst>
          </p:cNvPr>
          <p:cNvSpPr/>
          <p:nvPr/>
        </p:nvSpPr>
        <p:spPr>
          <a:xfrm>
            <a:off x="2884187" y="4488070"/>
            <a:ext cx="7158100" cy="8437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A774C-D8E2-2097-3780-951407AF694A}"/>
              </a:ext>
            </a:extLst>
          </p:cNvPr>
          <p:cNvSpPr txBox="1"/>
          <p:nvPr/>
        </p:nvSpPr>
        <p:spPr>
          <a:xfrm>
            <a:off x="4671721" y="5331791"/>
            <a:ext cx="4240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Debug mode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Crash once number is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127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Release mode  Wrap to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-128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and continue</a:t>
            </a:r>
            <a:endParaRPr lang="de-DE" sz="1600" dirty="0">
              <a:solidFill>
                <a:srgbClr val="FF0000"/>
              </a:solidFill>
              <a:latin typeface="Lato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231396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/>
              <a:t> is the advanced version of </a:t>
            </a:r>
            <a:r>
              <a:rPr lang="de-DE" dirty="0">
                <a:solidFill>
                  <a:srgbClr val="FFFF00"/>
                </a:solidFill>
              </a:rPr>
              <a:t>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757720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while</a:t>
            </a:r>
            <a:r>
              <a:rPr lang="de-DE" dirty="0"/>
              <a:t> is the advanced version of </a:t>
            </a:r>
            <a:r>
              <a:rPr lang="de-DE" dirty="0">
                <a:solidFill>
                  <a:srgbClr val="FFFF00"/>
                </a:solidFill>
              </a:rPr>
              <a:t>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whereas </a:t>
            </a:r>
            <a:r>
              <a:rPr lang="de-DE" dirty="0">
                <a:solidFill>
                  <a:srgbClr val="FFFF00"/>
                </a:solidFill>
              </a:rPr>
              <a:t>loop</a:t>
            </a:r>
            <a:r>
              <a:rPr lang="de-DE" dirty="0">
                <a:solidFill>
                  <a:schemeClr val="bg1"/>
                </a:solidFill>
              </a:rPr>
              <a:t> loops forever, </a:t>
            </a:r>
            <a:r>
              <a:rPr lang="de-DE" dirty="0">
                <a:solidFill>
                  <a:srgbClr val="FFFF00"/>
                </a:solidFill>
              </a:rPr>
              <a:t>while</a:t>
            </a:r>
            <a:r>
              <a:rPr lang="de-DE" dirty="0">
                <a:solidFill>
                  <a:schemeClr val="bg1"/>
                </a:solidFill>
              </a:rPr>
              <a:t> stops once a </a:t>
            </a:r>
            <a:r>
              <a:rPr lang="de-DE" dirty="0">
                <a:solidFill>
                  <a:srgbClr val="00FF00"/>
                </a:solidFill>
              </a:rPr>
              <a:t>condition is no longer satisfied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84551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Conditions </a:t>
            </a:r>
            <a:r>
              <a:rPr lang="de-DE" dirty="0">
                <a:solidFill>
                  <a:schemeClr val="bg1"/>
                </a:solidFill>
              </a:rPr>
              <a:t>are expressions which return a</a:t>
            </a:r>
            <a:r>
              <a:rPr lang="de-DE" dirty="0">
                <a:solidFill>
                  <a:srgbClr val="00FF00"/>
                </a:solidFill>
              </a:rPr>
              <a:t> boolean (either true or false)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545525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9B52-8CA0-FBA4-6261-C5C5ACB4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6" y="1407852"/>
            <a:ext cx="10351868" cy="42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005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9B52-8CA0-FBA4-6261-C5C5ACB4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6" y="1407852"/>
            <a:ext cx="10351868" cy="42759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920E9A-6A3B-F6CD-68A7-F573D3250588}"/>
              </a:ext>
            </a:extLst>
          </p:cNvPr>
          <p:cNvSpPr/>
          <p:nvPr/>
        </p:nvSpPr>
        <p:spPr>
          <a:xfrm>
            <a:off x="6175221" y="2376633"/>
            <a:ext cx="1236656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CCFC1-5712-FA82-90ED-53E5624E880E}"/>
              </a:ext>
            </a:extLst>
          </p:cNvPr>
          <p:cNvSpPr/>
          <p:nvPr/>
        </p:nvSpPr>
        <p:spPr>
          <a:xfrm>
            <a:off x="7753601" y="2867401"/>
            <a:ext cx="1236656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D3645-63D6-CB6E-78C4-06CEF5321786}"/>
              </a:ext>
            </a:extLst>
          </p:cNvPr>
          <p:cNvSpPr/>
          <p:nvPr/>
        </p:nvSpPr>
        <p:spPr>
          <a:xfrm>
            <a:off x="7331312" y="3362533"/>
            <a:ext cx="1086941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EF00F8-419C-C9A9-A657-258538F3E627}"/>
              </a:ext>
            </a:extLst>
          </p:cNvPr>
          <p:cNvSpPr/>
          <p:nvPr/>
        </p:nvSpPr>
        <p:spPr>
          <a:xfrm>
            <a:off x="9115131" y="3842224"/>
            <a:ext cx="1236656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A8A2AD-F9F9-FB6E-8F07-3E94CB5832EE}"/>
              </a:ext>
            </a:extLst>
          </p:cNvPr>
          <p:cNvSpPr/>
          <p:nvPr/>
        </p:nvSpPr>
        <p:spPr>
          <a:xfrm>
            <a:off x="7915400" y="4339873"/>
            <a:ext cx="1042631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9DB50-9E31-9B09-73A8-704ADDD847EF}"/>
              </a:ext>
            </a:extLst>
          </p:cNvPr>
          <p:cNvSpPr/>
          <p:nvPr/>
        </p:nvSpPr>
        <p:spPr>
          <a:xfrm>
            <a:off x="9695191" y="4829131"/>
            <a:ext cx="1236656" cy="36656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E3810-95DB-DE5B-CD31-3527BEC02788}"/>
              </a:ext>
            </a:extLst>
          </p:cNvPr>
          <p:cNvSpPr/>
          <p:nvPr/>
        </p:nvSpPr>
        <p:spPr>
          <a:xfrm>
            <a:off x="6750581" y="5296932"/>
            <a:ext cx="2944609" cy="38685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F7DB6-57BD-7C49-6F07-ED4140A55F6C}"/>
              </a:ext>
            </a:extLst>
          </p:cNvPr>
          <p:cNvSpPr txBox="1"/>
          <p:nvPr/>
        </p:nvSpPr>
        <p:spPr>
          <a:xfrm>
            <a:off x="7625371" y="1932248"/>
            <a:ext cx="3642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Those expressions return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true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or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5800351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9B52-8CA0-FBA4-6261-C5C5ACB4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6" y="1407852"/>
            <a:ext cx="10351868" cy="42759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BF5E548-1DF6-9ED3-55BA-D2DA2E8138B4}"/>
              </a:ext>
            </a:extLst>
          </p:cNvPr>
          <p:cNvSpPr/>
          <p:nvPr/>
        </p:nvSpPr>
        <p:spPr>
          <a:xfrm>
            <a:off x="5502513" y="1659616"/>
            <a:ext cx="644511" cy="37462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A1AF5-FD32-F0D0-EEA3-8F6B73B0E69B}"/>
              </a:ext>
            </a:extLst>
          </p:cNvPr>
          <p:cNvSpPr txBox="1"/>
          <p:nvPr/>
        </p:nvSpPr>
        <p:spPr>
          <a:xfrm>
            <a:off x="6147024" y="1677650"/>
            <a:ext cx="3073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the program output?</a:t>
            </a:r>
          </a:p>
        </p:txBody>
      </p:sp>
    </p:spTree>
    <p:extLst>
      <p:ext uri="{BB962C8B-B14F-4D97-AF65-F5344CB8AC3E}">
        <p14:creationId xmlns:p14="http://schemas.microsoft.com/office/powerpoint/2010/main" val="3253337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9B52-8CA0-FBA4-6261-C5C5ACB4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99" y="3313189"/>
            <a:ext cx="6324245" cy="2612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EA9C0-92EF-48DC-35AD-91FED99E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680" y="1530714"/>
            <a:ext cx="6104639" cy="233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21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359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22A60C-1B7A-FC8B-2F42-CFA7681C9E50}"/>
              </a:ext>
            </a:extLst>
          </p:cNvPr>
          <p:cNvSpPr/>
          <p:nvPr/>
        </p:nvSpPr>
        <p:spPr>
          <a:xfrm>
            <a:off x="2209800" y="2513593"/>
            <a:ext cx="417271" cy="44310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89BBE-FBD0-E977-FC7B-9B8B51473EA4}"/>
              </a:ext>
            </a:extLst>
          </p:cNvPr>
          <p:cNvSpPr txBox="1"/>
          <p:nvPr/>
        </p:nvSpPr>
        <p:spPr>
          <a:xfrm>
            <a:off x="5409864" y="1953675"/>
            <a:ext cx="4496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if-expression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if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the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condition is true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do the thing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 the block</a:t>
            </a:r>
          </a:p>
        </p:txBody>
      </p:sp>
    </p:spTree>
    <p:extLst>
      <p:ext uri="{BB962C8B-B14F-4D97-AF65-F5344CB8AC3E}">
        <p14:creationId xmlns:p14="http://schemas.microsoft.com/office/powerpoint/2010/main" val="6377307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22A60C-1B7A-FC8B-2F42-CFA7681C9E50}"/>
              </a:ext>
            </a:extLst>
          </p:cNvPr>
          <p:cNvSpPr/>
          <p:nvPr/>
        </p:nvSpPr>
        <p:spPr>
          <a:xfrm>
            <a:off x="2564281" y="3484388"/>
            <a:ext cx="799261" cy="38771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1479E-B02F-EBB6-7B23-12E4A753794F}"/>
              </a:ext>
            </a:extLst>
          </p:cNvPr>
          <p:cNvSpPr txBox="1"/>
          <p:nvPr/>
        </p:nvSpPr>
        <p:spPr>
          <a:xfrm>
            <a:off x="5409864" y="1953675"/>
            <a:ext cx="44967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if-expression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if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the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condition is true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do the thing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 the block</a:t>
            </a:r>
          </a:p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else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do the thing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in the other block</a:t>
            </a:r>
          </a:p>
        </p:txBody>
      </p:sp>
    </p:spTree>
    <p:extLst>
      <p:ext uri="{BB962C8B-B14F-4D97-AF65-F5344CB8AC3E}">
        <p14:creationId xmlns:p14="http://schemas.microsoft.com/office/powerpoint/2010/main" val="36833735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22A60C-1B7A-FC8B-2F42-CFA7681C9E50}"/>
              </a:ext>
            </a:extLst>
          </p:cNvPr>
          <p:cNvSpPr/>
          <p:nvPr/>
        </p:nvSpPr>
        <p:spPr>
          <a:xfrm>
            <a:off x="2209800" y="4890228"/>
            <a:ext cx="6261492" cy="135145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1479E-B02F-EBB6-7B23-12E4A753794F}"/>
              </a:ext>
            </a:extLst>
          </p:cNvPr>
          <p:cNvSpPr txBox="1"/>
          <p:nvPr/>
        </p:nvSpPr>
        <p:spPr>
          <a:xfrm>
            <a:off x="3838398" y="4525119"/>
            <a:ext cx="5891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else is optional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simply do nothing if the condition is false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755541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E6BF8D-9586-0DAA-A1AC-04676F7EBF28}"/>
              </a:ext>
            </a:extLst>
          </p:cNvPr>
          <p:cNvSpPr/>
          <p:nvPr/>
        </p:nvSpPr>
        <p:spPr>
          <a:xfrm>
            <a:off x="1652004" y="1617276"/>
            <a:ext cx="557796" cy="40281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0299B-C45A-8A12-E441-AB71349118E1}"/>
              </a:ext>
            </a:extLst>
          </p:cNvPr>
          <p:cNvSpPr txBox="1"/>
          <p:nvPr/>
        </p:nvSpPr>
        <p:spPr>
          <a:xfrm>
            <a:off x="7077104" y="1617276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the program print?</a:t>
            </a:r>
          </a:p>
        </p:txBody>
      </p:sp>
    </p:spTree>
    <p:extLst>
      <p:ext uri="{BB962C8B-B14F-4D97-AF65-F5344CB8AC3E}">
        <p14:creationId xmlns:p14="http://schemas.microsoft.com/office/powerpoint/2010/main" val="22526575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E6BF8D-9586-0DAA-A1AC-04676F7EBF28}"/>
              </a:ext>
            </a:extLst>
          </p:cNvPr>
          <p:cNvSpPr/>
          <p:nvPr/>
        </p:nvSpPr>
        <p:spPr>
          <a:xfrm>
            <a:off x="1652004" y="1617276"/>
            <a:ext cx="557796" cy="40281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0299B-C45A-8A12-E441-AB71349118E1}"/>
              </a:ext>
            </a:extLst>
          </p:cNvPr>
          <p:cNvSpPr txBox="1"/>
          <p:nvPr/>
        </p:nvSpPr>
        <p:spPr>
          <a:xfrm>
            <a:off x="7077104" y="1617276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the program print?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BAB7F-54B5-41AA-E57F-AD8B30B9499A}"/>
              </a:ext>
            </a:extLst>
          </p:cNvPr>
          <p:cNvSpPr/>
          <p:nvPr/>
        </p:nvSpPr>
        <p:spPr>
          <a:xfrm>
            <a:off x="2771397" y="2509564"/>
            <a:ext cx="994964" cy="426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true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A417-F025-0AB8-367C-8F7D67F85892}"/>
              </a:ext>
            </a:extLst>
          </p:cNvPr>
          <p:cNvSpPr/>
          <p:nvPr/>
        </p:nvSpPr>
        <p:spPr>
          <a:xfrm>
            <a:off x="2771397" y="4857329"/>
            <a:ext cx="1196374" cy="426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058620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FC52A1-1BA6-6134-9DC7-5C2B1BF5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0" y="1620554"/>
            <a:ext cx="7765720" cy="46211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E6BF8D-9586-0DAA-A1AC-04676F7EBF28}"/>
              </a:ext>
            </a:extLst>
          </p:cNvPr>
          <p:cNvSpPr/>
          <p:nvPr/>
        </p:nvSpPr>
        <p:spPr>
          <a:xfrm>
            <a:off x="1652004" y="1617276"/>
            <a:ext cx="557796" cy="40281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BAB7F-54B5-41AA-E57F-AD8B30B9499A}"/>
              </a:ext>
            </a:extLst>
          </p:cNvPr>
          <p:cNvSpPr/>
          <p:nvPr/>
        </p:nvSpPr>
        <p:spPr>
          <a:xfrm>
            <a:off x="2771397" y="2509564"/>
            <a:ext cx="994964" cy="426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true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A417-F025-0AB8-367C-8F7D67F85892}"/>
              </a:ext>
            </a:extLst>
          </p:cNvPr>
          <p:cNvSpPr/>
          <p:nvPr/>
        </p:nvSpPr>
        <p:spPr>
          <a:xfrm>
            <a:off x="2771397" y="4857329"/>
            <a:ext cx="1196374" cy="426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3581D-0325-0BE2-E192-0D4705B5010E}"/>
              </a:ext>
            </a:extLst>
          </p:cNvPr>
          <p:cNvSpPr txBox="1"/>
          <p:nvPr/>
        </p:nvSpPr>
        <p:spPr>
          <a:xfrm>
            <a:off x="6328292" y="1278722"/>
            <a:ext cx="2961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We only get one line of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93E83A-8379-5F2F-C6AD-FC431D905E46}"/>
              </a:ext>
            </a:extLst>
          </p:cNvPr>
          <p:cNvSpPr/>
          <p:nvPr/>
        </p:nvSpPr>
        <p:spPr>
          <a:xfrm>
            <a:off x="2209800" y="2481367"/>
            <a:ext cx="7765720" cy="9476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8B94B2-F28D-82B9-3FDA-7E11A942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92" y="1617276"/>
            <a:ext cx="3650567" cy="14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14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0AC09-E714-4C41-40E4-7F273B6D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8" y="2199395"/>
            <a:ext cx="10821304" cy="3590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CF6432-BA78-059B-E3B8-79EF1F39A7A2}"/>
              </a:ext>
            </a:extLst>
          </p:cNvPr>
          <p:cNvSpPr txBox="1"/>
          <p:nvPr/>
        </p:nvSpPr>
        <p:spPr>
          <a:xfrm>
            <a:off x="685348" y="1860841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29931094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6B8F-9B90-8B8B-B2C9-349EEFE2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FC8D-2419-9286-D004-E520DC8D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2F8C5-036A-0B82-61C5-373B60CD40D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C28AD-5AC3-B17F-5870-B43F7DCF00C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21904-BD5C-C27C-21C8-9B1040F6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8" y="2199395"/>
            <a:ext cx="10821304" cy="3590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D9BC3F-A7CA-D856-7F9E-7E4BC25B87C3}"/>
              </a:ext>
            </a:extLst>
          </p:cNvPr>
          <p:cNvSpPr txBox="1"/>
          <p:nvPr/>
        </p:nvSpPr>
        <p:spPr>
          <a:xfrm>
            <a:off x="685348" y="1860841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6DE8CC-4E5B-9B08-3D34-F28272FCD9DC}"/>
              </a:ext>
            </a:extLst>
          </p:cNvPr>
          <p:cNvSpPr/>
          <p:nvPr/>
        </p:nvSpPr>
        <p:spPr>
          <a:xfrm>
            <a:off x="2070492" y="2783482"/>
            <a:ext cx="2872102" cy="60422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D872B-F103-FC36-6CF4-65F3E298F84D}"/>
              </a:ext>
            </a:extLst>
          </p:cNvPr>
          <p:cNvSpPr txBox="1"/>
          <p:nvPr/>
        </p:nvSpPr>
        <p:spPr>
          <a:xfrm>
            <a:off x="5371123" y="2614205"/>
            <a:ext cx="5460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while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condition is true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(number is smaller than 10),</a:t>
            </a:r>
          </a:p>
        </p:txBody>
      </p:sp>
    </p:spTree>
    <p:extLst>
      <p:ext uri="{BB962C8B-B14F-4D97-AF65-F5344CB8AC3E}">
        <p14:creationId xmlns:p14="http://schemas.microsoft.com/office/powerpoint/2010/main" val="30590479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DE820-D880-2BE5-D9F6-AD9DF7D7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B4DF-6333-7B99-E418-D981B7A2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992BF-1E99-FFC6-D13D-045D28B6AB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E3116-84CF-50FE-A4B6-C608C982305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5D7325-924B-0669-0BCD-D94F1AC9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8" y="2199395"/>
            <a:ext cx="10821304" cy="3590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104807-FAD6-1D93-B7E1-47207E4205D0}"/>
              </a:ext>
            </a:extLst>
          </p:cNvPr>
          <p:cNvSpPr txBox="1"/>
          <p:nvPr/>
        </p:nvSpPr>
        <p:spPr>
          <a:xfrm>
            <a:off x="685348" y="1860841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CF5CC0-2A83-0414-6A7A-0677D6D140E3}"/>
              </a:ext>
            </a:extLst>
          </p:cNvPr>
          <p:cNvSpPr/>
          <p:nvPr/>
        </p:nvSpPr>
        <p:spPr>
          <a:xfrm>
            <a:off x="2070492" y="2783482"/>
            <a:ext cx="2872102" cy="60422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6E823-1877-CBC7-947A-15BAD1BEE096}"/>
              </a:ext>
            </a:extLst>
          </p:cNvPr>
          <p:cNvSpPr txBox="1"/>
          <p:nvPr/>
        </p:nvSpPr>
        <p:spPr>
          <a:xfrm>
            <a:off x="5371123" y="2614205"/>
            <a:ext cx="5129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while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condition is true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(number is smaller than </a:t>
            </a:r>
            <a:r>
              <a:rPr lang="de-DE" sz="1600">
                <a:solidFill>
                  <a:schemeClr val="bg1"/>
                </a:solidFill>
                <a:latin typeface="Lato"/>
              </a:rPr>
              <a:t>10),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do the things </a:t>
            </a:r>
            <a:r>
              <a:rPr lang="de-DE" sz="1600">
                <a:solidFill>
                  <a:schemeClr val="bg1"/>
                </a:solidFill>
                <a:latin typeface="Lato"/>
              </a:rPr>
              <a:t>in the block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91A8A7-E3AA-BE7B-EC9A-32BB2ED6B91E}"/>
              </a:ext>
            </a:extLst>
          </p:cNvPr>
          <p:cNvSpPr/>
          <p:nvPr/>
        </p:nvSpPr>
        <p:spPr>
          <a:xfrm>
            <a:off x="1655588" y="3387711"/>
            <a:ext cx="7653568" cy="12708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93638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0AC09-E714-4C41-40E4-7F273B6D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8" y="3113037"/>
            <a:ext cx="8067917" cy="2677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B20D58-B9A1-9CDC-50EB-7A783075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25" y="624661"/>
            <a:ext cx="3431350" cy="3149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3A6959-63CA-2F8B-AA0C-89C8926DB2B6}"/>
              </a:ext>
            </a:extLst>
          </p:cNvPr>
          <p:cNvSpPr txBox="1"/>
          <p:nvPr/>
        </p:nvSpPr>
        <p:spPr>
          <a:xfrm>
            <a:off x="685348" y="1860841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8083868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0AC09-E714-4C41-40E4-7F273B6D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8" y="3113037"/>
            <a:ext cx="8067917" cy="2677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B20D58-B9A1-9CDC-50EB-7A783075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25" y="624661"/>
            <a:ext cx="3431350" cy="3149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CFBB42-1227-055C-91C7-85892E642826}"/>
              </a:ext>
            </a:extLst>
          </p:cNvPr>
          <p:cNvSpPr txBox="1"/>
          <p:nvPr/>
        </p:nvSpPr>
        <p:spPr>
          <a:xfrm>
            <a:off x="3674619" y="1894478"/>
            <a:ext cx="265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10 is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not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less than 10, so it does not enter the loop again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4DDB40-16C0-50EC-0B6A-C7A2B34D1E5C}"/>
              </a:ext>
            </a:extLst>
          </p:cNvPr>
          <p:cNvCxnSpPr>
            <a:cxnSpLocks/>
          </p:cNvCxnSpPr>
          <p:nvPr/>
        </p:nvCxnSpPr>
        <p:spPr>
          <a:xfrm>
            <a:off x="5095665" y="2538035"/>
            <a:ext cx="1376992" cy="11070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0D95CE-A6BD-317A-A10D-21541B84AC7B}"/>
              </a:ext>
            </a:extLst>
          </p:cNvPr>
          <p:cNvSpPr txBox="1"/>
          <p:nvPr/>
        </p:nvSpPr>
        <p:spPr>
          <a:xfrm>
            <a:off x="685348" y="1860841"/>
            <a:ext cx="2884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627596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948925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7890B5-7B51-9C09-AAEB-48E86372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Statements wrapped in curly brackets are called code blocks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39175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7890B5-7B51-9C09-AAEB-48E86372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Statements wrapped in curly brackets are called code blocks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Each Block has a scope in which it operates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69967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7890B5-7B51-9C09-AAEB-48E86372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Statements wrapped in curly brackets are called code blocks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Each Block has a scope in which it operates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Blocks can access variables from outer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624982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7890B5-7B51-9C09-AAEB-48E86372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Statements wrapped in curly brackets are called code blocks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Each Block has a scope in which it operates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Blocks can access variables from outer scopes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Variables can only be used in scopes they‘re defined in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They‘re </a:t>
            </a:r>
            <a:r>
              <a:rPr lang="de-DE" dirty="0">
                <a:solidFill>
                  <a:srgbClr val="FFFF00"/>
                </a:solidFill>
              </a:rPr>
              <a:t>dropped</a:t>
            </a:r>
            <a:r>
              <a:rPr lang="de-DE" dirty="0"/>
              <a:t> once we leave the 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5454278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600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1132849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168020"/>
              </p:ext>
            </p:extLst>
          </p:nvPr>
        </p:nvGraphicFramePr>
        <p:xfrm>
          <a:off x="6513588" y="1132849"/>
          <a:ext cx="252769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5096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141885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341200"/>
              </p:ext>
            </p:extLst>
          </p:nvPr>
        </p:nvGraphicFramePr>
        <p:xfrm>
          <a:off x="6513588" y="1132849"/>
          <a:ext cx="252769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2386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170485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322825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6321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1998909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010685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9854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92967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322420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70FB85-FDC5-27B3-4119-EF167E5CEAA2}"/>
              </a:ext>
            </a:extLst>
          </p:cNvPr>
          <p:cNvSpPr txBox="1"/>
          <p:nvPr/>
        </p:nvSpPr>
        <p:spPr>
          <a:xfrm>
            <a:off x="6422600" y="2560378"/>
            <a:ext cx="24593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current scope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No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found in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B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Check previous scope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B6F901-12E6-1F7B-4348-CF16B956BA4B}"/>
              </a:ext>
            </a:extLst>
          </p:cNvPr>
          <p:cNvCxnSpPr>
            <a:cxnSpLocks/>
          </p:cNvCxnSpPr>
          <p:nvPr/>
        </p:nvCxnSpPr>
        <p:spPr>
          <a:xfrm flipV="1">
            <a:off x="7947626" y="2260801"/>
            <a:ext cx="330312" cy="3857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765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92967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957977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4E4BB8-6F96-5794-6F50-1AA33EC3BBBF}"/>
              </a:ext>
            </a:extLst>
          </p:cNvPr>
          <p:cNvSpPr/>
          <p:nvPr/>
        </p:nvSpPr>
        <p:spPr>
          <a:xfrm>
            <a:off x="3967771" y="1595165"/>
            <a:ext cx="2545817" cy="676736"/>
          </a:xfrm>
          <a:custGeom>
            <a:avLst/>
            <a:gdLst>
              <a:gd name="connsiteX0" fmla="*/ 0 w 2477339"/>
              <a:gd name="connsiteY0" fmla="*/ 712990 h 712990"/>
              <a:gd name="connsiteX1" fmla="*/ 8056 w 2477339"/>
              <a:gd name="connsiteY1" fmla="*/ 688821 h 712990"/>
              <a:gd name="connsiteX2" fmla="*/ 169184 w 2477339"/>
              <a:gd name="connsiteY2" fmla="*/ 491440 h 712990"/>
              <a:gd name="connsiteX3" fmla="*/ 281973 w 2477339"/>
              <a:gd name="connsiteY3" fmla="*/ 374622 h 712990"/>
              <a:gd name="connsiteX4" fmla="*/ 394763 w 2477339"/>
              <a:gd name="connsiteY4" fmla="*/ 298086 h 712990"/>
              <a:gd name="connsiteX5" fmla="*/ 463242 w 2477339"/>
              <a:gd name="connsiteY5" fmla="*/ 249748 h 712990"/>
              <a:gd name="connsiteX6" fmla="*/ 648539 w 2477339"/>
              <a:gd name="connsiteY6" fmla="*/ 161128 h 712990"/>
              <a:gd name="connsiteX7" fmla="*/ 1067471 w 2477339"/>
              <a:gd name="connsiteY7" fmla="*/ 24169 h 712990"/>
              <a:gd name="connsiteX8" fmla="*/ 1168176 w 2477339"/>
              <a:gd name="connsiteY8" fmla="*/ 12085 h 712990"/>
              <a:gd name="connsiteX9" fmla="*/ 1317219 w 2477339"/>
              <a:gd name="connsiteY9" fmla="*/ 0 h 712990"/>
              <a:gd name="connsiteX10" fmla="*/ 2090633 w 2477339"/>
              <a:gd name="connsiteY10" fmla="*/ 12085 h 712990"/>
              <a:gd name="connsiteX11" fmla="*/ 2130914 w 2477339"/>
              <a:gd name="connsiteY11" fmla="*/ 20141 h 712990"/>
              <a:gd name="connsiteX12" fmla="*/ 2191337 w 2477339"/>
              <a:gd name="connsiteY12" fmla="*/ 36254 h 712990"/>
              <a:gd name="connsiteX13" fmla="*/ 2219535 w 2477339"/>
              <a:gd name="connsiteY13" fmla="*/ 52367 h 712990"/>
              <a:gd name="connsiteX14" fmla="*/ 2247732 w 2477339"/>
              <a:gd name="connsiteY14" fmla="*/ 60423 h 712990"/>
              <a:gd name="connsiteX15" fmla="*/ 2320240 w 2477339"/>
              <a:gd name="connsiteY15" fmla="*/ 92648 h 712990"/>
              <a:gd name="connsiteX16" fmla="*/ 2368578 w 2477339"/>
              <a:gd name="connsiteY16" fmla="*/ 112789 h 712990"/>
              <a:gd name="connsiteX17" fmla="*/ 2408860 w 2477339"/>
              <a:gd name="connsiteY17" fmla="*/ 124874 h 712990"/>
              <a:gd name="connsiteX18" fmla="*/ 2477339 w 2477339"/>
              <a:gd name="connsiteY18" fmla="*/ 124874 h 712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77339" h="712990">
                <a:moveTo>
                  <a:pt x="0" y="712990"/>
                </a:moveTo>
                <a:cubicBezTo>
                  <a:pt x="2685" y="704934"/>
                  <a:pt x="3964" y="696262"/>
                  <a:pt x="8056" y="688821"/>
                </a:cubicBezTo>
                <a:cubicBezTo>
                  <a:pt x="51371" y="610066"/>
                  <a:pt x="105024" y="563620"/>
                  <a:pt x="169184" y="491440"/>
                </a:cubicBezTo>
                <a:cubicBezTo>
                  <a:pt x="197573" y="459502"/>
                  <a:pt x="243470" y="403253"/>
                  <a:pt x="281973" y="374622"/>
                </a:cubicBezTo>
                <a:cubicBezTo>
                  <a:pt x="318433" y="347511"/>
                  <a:pt x="357347" y="323862"/>
                  <a:pt x="394763" y="298086"/>
                </a:cubicBezTo>
                <a:cubicBezTo>
                  <a:pt x="417772" y="282235"/>
                  <a:pt x="438492" y="262712"/>
                  <a:pt x="463242" y="249748"/>
                </a:cubicBezTo>
                <a:cubicBezTo>
                  <a:pt x="528409" y="215613"/>
                  <a:pt x="578507" y="186929"/>
                  <a:pt x="648539" y="161128"/>
                </a:cubicBezTo>
                <a:cubicBezTo>
                  <a:pt x="677423" y="150487"/>
                  <a:pt x="977956" y="43893"/>
                  <a:pt x="1067471" y="24169"/>
                </a:cubicBezTo>
                <a:cubicBezTo>
                  <a:pt x="1100488" y="16894"/>
                  <a:pt x="1134583" y="15902"/>
                  <a:pt x="1168176" y="12085"/>
                </a:cubicBezTo>
                <a:cubicBezTo>
                  <a:pt x="1254295" y="2299"/>
                  <a:pt x="1232772" y="4691"/>
                  <a:pt x="1317219" y="0"/>
                </a:cubicBezTo>
                <a:lnTo>
                  <a:pt x="2090633" y="12085"/>
                </a:lnTo>
                <a:cubicBezTo>
                  <a:pt x="2104322" y="12424"/>
                  <a:pt x="2117547" y="17171"/>
                  <a:pt x="2130914" y="20141"/>
                </a:cubicBezTo>
                <a:cubicBezTo>
                  <a:pt x="2136556" y="21395"/>
                  <a:pt x="2184335" y="33253"/>
                  <a:pt x="2191337" y="36254"/>
                </a:cubicBezTo>
                <a:cubicBezTo>
                  <a:pt x="2201287" y="40519"/>
                  <a:pt x="2209585" y="48103"/>
                  <a:pt x="2219535" y="52367"/>
                </a:cubicBezTo>
                <a:cubicBezTo>
                  <a:pt x="2228520" y="56218"/>
                  <a:pt x="2238656" y="56793"/>
                  <a:pt x="2247732" y="60423"/>
                </a:cubicBezTo>
                <a:cubicBezTo>
                  <a:pt x="2272289" y="70246"/>
                  <a:pt x="2296031" y="81996"/>
                  <a:pt x="2320240" y="92648"/>
                </a:cubicBezTo>
                <a:cubicBezTo>
                  <a:pt x="2345172" y="103618"/>
                  <a:pt x="2345951" y="103738"/>
                  <a:pt x="2368578" y="112789"/>
                </a:cubicBezTo>
                <a:cubicBezTo>
                  <a:pt x="2382542" y="118375"/>
                  <a:pt x="2393496" y="124176"/>
                  <a:pt x="2408860" y="124874"/>
                </a:cubicBezTo>
                <a:cubicBezTo>
                  <a:pt x="2431663" y="125910"/>
                  <a:pt x="2454513" y="124874"/>
                  <a:pt x="2477339" y="124874"/>
                </a:cubicBezTo>
              </a:path>
            </a:pathLst>
          </a:custGeom>
          <a:noFill/>
          <a:ln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A96EF-29C3-138F-B0AF-3582F5A06734}"/>
              </a:ext>
            </a:extLst>
          </p:cNvPr>
          <p:cNvSpPr txBox="1"/>
          <p:nvPr/>
        </p:nvSpPr>
        <p:spPr>
          <a:xfrm>
            <a:off x="6513588" y="2578777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6888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92967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88298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3285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57091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060984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D09EAB-C253-3C10-80E1-7E5091D7B13A}"/>
              </a:ext>
            </a:extLst>
          </p:cNvPr>
          <p:cNvSpPr/>
          <p:nvPr/>
        </p:nvSpPr>
        <p:spPr>
          <a:xfrm>
            <a:off x="5417921" y="1595165"/>
            <a:ext cx="1095667" cy="975746"/>
          </a:xfrm>
          <a:custGeom>
            <a:avLst/>
            <a:gdLst>
              <a:gd name="connsiteX0" fmla="*/ 0 w 2477339"/>
              <a:gd name="connsiteY0" fmla="*/ 712990 h 712990"/>
              <a:gd name="connsiteX1" fmla="*/ 8056 w 2477339"/>
              <a:gd name="connsiteY1" fmla="*/ 688821 h 712990"/>
              <a:gd name="connsiteX2" fmla="*/ 169184 w 2477339"/>
              <a:gd name="connsiteY2" fmla="*/ 491440 h 712990"/>
              <a:gd name="connsiteX3" fmla="*/ 281973 w 2477339"/>
              <a:gd name="connsiteY3" fmla="*/ 374622 h 712990"/>
              <a:gd name="connsiteX4" fmla="*/ 394763 w 2477339"/>
              <a:gd name="connsiteY4" fmla="*/ 298086 h 712990"/>
              <a:gd name="connsiteX5" fmla="*/ 463242 w 2477339"/>
              <a:gd name="connsiteY5" fmla="*/ 249748 h 712990"/>
              <a:gd name="connsiteX6" fmla="*/ 648539 w 2477339"/>
              <a:gd name="connsiteY6" fmla="*/ 161128 h 712990"/>
              <a:gd name="connsiteX7" fmla="*/ 1067471 w 2477339"/>
              <a:gd name="connsiteY7" fmla="*/ 24169 h 712990"/>
              <a:gd name="connsiteX8" fmla="*/ 1168176 w 2477339"/>
              <a:gd name="connsiteY8" fmla="*/ 12085 h 712990"/>
              <a:gd name="connsiteX9" fmla="*/ 1317219 w 2477339"/>
              <a:gd name="connsiteY9" fmla="*/ 0 h 712990"/>
              <a:gd name="connsiteX10" fmla="*/ 2090633 w 2477339"/>
              <a:gd name="connsiteY10" fmla="*/ 12085 h 712990"/>
              <a:gd name="connsiteX11" fmla="*/ 2130914 w 2477339"/>
              <a:gd name="connsiteY11" fmla="*/ 20141 h 712990"/>
              <a:gd name="connsiteX12" fmla="*/ 2191337 w 2477339"/>
              <a:gd name="connsiteY12" fmla="*/ 36254 h 712990"/>
              <a:gd name="connsiteX13" fmla="*/ 2219535 w 2477339"/>
              <a:gd name="connsiteY13" fmla="*/ 52367 h 712990"/>
              <a:gd name="connsiteX14" fmla="*/ 2247732 w 2477339"/>
              <a:gd name="connsiteY14" fmla="*/ 60423 h 712990"/>
              <a:gd name="connsiteX15" fmla="*/ 2320240 w 2477339"/>
              <a:gd name="connsiteY15" fmla="*/ 92648 h 712990"/>
              <a:gd name="connsiteX16" fmla="*/ 2368578 w 2477339"/>
              <a:gd name="connsiteY16" fmla="*/ 112789 h 712990"/>
              <a:gd name="connsiteX17" fmla="*/ 2408860 w 2477339"/>
              <a:gd name="connsiteY17" fmla="*/ 124874 h 712990"/>
              <a:gd name="connsiteX18" fmla="*/ 2477339 w 2477339"/>
              <a:gd name="connsiteY18" fmla="*/ 124874 h 712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77339" h="712990">
                <a:moveTo>
                  <a:pt x="0" y="712990"/>
                </a:moveTo>
                <a:cubicBezTo>
                  <a:pt x="2685" y="704934"/>
                  <a:pt x="3964" y="696262"/>
                  <a:pt x="8056" y="688821"/>
                </a:cubicBezTo>
                <a:cubicBezTo>
                  <a:pt x="51371" y="610066"/>
                  <a:pt x="105024" y="563620"/>
                  <a:pt x="169184" y="491440"/>
                </a:cubicBezTo>
                <a:cubicBezTo>
                  <a:pt x="197573" y="459502"/>
                  <a:pt x="243470" y="403253"/>
                  <a:pt x="281973" y="374622"/>
                </a:cubicBezTo>
                <a:cubicBezTo>
                  <a:pt x="318433" y="347511"/>
                  <a:pt x="357347" y="323862"/>
                  <a:pt x="394763" y="298086"/>
                </a:cubicBezTo>
                <a:cubicBezTo>
                  <a:pt x="417772" y="282235"/>
                  <a:pt x="438492" y="262712"/>
                  <a:pt x="463242" y="249748"/>
                </a:cubicBezTo>
                <a:cubicBezTo>
                  <a:pt x="528409" y="215613"/>
                  <a:pt x="578507" y="186929"/>
                  <a:pt x="648539" y="161128"/>
                </a:cubicBezTo>
                <a:cubicBezTo>
                  <a:pt x="677423" y="150487"/>
                  <a:pt x="977956" y="43893"/>
                  <a:pt x="1067471" y="24169"/>
                </a:cubicBezTo>
                <a:cubicBezTo>
                  <a:pt x="1100488" y="16894"/>
                  <a:pt x="1134583" y="15902"/>
                  <a:pt x="1168176" y="12085"/>
                </a:cubicBezTo>
                <a:cubicBezTo>
                  <a:pt x="1254295" y="2299"/>
                  <a:pt x="1232772" y="4691"/>
                  <a:pt x="1317219" y="0"/>
                </a:cubicBezTo>
                <a:lnTo>
                  <a:pt x="2090633" y="12085"/>
                </a:lnTo>
                <a:cubicBezTo>
                  <a:pt x="2104322" y="12424"/>
                  <a:pt x="2117547" y="17171"/>
                  <a:pt x="2130914" y="20141"/>
                </a:cubicBezTo>
                <a:cubicBezTo>
                  <a:pt x="2136556" y="21395"/>
                  <a:pt x="2184335" y="33253"/>
                  <a:pt x="2191337" y="36254"/>
                </a:cubicBezTo>
                <a:cubicBezTo>
                  <a:pt x="2201287" y="40519"/>
                  <a:pt x="2209585" y="48103"/>
                  <a:pt x="2219535" y="52367"/>
                </a:cubicBezTo>
                <a:cubicBezTo>
                  <a:pt x="2228520" y="56218"/>
                  <a:pt x="2238656" y="56793"/>
                  <a:pt x="2247732" y="60423"/>
                </a:cubicBezTo>
                <a:cubicBezTo>
                  <a:pt x="2272289" y="70246"/>
                  <a:pt x="2296031" y="81996"/>
                  <a:pt x="2320240" y="92648"/>
                </a:cubicBezTo>
                <a:cubicBezTo>
                  <a:pt x="2345172" y="103618"/>
                  <a:pt x="2345951" y="103738"/>
                  <a:pt x="2368578" y="112789"/>
                </a:cubicBezTo>
                <a:cubicBezTo>
                  <a:pt x="2382542" y="118375"/>
                  <a:pt x="2393496" y="124176"/>
                  <a:pt x="2408860" y="124874"/>
                </a:cubicBezTo>
                <a:cubicBezTo>
                  <a:pt x="2431663" y="125910"/>
                  <a:pt x="2454513" y="124874"/>
                  <a:pt x="2477339" y="124874"/>
                </a:cubicBezTo>
              </a:path>
            </a:pathLst>
          </a:custGeom>
          <a:noFill/>
          <a:ln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38626-238F-BDDA-841F-4016EFFFF670}"/>
              </a:ext>
            </a:extLst>
          </p:cNvPr>
          <p:cNvSpPr txBox="1"/>
          <p:nvPr/>
        </p:nvSpPr>
        <p:spPr>
          <a:xfrm>
            <a:off x="6541785" y="3188177"/>
            <a:ext cx="22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953303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877054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984411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D09EAB-C253-3C10-80E1-7E5091D7B13A}"/>
              </a:ext>
            </a:extLst>
          </p:cNvPr>
          <p:cNvSpPr/>
          <p:nvPr/>
        </p:nvSpPr>
        <p:spPr>
          <a:xfrm>
            <a:off x="5417921" y="1494460"/>
            <a:ext cx="1095667" cy="1382593"/>
          </a:xfrm>
          <a:custGeom>
            <a:avLst/>
            <a:gdLst>
              <a:gd name="connsiteX0" fmla="*/ 0 w 2477339"/>
              <a:gd name="connsiteY0" fmla="*/ 712990 h 712990"/>
              <a:gd name="connsiteX1" fmla="*/ 8056 w 2477339"/>
              <a:gd name="connsiteY1" fmla="*/ 688821 h 712990"/>
              <a:gd name="connsiteX2" fmla="*/ 169184 w 2477339"/>
              <a:gd name="connsiteY2" fmla="*/ 491440 h 712990"/>
              <a:gd name="connsiteX3" fmla="*/ 281973 w 2477339"/>
              <a:gd name="connsiteY3" fmla="*/ 374622 h 712990"/>
              <a:gd name="connsiteX4" fmla="*/ 394763 w 2477339"/>
              <a:gd name="connsiteY4" fmla="*/ 298086 h 712990"/>
              <a:gd name="connsiteX5" fmla="*/ 463242 w 2477339"/>
              <a:gd name="connsiteY5" fmla="*/ 249748 h 712990"/>
              <a:gd name="connsiteX6" fmla="*/ 648539 w 2477339"/>
              <a:gd name="connsiteY6" fmla="*/ 161128 h 712990"/>
              <a:gd name="connsiteX7" fmla="*/ 1067471 w 2477339"/>
              <a:gd name="connsiteY7" fmla="*/ 24169 h 712990"/>
              <a:gd name="connsiteX8" fmla="*/ 1168176 w 2477339"/>
              <a:gd name="connsiteY8" fmla="*/ 12085 h 712990"/>
              <a:gd name="connsiteX9" fmla="*/ 1317219 w 2477339"/>
              <a:gd name="connsiteY9" fmla="*/ 0 h 712990"/>
              <a:gd name="connsiteX10" fmla="*/ 2090633 w 2477339"/>
              <a:gd name="connsiteY10" fmla="*/ 12085 h 712990"/>
              <a:gd name="connsiteX11" fmla="*/ 2130914 w 2477339"/>
              <a:gd name="connsiteY11" fmla="*/ 20141 h 712990"/>
              <a:gd name="connsiteX12" fmla="*/ 2191337 w 2477339"/>
              <a:gd name="connsiteY12" fmla="*/ 36254 h 712990"/>
              <a:gd name="connsiteX13" fmla="*/ 2219535 w 2477339"/>
              <a:gd name="connsiteY13" fmla="*/ 52367 h 712990"/>
              <a:gd name="connsiteX14" fmla="*/ 2247732 w 2477339"/>
              <a:gd name="connsiteY14" fmla="*/ 60423 h 712990"/>
              <a:gd name="connsiteX15" fmla="*/ 2320240 w 2477339"/>
              <a:gd name="connsiteY15" fmla="*/ 92648 h 712990"/>
              <a:gd name="connsiteX16" fmla="*/ 2368578 w 2477339"/>
              <a:gd name="connsiteY16" fmla="*/ 112789 h 712990"/>
              <a:gd name="connsiteX17" fmla="*/ 2408860 w 2477339"/>
              <a:gd name="connsiteY17" fmla="*/ 124874 h 712990"/>
              <a:gd name="connsiteX18" fmla="*/ 2477339 w 2477339"/>
              <a:gd name="connsiteY18" fmla="*/ 124874 h 712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77339" h="712990">
                <a:moveTo>
                  <a:pt x="0" y="712990"/>
                </a:moveTo>
                <a:cubicBezTo>
                  <a:pt x="2685" y="704934"/>
                  <a:pt x="3964" y="696262"/>
                  <a:pt x="8056" y="688821"/>
                </a:cubicBezTo>
                <a:cubicBezTo>
                  <a:pt x="51371" y="610066"/>
                  <a:pt x="105024" y="563620"/>
                  <a:pt x="169184" y="491440"/>
                </a:cubicBezTo>
                <a:cubicBezTo>
                  <a:pt x="197573" y="459502"/>
                  <a:pt x="243470" y="403253"/>
                  <a:pt x="281973" y="374622"/>
                </a:cubicBezTo>
                <a:cubicBezTo>
                  <a:pt x="318433" y="347511"/>
                  <a:pt x="357347" y="323862"/>
                  <a:pt x="394763" y="298086"/>
                </a:cubicBezTo>
                <a:cubicBezTo>
                  <a:pt x="417772" y="282235"/>
                  <a:pt x="438492" y="262712"/>
                  <a:pt x="463242" y="249748"/>
                </a:cubicBezTo>
                <a:cubicBezTo>
                  <a:pt x="528409" y="215613"/>
                  <a:pt x="578507" y="186929"/>
                  <a:pt x="648539" y="161128"/>
                </a:cubicBezTo>
                <a:cubicBezTo>
                  <a:pt x="677423" y="150487"/>
                  <a:pt x="977956" y="43893"/>
                  <a:pt x="1067471" y="24169"/>
                </a:cubicBezTo>
                <a:cubicBezTo>
                  <a:pt x="1100488" y="16894"/>
                  <a:pt x="1134583" y="15902"/>
                  <a:pt x="1168176" y="12085"/>
                </a:cubicBezTo>
                <a:cubicBezTo>
                  <a:pt x="1254295" y="2299"/>
                  <a:pt x="1232772" y="4691"/>
                  <a:pt x="1317219" y="0"/>
                </a:cubicBezTo>
                <a:lnTo>
                  <a:pt x="2090633" y="12085"/>
                </a:lnTo>
                <a:cubicBezTo>
                  <a:pt x="2104322" y="12424"/>
                  <a:pt x="2117547" y="17171"/>
                  <a:pt x="2130914" y="20141"/>
                </a:cubicBezTo>
                <a:cubicBezTo>
                  <a:pt x="2136556" y="21395"/>
                  <a:pt x="2184335" y="33253"/>
                  <a:pt x="2191337" y="36254"/>
                </a:cubicBezTo>
                <a:cubicBezTo>
                  <a:pt x="2201287" y="40519"/>
                  <a:pt x="2209585" y="48103"/>
                  <a:pt x="2219535" y="52367"/>
                </a:cubicBezTo>
                <a:cubicBezTo>
                  <a:pt x="2228520" y="56218"/>
                  <a:pt x="2238656" y="56793"/>
                  <a:pt x="2247732" y="60423"/>
                </a:cubicBezTo>
                <a:cubicBezTo>
                  <a:pt x="2272289" y="70246"/>
                  <a:pt x="2296031" y="81996"/>
                  <a:pt x="2320240" y="92648"/>
                </a:cubicBezTo>
                <a:cubicBezTo>
                  <a:pt x="2345172" y="103618"/>
                  <a:pt x="2345951" y="103738"/>
                  <a:pt x="2368578" y="112789"/>
                </a:cubicBezTo>
                <a:cubicBezTo>
                  <a:pt x="2382542" y="118375"/>
                  <a:pt x="2393496" y="124176"/>
                  <a:pt x="2408860" y="124874"/>
                </a:cubicBezTo>
                <a:cubicBezTo>
                  <a:pt x="2431663" y="125910"/>
                  <a:pt x="2454513" y="124874"/>
                  <a:pt x="2477339" y="124874"/>
                </a:cubicBezTo>
              </a:path>
            </a:pathLst>
          </a:custGeom>
          <a:noFill/>
          <a:ln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38626-238F-BDDA-841F-4016EFFFF670}"/>
              </a:ext>
            </a:extLst>
          </p:cNvPr>
          <p:cNvSpPr txBox="1"/>
          <p:nvPr/>
        </p:nvSpPr>
        <p:spPr>
          <a:xfrm>
            <a:off x="6541785" y="3188177"/>
            <a:ext cx="2362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331812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3167083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294333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838626-238F-BDDA-841F-4016EFFFF670}"/>
              </a:ext>
            </a:extLst>
          </p:cNvPr>
          <p:cNvSpPr txBox="1"/>
          <p:nvPr/>
        </p:nvSpPr>
        <p:spPr>
          <a:xfrm>
            <a:off x="6541785" y="3188177"/>
            <a:ext cx="2442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052697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3432942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47435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838626-238F-BDDA-841F-4016EFFFF670}"/>
              </a:ext>
            </a:extLst>
          </p:cNvPr>
          <p:cNvSpPr txBox="1"/>
          <p:nvPr/>
        </p:nvSpPr>
        <p:spPr>
          <a:xfrm>
            <a:off x="6541785" y="3188177"/>
            <a:ext cx="2436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Uses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from Scope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444401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3726997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03089"/>
              </p:ext>
            </p:extLst>
          </p:nvPr>
        </p:nvGraphicFramePr>
        <p:xfrm>
          <a:off x="6513588" y="1132849"/>
          <a:ext cx="2527692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4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30713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4000913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869642"/>
              </p:ext>
            </p:extLst>
          </p:nvPr>
        </p:nvGraphicFramePr>
        <p:xfrm>
          <a:off x="6513588" y="1132849"/>
          <a:ext cx="2527692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4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3937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4298999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218573"/>
              </p:ext>
            </p:extLst>
          </p:nvPr>
        </p:nvGraphicFramePr>
        <p:xfrm>
          <a:off x="6513588" y="1132849"/>
          <a:ext cx="2527692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401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61F316-7234-7BD0-356E-70FE2451C2CA}"/>
              </a:ext>
            </a:extLst>
          </p:cNvPr>
          <p:cNvSpPr txBox="1"/>
          <p:nvPr/>
        </p:nvSpPr>
        <p:spPr>
          <a:xfrm>
            <a:off x="6547146" y="4422949"/>
            <a:ext cx="4362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is defined in the current scope, use this one!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Variable shadowing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AD717B-2B1F-58EC-8851-56E352A17AD0}"/>
              </a:ext>
            </a:extLst>
          </p:cNvPr>
          <p:cNvCxnSpPr>
            <a:cxnSpLocks/>
          </p:cNvCxnSpPr>
          <p:nvPr/>
        </p:nvCxnSpPr>
        <p:spPr>
          <a:xfrm flipV="1">
            <a:off x="7577033" y="2948638"/>
            <a:ext cx="576367" cy="15226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0893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4589028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986889"/>
              </p:ext>
            </p:extLst>
          </p:nvPr>
        </p:nvGraphicFramePr>
        <p:xfrm>
          <a:off x="6513588" y="1132849"/>
          <a:ext cx="252769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tmp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03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185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4891142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686258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7915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936551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2110013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962247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282936286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158606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278782377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474371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294745041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252730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37613545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978231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104241374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85758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</p:txBody>
      </p:sp>
    </p:spTree>
    <p:extLst>
      <p:ext uri="{BB962C8B-B14F-4D97-AF65-F5344CB8AC3E}">
        <p14:creationId xmlns:p14="http://schemas.microsoft.com/office/powerpoint/2010/main" val="34730072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116075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Eventually...</a:t>
            </a:r>
          </a:p>
        </p:txBody>
      </p:sp>
    </p:spTree>
    <p:extLst>
      <p:ext uri="{BB962C8B-B14F-4D97-AF65-F5344CB8AC3E}">
        <p14:creationId xmlns:p14="http://schemas.microsoft.com/office/powerpoint/2010/main" val="316589032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2284901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398236"/>
              </p:ext>
            </p:extLst>
          </p:nvPr>
        </p:nvGraphicFramePr>
        <p:xfrm>
          <a:off x="6513588" y="1132849"/>
          <a:ext cx="252769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398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Eventually...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144 is not smaller than 100!</a:t>
            </a:r>
          </a:p>
        </p:txBody>
      </p:sp>
    </p:spTree>
    <p:extLst>
      <p:ext uri="{BB962C8B-B14F-4D97-AF65-F5344CB8AC3E}">
        <p14:creationId xmlns:p14="http://schemas.microsoft.com/office/powerpoint/2010/main" val="326542007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5165060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959400"/>
              </p:ext>
            </p:extLst>
          </p:nvPr>
        </p:nvGraphicFramePr>
        <p:xfrm>
          <a:off x="6513588" y="1132849"/>
          <a:ext cx="252769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54184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Check condition again, and repeat until it is no longer true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Eventually...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144 is not smaller than 100!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And we continue.</a:t>
            </a:r>
          </a:p>
        </p:txBody>
      </p:sp>
    </p:spTree>
    <p:extLst>
      <p:ext uri="{BB962C8B-B14F-4D97-AF65-F5344CB8AC3E}">
        <p14:creationId xmlns:p14="http://schemas.microsoft.com/office/powerpoint/2010/main" val="38563152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30000" y="5447034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79467"/>
              </p:ext>
            </p:extLst>
          </p:nvPr>
        </p:nvGraphicFramePr>
        <p:xfrm>
          <a:off x="6513588" y="1132849"/>
          <a:ext cx="252769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422600" y="3620618"/>
            <a:ext cx="462979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only valid Scope 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which does not have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y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Scope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did have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y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but it ended in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line 15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Scope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is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not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a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previous scope of A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:^)</a:t>
            </a:r>
            <a:endParaRPr lang="de-DE" sz="1600" dirty="0">
              <a:solidFill>
                <a:srgbClr val="FFFF00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This would be an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8289931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29999" y="5731656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636641"/>
              </p:ext>
            </p:extLst>
          </p:nvPr>
        </p:nvGraphicFramePr>
        <p:xfrm>
          <a:off x="6513588" y="1132849"/>
          <a:ext cx="252769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 = 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9812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1E0C6C-6CA2-47B4-3A3F-C8F42B6C3E71}"/>
              </a:ext>
            </a:extLst>
          </p:cNvPr>
          <p:cNvSpPr txBox="1"/>
          <p:nvPr/>
        </p:nvSpPr>
        <p:spPr>
          <a:xfrm>
            <a:off x="6209106" y="5711472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Prints 144</a:t>
            </a:r>
          </a:p>
        </p:txBody>
      </p:sp>
    </p:spTree>
    <p:extLst>
      <p:ext uri="{BB962C8B-B14F-4D97-AF65-F5344CB8AC3E}">
        <p14:creationId xmlns:p14="http://schemas.microsoft.com/office/powerpoint/2010/main" val="4026688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692C0-138E-8E61-76C5-BDDE8C1C8E21}"/>
              </a:ext>
            </a:extLst>
          </p:cNvPr>
          <p:cNvSpPr/>
          <p:nvPr/>
        </p:nvSpPr>
        <p:spPr>
          <a:xfrm>
            <a:off x="1729999" y="6017655"/>
            <a:ext cx="4437165" cy="2674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6F4A2-0145-5A0C-326E-4467572A7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003692"/>
              </p:ext>
            </p:extLst>
          </p:nvPr>
        </p:nvGraphicFramePr>
        <p:xfrm>
          <a:off x="6513588" y="1132849"/>
          <a:ext cx="2527692" cy="3759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846">
                  <a:extLst>
                    <a:ext uri="{9D8B030D-6E8A-4147-A177-3AD203B41FA5}">
                      <a16:colId xmlns:a16="http://schemas.microsoft.com/office/drawing/2014/main" val="550186132"/>
                    </a:ext>
                  </a:extLst>
                </a:gridCol>
                <a:gridCol w="1263846">
                  <a:extLst>
                    <a:ext uri="{9D8B030D-6E8A-4147-A177-3AD203B41FA5}">
                      <a16:colId xmlns:a16="http://schemas.microsoft.com/office/drawing/2014/main" val="200554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043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6077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Scopes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2CD201-3D4A-FE0D-CCC9-3A26F92B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134400"/>
            <a:ext cx="4437165" cy="5123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FD18AB-816A-9CF4-8316-39D8F4480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640" y="1134399"/>
            <a:ext cx="1293050" cy="5084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6457DA-0939-52B4-44EC-82CE0CF65314}"/>
              </a:ext>
            </a:extLst>
          </p:cNvPr>
          <p:cNvSpPr txBox="1"/>
          <p:nvPr/>
        </p:nvSpPr>
        <p:spPr>
          <a:xfrm>
            <a:off x="6947109" y="1134399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3187230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9976155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8904853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1205715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830567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</a:t>
            </a:r>
            <a:r>
              <a:rPr lang="de-DE" dirty="0">
                <a:solidFill>
                  <a:srgbClr val="00FF00"/>
                </a:solidFill>
              </a:rPr>
              <a:t>implicitly turns your collections into iterators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5925559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</a:t>
            </a:r>
            <a:r>
              <a:rPr lang="de-DE" dirty="0">
                <a:solidFill>
                  <a:srgbClr val="00FF00"/>
                </a:solidFill>
              </a:rPr>
              <a:t>implicitly turns your collections into iterators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you‘re using the </a:t>
            </a:r>
            <a:r>
              <a:rPr lang="de-DE" dirty="0">
                <a:solidFill>
                  <a:srgbClr val="FFFF00"/>
                </a:solidFill>
              </a:rPr>
              <a:t>original collection</a:t>
            </a:r>
            <a:r>
              <a:rPr lang="de-DE" dirty="0">
                <a:solidFill>
                  <a:schemeClr val="bg1"/>
                </a:solidFill>
              </a:rPr>
              <a:t>, it gets </a:t>
            </a:r>
            <a:r>
              <a:rPr lang="de-DE" dirty="0">
                <a:solidFill>
                  <a:srgbClr val="FFFF00"/>
                </a:solidFill>
              </a:rPr>
              <a:t>moved</a:t>
            </a:r>
            <a:r>
              <a:rPr lang="de-DE" dirty="0">
                <a:solidFill>
                  <a:schemeClr val="bg1"/>
                </a:solidFill>
              </a:rPr>
              <a:t> and you </a:t>
            </a:r>
            <a:r>
              <a:rPr lang="de-DE" dirty="0">
                <a:solidFill>
                  <a:srgbClr val="FFFF00"/>
                </a:solidFill>
              </a:rPr>
              <a:t>can‘t use it anymore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have to </a:t>
            </a:r>
            <a:r>
              <a:rPr lang="de-DE" dirty="0">
                <a:solidFill>
                  <a:srgbClr val="FFFF00"/>
                </a:solidFill>
              </a:rPr>
              <a:t>borrow the collection</a:t>
            </a:r>
            <a:r>
              <a:rPr lang="de-DE" dirty="0">
                <a:solidFill>
                  <a:schemeClr val="bg1"/>
                </a:solidFill>
              </a:rPr>
              <a:t> to prevent that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753091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</a:t>
            </a:r>
            <a:r>
              <a:rPr lang="de-DE" dirty="0">
                <a:solidFill>
                  <a:srgbClr val="00FF00"/>
                </a:solidFill>
              </a:rPr>
              <a:t>implicitly turns your collections into iterators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you‘re using the </a:t>
            </a:r>
            <a:r>
              <a:rPr lang="de-DE" dirty="0">
                <a:solidFill>
                  <a:srgbClr val="FFFF00"/>
                </a:solidFill>
              </a:rPr>
              <a:t>original collection</a:t>
            </a:r>
            <a:r>
              <a:rPr lang="de-DE" dirty="0">
                <a:solidFill>
                  <a:schemeClr val="bg1"/>
                </a:solidFill>
              </a:rPr>
              <a:t>, it gets </a:t>
            </a:r>
            <a:r>
              <a:rPr lang="de-DE" dirty="0">
                <a:solidFill>
                  <a:srgbClr val="FFFF00"/>
                </a:solidFill>
              </a:rPr>
              <a:t>moved</a:t>
            </a:r>
            <a:r>
              <a:rPr lang="de-DE" dirty="0">
                <a:solidFill>
                  <a:schemeClr val="bg1"/>
                </a:solidFill>
              </a:rPr>
              <a:t> and you </a:t>
            </a:r>
            <a:r>
              <a:rPr lang="de-DE" dirty="0">
                <a:solidFill>
                  <a:srgbClr val="FFFF00"/>
                </a:solidFill>
              </a:rPr>
              <a:t>can‘t use it anymore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have to </a:t>
            </a:r>
            <a:r>
              <a:rPr lang="de-DE" dirty="0">
                <a:solidFill>
                  <a:srgbClr val="FFFF00"/>
                </a:solidFill>
              </a:rPr>
              <a:t>borrow the collection</a:t>
            </a:r>
            <a:r>
              <a:rPr lang="de-DE" dirty="0">
                <a:solidFill>
                  <a:schemeClr val="bg1"/>
                </a:solidFill>
              </a:rPr>
              <a:t> to prevent that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What this means will be covered next week when we introduce </a:t>
            </a:r>
            <a:r>
              <a:rPr lang="de-DE" dirty="0">
                <a:solidFill>
                  <a:srgbClr val="00FF00"/>
                </a:solidFill>
              </a:rPr>
              <a:t>the Ownership Model</a:t>
            </a:r>
            <a:r>
              <a:rPr lang="de-DE" dirty="0">
                <a:solidFill>
                  <a:schemeClr val="bg1"/>
                </a:solidFill>
              </a:rPr>
              <a:t>, for now most examples only work as isolated blocks :^)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7537125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</a:t>
            </a:r>
            <a:r>
              <a:rPr lang="de-DE" dirty="0">
                <a:solidFill>
                  <a:srgbClr val="00FF00"/>
                </a:solidFill>
              </a:rPr>
              <a:t>implicitly turns your collections into iterators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you‘re using the </a:t>
            </a:r>
            <a:r>
              <a:rPr lang="de-DE" dirty="0">
                <a:solidFill>
                  <a:srgbClr val="FFFF00"/>
                </a:solidFill>
              </a:rPr>
              <a:t>original collection</a:t>
            </a:r>
            <a:r>
              <a:rPr lang="de-DE" dirty="0">
                <a:solidFill>
                  <a:schemeClr val="bg1"/>
                </a:solidFill>
              </a:rPr>
              <a:t>, it gets </a:t>
            </a:r>
            <a:r>
              <a:rPr lang="de-DE" dirty="0">
                <a:solidFill>
                  <a:srgbClr val="FFFF00"/>
                </a:solidFill>
              </a:rPr>
              <a:t>moved</a:t>
            </a:r>
            <a:r>
              <a:rPr lang="de-DE" dirty="0">
                <a:solidFill>
                  <a:schemeClr val="bg1"/>
                </a:solidFill>
              </a:rPr>
              <a:t> and you </a:t>
            </a:r>
            <a:r>
              <a:rPr lang="de-DE" dirty="0">
                <a:solidFill>
                  <a:srgbClr val="FFFF00"/>
                </a:solidFill>
              </a:rPr>
              <a:t>can‘t use it anymore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have to </a:t>
            </a:r>
            <a:r>
              <a:rPr lang="de-DE" dirty="0">
                <a:solidFill>
                  <a:srgbClr val="FFFF00"/>
                </a:solidFill>
              </a:rPr>
              <a:t>borrow the collection</a:t>
            </a:r>
            <a:r>
              <a:rPr lang="de-DE" dirty="0">
                <a:solidFill>
                  <a:schemeClr val="bg1"/>
                </a:solidFill>
              </a:rPr>
              <a:t> to prevent that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What this means will be covered next week when we introduce </a:t>
            </a:r>
            <a:r>
              <a:rPr lang="de-DE" dirty="0">
                <a:solidFill>
                  <a:srgbClr val="00FF00"/>
                </a:solidFill>
              </a:rPr>
              <a:t>the Ownership Model</a:t>
            </a:r>
            <a:r>
              <a:rPr lang="de-DE" dirty="0">
                <a:solidFill>
                  <a:schemeClr val="bg1"/>
                </a:solidFill>
              </a:rPr>
              <a:t>, for now most examples only work as isolated blocks :^)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you feel very brave, you can try and slap </a:t>
            </a:r>
            <a:r>
              <a:rPr lang="de-DE" dirty="0">
                <a:solidFill>
                  <a:srgbClr val="00FF00"/>
                </a:solidFill>
              </a:rPr>
              <a:t>&amp;</a:t>
            </a:r>
            <a:r>
              <a:rPr lang="de-DE" dirty="0">
                <a:solidFill>
                  <a:schemeClr val="bg1"/>
                </a:solidFill>
              </a:rPr>
              <a:t> in front of vectors when you use them in a for loop, and see what happens :^)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4856662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is a very powerful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 allows you to comfortably loop over data collections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However, where power is involved, rules are necessary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 be able to use </a:t>
            </a:r>
            <a:r>
              <a:rPr lang="de-DE" dirty="0">
                <a:solidFill>
                  <a:srgbClr val="FFFF00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on a collection, it needs to implement an </a:t>
            </a:r>
            <a:r>
              <a:rPr lang="de-DE" dirty="0">
                <a:solidFill>
                  <a:srgbClr val="FFFF00"/>
                </a:solidFill>
              </a:rPr>
              <a:t>Iterator-Trait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</a:t>
            </a:r>
            <a:r>
              <a:rPr lang="de-DE" dirty="0">
                <a:solidFill>
                  <a:srgbClr val="00FF00"/>
                </a:solidFill>
              </a:rPr>
              <a:t>implicitly turns your collections into iterators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If you‘re using the </a:t>
            </a:r>
            <a:r>
              <a:rPr lang="de-DE" dirty="0">
                <a:solidFill>
                  <a:srgbClr val="FFFF00"/>
                </a:solidFill>
              </a:rPr>
              <a:t>original collection</a:t>
            </a:r>
            <a:r>
              <a:rPr lang="de-DE" dirty="0">
                <a:solidFill>
                  <a:schemeClr val="bg1"/>
                </a:solidFill>
              </a:rPr>
              <a:t>, it gets </a:t>
            </a:r>
            <a:r>
              <a:rPr lang="de-DE" dirty="0">
                <a:solidFill>
                  <a:srgbClr val="FFFF00"/>
                </a:solidFill>
              </a:rPr>
              <a:t>moved</a:t>
            </a:r>
            <a:r>
              <a:rPr lang="de-DE" dirty="0">
                <a:solidFill>
                  <a:schemeClr val="bg1"/>
                </a:solidFill>
              </a:rPr>
              <a:t> and you </a:t>
            </a:r>
            <a:r>
              <a:rPr lang="de-DE" dirty="0">
                <a:solidFill>
                  <a:srgbClr val="FFFF00"/>
                </a:solidFill>
              </a:rPr>
              <a:t>can‘t use it anymore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have to </a:t>
            </a:r>
            <a:r>
              <a:rPr lang="de-DE" dirty="0">
                <a:solidFill>
                  <a:srgbClr val="FFFF00"/>
                </a:solidFill>
              </a:rPr>
              <a:t>borrow the collection</a:t>
            </a:r>
            <a:r>
              <a:rPr lang="de-DE" dirty="0">
                <a:solidFill>
                  <a:schemeClr val="bg1"/>
                </a:solidFill>
              </a:rPr>
              <a:t> to prevent that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What this means will be covered next week when we introduce </a:t>
            </a:r>
            <a:r>
              <a:rPr lang="de-DE" dirty="0">
                <a:solidFill>
                  <a:srgbClr val="00FF00"/>
                </a:solidFill>
              </a:rPr>
              <a:t>the Ownership Model</a:t>
            </a:r>
            <a:r>
              <a:rPr lang="de-DE" dirty="0">
                <a:solidFill>
                  <a:schemeClr val="bg1"/>
                </a:solidFill>
              </a:rPr>
              <a:t>, for now most examples only work as isolated blocks :^)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Iterators are scary and complex, we‘ll ignore most of it as long as possible and still have fun with our non-idiomatic code :)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9997357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3D850-5065-BACB-6657-2D2A4F38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9" y="2464398"/>
            <a:ext cx="10806301" cy="26842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1CDFC7-50ED-8673-1D40-C496FA081AF5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420256440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705F-A802-7E47-CEFD-C734C1F8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BB32-76D4-2C9F-7697-53F51309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7986-BD4E-BCDF-606F-4FE7F27B255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7A815-FB79-523E-E1F2-CF3C4479A9E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58B2D0-1654-8A08-7691-164473D7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9" y="2464398"/>
            <a:ext cx="10806301" cy="26842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E1AE62-F1C4-BEB4-AEC6-97E208E0FDC4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41D77-4B27-48B0-9E89-1D5D20A0031E}"/>
              </a:ext>
            </a:extLst>
          </p:cNvPr>
          <p:cNvSpPr txBox="1"/>
          <p:nvPr/>
        </p:nvSpPr>
        <p:spPr>
          <a:xfrm>
            <a:off x="2163141" y="4584085"/>
            <a:ext cx="2924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For every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element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 the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array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271A2-B0EA-2134-551C-2AD333138A32}"/>
              </a:ext>
            </a:extLst>
          </p:cNvPr>
          <p:cNvSpPr/>
          <p:nvPr/>
        </p:nvSpPr>
        <p:spPr>
          <a:xfrm>
            <a:off x="692850" y="3154076"/>
            <a:ext cx="7178242" cy="63242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9855326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934C-A67B-4A62-85FD-704F517A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27B3-BE3D-0067-D9EA-D6CA9BA7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450B-77A0-6231-5F3B-1409DA4092F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B49F-496F-6758-6D60-C072BC47851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DE2F4B-5541-A1C9-EB08-D78046BD3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9" y="2464398"/>
            <a:ext cx="10806301" cy="26842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69EA89-874B-BEC3-436F-6749F2FFF4DE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03A35-F7F8-E027-2133-7EC6D2332E79}"/>
              </a:ext>
            </a:extLst>
          </p:cNvPr>
          <p:cNvSpPr txBox="1"/>
          <p:nvPr/>
        </p:nvSpPr>
        <p:spPr>
          <a:xfrm>
            <a:off x="2163141" y="4584085"/>
            <a:ext cx="2924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For every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element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 </a:t>
            </a:r>
            <a:r>
              <a:rPr lang="de-DE" sz="1600">
                <a:solidFill>
                  <a:schemeClr val="bg1"/>
                </a:solidFill>
                <a:latin typeface="Lato"/>
              </a:rPr>
              <a:t>the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array</a:t>
            </a:r>
            <a:br>
              <a:rPr lang="de-DE" sz="1600">
                <a:solidFill>
                  <a:srgbClr val="FFFF00"/>
                </a:solidFill>
                <a:latin typeface="Lato"/>
              </a:rPr>
            </a:br>
            <a:r>
              <a:rPr lang="de-DE" sz="1600">
                <a:solidFill>
                  <a:srgbClr val="FF0000"/>
                </a:solidFill>
                <a:latin typeface="Lato"/>
              </a:rPr>
              <a:t>do the stuff </a:t>
            </a:r>
            <a:r>
              <a:rPr lang="de-DE" sz="1600">
                <a:solidFill>
                  <a:schemeClr val="bg1"/>
                </a:solidFill>
                <a:latin typeface="Lato"/>
              </a:rPr>
              <a:t>in the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5B7E6-7DFF-C25D-30A4-E4B603AFE71B}"/>
              </a:ext>
            </a:extLst>
          </p:cNvPr>
          <p:cNvSpPr/>
          <p:nvPr/>
        </p:nvSpPr>
        <p:spPr>
          <a:xfrm>
            <a:off x="692850" y="3154076"/>
            <a:ext cx="7178242" cy="63242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3DDF3-FF07-1E1C-13B1-FB970C9F46C8}"/>
              </a:ext>
            </a:extLst>
          </p:cNvPr>
          <p:cNvSpPr/>
          <p:nvPr/>
        </p:nvSpPr>
        <p:spPr>
          <a:xfrm>
            <a:off x="692849" y="3786053"/>
            <a:ext cx="10481361" cy="721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703208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6848-C05E-A51C-740B-DD0440F1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EE14-381C-0CE1-4269-FE295587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D3492-380E-9C7E-4E9D-8E09E8E5BBB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B453-0E39-12CF-FA71-838B701DBC3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951032-12D4-072D-5CE1-9FF25A9C7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9" y="2464398"/>
            <a:ext cx="10806301" cy="26842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37FB9A-C4FA-C03B-35D1-35465C98956F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C26B9-448F-CFA5-FA31-5B0020548218}"/>
              </a:ext>
            </a:extLst>
          </p:cNvPr>
          <p:cNvSpPr/>
          <p:nvPr/>
        </p:nvSpPr>
        <p:spPr>
          <a:xfrm>
            <a:off x="1808659" y="3154076"/>
            <a:ext cx="2054380" cy="63242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80B7C0-A0C0-78F0-AEAF-6B683268C6B5}"/>
              </a:ext>
            </a:extLst>
          </p:cNvPr>
          <p:cNvSpPr/>
          <p:nvPr/>
        </p:nvSpPr>
        <p:spPr>
          <a:xfrm>
            <a:off x="8611607" y="3846254"/>
            <a:ext cx="2054380" cy="63242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ABF16-B44B-88C4-72CD-6688E66F2099}"/>
              </a:ext>
            </a:extLst>
          </p:cNvPr>
          <p:cNvSpPr txBox="1"/>
          <p:nvPr/>
        </p:nvSpPr>
        <p:spPr>
          <a:xfrm>
            <a:off x="1663644" y="4620846"/>
            <a:ext cx="9685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Instead of using indices,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 loop automatically assigns the element to a variable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here called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element</a:t>
            </a:r>
          </a:p>
        </p:txBody>
      </p:sp>
    </p:spTree>
    <p:extLst>
      <p:ext uri="{BB962C8B-B14F-4D97-AF65-F5344CB8AC3E}">
        <p14:creationId xmlns:p14="http://schemas.microsoft.com/office/powerpoint/2010/main" val="324713065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3D850-5065-BACB-6657-2D2A4F38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62" y="3901574"/>
            <a:ext cx="8571996" cy="2129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61AE0-2633-CE84-83C1-229CE5A10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696" y="1396149"/>
            <a:ext cx="2772162" cy="2505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628D31-160A-1D2E-E213-1D4CD9B9E385}"/>
              </a:ext>
            </a:extLst>
          </p:cNvPr>
          <p:cNvSpPr txBox="1"/>
          <p:nvPr/>
        </p:nvSpPr>
        <p:spPr>
          <a:xfrm>
            <a:off x="5206165" y="1396149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67F23-63B7-1196-90BC-C02D9308CCBB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159926894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28D31-160A-1D2E-E213-1D4CD9B9E385}"/>
              </a:ext>
            </a:extLst>
          </p:cNvPr>
          <p:cNvSpPr txBox="1"/>
          <p:nvPr/>
        </p:nvSpPr>
        <p:spPr>
          <a:xfrm>
            <a:off x="5206165" y="1396149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3E858F-6938-3D98-1C47-7215BE22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696" y="1396149"/>
            <a:ext cx="3743847" cy="1981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452135-8B68-67A6-AE10-D9A3BDB7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36" y="3377626"/>
            <a:ext cx="11242328" cy="1854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1C458C-1795-33CE-3D43-03C5988A3EFD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369234818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28D31-160A-1D2E-E213-1D4CD9B9E385}"/>
              </a:ext>
            </a:extLst>
          </p:cNvPr>
          <p:cNvSpPr txBox="1"/>
          <p:nvPr/>
        </p:nvSpPr>
        <p:spPr>
          <a:xfrm>
            <a:off x="5206165" y="1396149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3E858F-6938-3D98-1C47-7215BE22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696" y="1396149"/>
            <a:ext cx="3743847" cy="1981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452135-8B68-67A6-AE10-D9A3BDB7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36" y="3377626"/>
            <a:ext cx="11242328" cy="18547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B95B00-295D-B27D-1C58-178AE2ACF9BC}"/>
              </a:ext>
            </a:extLst>
          </p:cNvPr>
          <p:cNvSpPr/>
          <p:nvPr/>
        </p:nvSpPr>
        <p:spPr>
          <a:xfrm>
            <a:off x="1220543" y="3842897"/>
            <a:ext cx="866061" cy="41087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72E29-219F-7DFA-1A3C-B2C09A761AB1}"/>
              </a:ext>
            </a:extLst>
          </p:cNvPr>
          <p:cNvSpPr/>
          <p:nvPr/>
        </p:nvSpPr>
        <p:spPr>
          <a:xfrm>
            <a:off x="5957027" y="4337693"/>
            <a:ext cx="866061" cy="41087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85A7A-4B2C-4707-06C0-DEB2C2D836E5}"/>
              </a:ext>
            </a:extLst>
          </p:cNvPr>
          <p:cNvSpPr txBox="1"/>
          <p:nvPr/>
        </p:nvSpPr>
        <p:spPr>
          <a:xfrm>
            <a:off x="1897279" y="4775498"/>
            <a:ext cx="4392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You can name the variable whatever you want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A02F3-EAD7-C982-6BC7-F53A2A116792}"/>
              </a:ext>
            </a:extLst>
          </p:cNvPr>
          <p:cNvSpPr txBox="1"/>
          <p:nvPr/>
        </p:nvSpPr>
        <p:spPr>
          <a:xfrm>
            <a:off x="692849" y="2125844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17752766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CDFC7-50ED-8673-1D40-C496FA081AF5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784795"/>
            <a:ext cx="8610600" cy="409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9271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784795"/>
            <a:ext cx="8610600" cy="40990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34F5D9-14C6-B1D6-0DEF-5CBBD4E985C0}"/>
              </a:ext>
            </a:extLst>
          </p:cNvPr>
          <p:cNvSpPr/>
          <p:nvPr/>
        </p:nvSpPr>
        <p:spPr>
          <a:xfrm>
            <a:off x="6096000" y="1784795"/>
            <a:ext cx="574689" cy="50724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46905-1402-0AAE-4E10-18B5EBAC61D9}"/>
              </a:ext>
            </a:extLst>
          </p:cNvPr>
          <p:cNvSpPr/>
          <p:nvPr/>
        </p:nvSpPr>
        <p:spPr>
          <a:xfrm>
            <a:off x="6135255" y="3906981"/>
            <a:ext cx="845605" cy="50724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D23CD-142D-3390-9274-647693633483}"/>
              </a:ext>
            </a:extLst>
          </p:cNvPr>
          <p:cNvSpPr txBox="1"/>
          <p:nvPr/>
        </p:nvSpPr>
        <p:spPr>
          <a:xfrm>
            <a:off x="6558057" y="842012"/>
            <a:ext cx="5416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Range operator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Creates a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collection of numbers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between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start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end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A305C-922F-B2D3-E5DD-8644B440790B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132732205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4797-EC42-D41B-759A-EDCD8DBE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8478-6BB3-3D29-F758-CB27F054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6EA3-6FA5-9A26-BCE9-D67FA153176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B9E27-6B36-7CB3-1BD9-3C7AA68FED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C4E8A8-0DF2-2622-5B39-9C3BA42D0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784795"/>
            <a:ext cx="8610600" cy="40990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358DE4-F281-73D3-3FAC-A3E0D43AFC28}"/>
              </a:ext>
            </a:extLst>
          </p:cNvPr>
          <p:cNvSpPr/>
          <p:nvPr/>
        </p:nvSpPr>
        <p:spPr>
          <a:xfrm>
            <a:off x="6096000" y="1784795"/>
            <a:ext cx="574689" cy="50724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F591C-60EA-24A1-D5D4-112C6087186B}"/>
              </a:ext>
            </a:extLst>
          </p:cNvPr>
          <p:cNvSpPr/>
          <p:nvPr/>
        </p:nvSpPr>
        <p:spPr>
          <a:xfrm>
            <a:off x="6135255" y="3906981"/>
            <a:ext cx="845605" cy="50724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D92BF-6A50-EB9B-9C80-E36DF69CC7A8}"/>
              </a:ext>
            </a:extLst>
          </p:cNvPr>
          <p:cNvSpPr txBox="1"/>
          <p:nvPr/>
        </p:nvSpPr>
        <p:spPr>
          <a:xfrm>
            <a:off x="6558057" y="842012"/>
            <a:ext cx="5416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Range operator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Creates a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collection of numbers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between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start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end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5468E-49D2-4C23-F75F-C41108CC5CAE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D11F9-7FE7-2124-B12D-5DDF857C4576}"/>
              </a:ext>
            </a:extLst>
          </p:cNvPr>
          <p:cNvSpPr txBox="1"/>
          <p:nvPr/>
        </p:nvSpPr>
        <p:spPr>
          <a:xfrm>
            <a:off x="4823068" y="1446241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end is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NOT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contained in that collection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7D3BE-6AC9-4571-7371-8C6CB86AB87E}"/>
              </a:ext>
            </a:extLst>
          </p:cNvPr>
          <p:cNvSpPr txBox="1"/>
          <p:nvPr/>
        </p:nvSpPr>
        <p:spPr>
          <a:xfrm>
            <a:off x="4932312" y="3568427"/>
            <a:ext cx="3204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end is contained in that collection</a:t>
            </a:r>
          </a:p>
        </p:txBody>
      </p:sp>
    </p:spTree>
    <p:extLst>
      <p:ext uri="{BB962C8B-B14F-4D97-AF65-F5344CB8AC3E}">
        <p14:creationId xmlns:p14="http://schemas.microsoft.com/office/powerpoint/2010/main" val="240408458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784795"/>
            <a:ext cx="8610600" cy="40990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4AAB99-B010-935E-07BC-0D7858890032}"/>
              </a:ext>
            </a:extLst>
          </p:cNvPr>
          <p:cNvSpPr txBox="1"/>
          <p:nvPr/>
        </p:nvSpPr>
        <p:spPr>
          <a:xfrm>
            <a:off x="4360589" y="5237541"/>
            <a:ext cx="3671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FFFF00"/>
                </a:solidFill>
                <a:latin typeface="Lato"/>
              </a:rPr>
              <a:t>n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is in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[0, 1, 2, 3, 4, 5, 6, 7, 8, 9]</a:t>
            </a:r>
          </a:p>
          <a:p>
            <a:r>
              <a:rPr lang="de-DE" sz="1800" dirty="0">
                <a:solidFill>
                  <a:srgbClr val="FFFF00"/>
                </a:solidFill>
                <a:latin typeface="Lato"/>
              </a:rPr>
              <a:t>m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is in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[0, 1, 2, 3, 4, 5, 6, 7, 8, 9, 10]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28EE0-9671-6019-A5BB-1C454408D78C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27013953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83" y="3334728"/>
            <a:ext cx="5684786" cy="2706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1577A-038E-6865-4D01-FA9578241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243" y="525000"/>
            <a:ext cx="1474313" cy="5685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D913F5-30A8-43E1-4AE9-6CE48E7B5D2E}"/>
              </a:ext>
            </a:extLst>
          </p:cNvPr>
          <p:cNvSpPr txBox="1"/>
          <p:nvPr/>
        </p:nvSpPr>
        <p:spPr>
          <a:xfrm>
            <a:off x="6556712" y="52500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8A1F6-6815-EC2A-9C6F-C0C611151D60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91799782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83" y="3334728"/>
            <a:ext cx="5684786" cy="2706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1577A-038E-6865-4D01-FA9578241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243" y="525000"/>
            <a:ext cx="1474313" cy="5685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D913F5-30A8-43E1-4AE9-6CE48E7B5D2E}"/>
              </a:ext>
            </a:extLst>
          </p:cNvPr>
          <p:cNvSpPr txBox="1"/>
          <p:nvPr/>
        </p:nvSpPr>
        <p:spPr>
          <a:xfrm>
            <a:off x="6556712" y="52500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C3435-388A-238E-6C5A-667F672CB076}"/>
              </a:ext>
            </a:extLst>
          </p:cNvPr>
          <p:cNvSpPr/>
          <p:nvPr/>
        </p:nvSpPr>
        <p:spPr>
          <a:xfrm>
            <a:off x="7416243" y="525000"/>
            <a:ext cx="1474313" cy="270964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F1E0A-C4C1-DF7C-43B5-E45ED4FC8F27}"/>
              </a:ext>
            </a:extLst>
          </p:cNvPr>
          <p:cNvSpPr/>
          <p:nvPr/>
        </p:nvSpPr>
        <p:spPr>
          <a:xfrm>
            <a:off x="740183" y="3334728"/>
            <a:ext cx="5684786" cy="130977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41698-C0AB-9C8A-1288-A69C9016C81D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152294033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Loops - for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290246-3023-A9B1-3196-0BBC3964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83" y="3334728"/>
            <a:ext cx="5684786" cy="2706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1577A-038E-6865-4D01-FA9578241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243" y="525000"/>
            <a:ext cx="1474313" cy="5685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D913F5-30A8-43E1-4AE9-6CE48E7B5D2E}"/>
              </a:ext>
            </a:extLst>
          </p:cNvPr>
          <p:cNvSpPr txBox="1"/>
          <p:nvPr/>
        </p:nvSpPr>
        <p:spPr>
          <a:xfrm>
            <a:off x="6556712" y="52500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C3435-388A-238E-6C5A-667F672CB076}"/>
              </a:ext>
            </a:extLst>
          </p:cNvPr>
          <p:cNvSpPr/>
          <p:nvPr/>
        </p:nvSpPr>
        <p:spPr>
          <a:xfrm>
            <a:off x="7416243" y="525000"/>
            <a:ext cx="1474313" cy="270964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F1E0A-C4C1-DF7C-43B5-E45ED4FC8F27}"/>
              </a:ext>
            </a:extLst>
          </p:cNvPr>
          <p:cNvSpPr/>
          <p:nvPr/>
        </p:nvSpPr>
        <p:spPr>
          <a:xfrm>
            <a:off x="740183" y="3334728"/>
            <a:ext cx="5684786" cy="130977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6B6EA-7A41-20FD-DC69-ADB896E887F8}"/>
              </a:ext>
            </a:extLst>
          </p:cNvPr>
          <p:cNvSpPr/>
          <p:nvPr/>
        </p:nvSpPr>
        <p:spPr>
          <a:xfrm>
            <a:off x="745895" y="4644507"/>
            <a:ext cx="5684786" cy="139646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2356AB-D066-245A-D886-24AB399C8157}"/>
              </a:ext>
            </a:extLst>
          </p:cNvPr>
          <p:cNvSpPr/>
          <p:nvPr/>
        </p:nvSpPr>
        <p:spPr>
          <a:xfrm flipV="1">
            <a:off x="7416243" y="3234640"/>
            <a:ext cx="1474313" cy="297615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C482FB-FC14-6570-2E6F-874F21EFEFC7}"/>
              </a:ext>
            </a:extLst>
          </p:cNvPr>
          <p:cNvSpPr txBox="1"/>
          <p:nvPr/>
        </p:nvSpPr>
        <p:spPr>
          <a:xfrm>
            <a:off x="1790700" y="1446241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may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205478693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D161-24E2-2905-AED8-F9598FD4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51ED2-0F5D-DD5E-4A6C-AD2FB682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18F9-B72B-6CB2-7B1B-69F294F54D7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18535-3BC5-E320-2CE5-653FE0CCA95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B92C97-96C7-5314-AA3D-F73C4B76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32FD7E-CF7A-E376-6261-6E1A766636CD}"/>
              </a:ext>
            </a:extLst>
          </p:cNvPr>
          <p:cNvSpPr txBox="1"/>
          <p:nvPr/>
        </p:nvSpPr>
        <p:spPr>
          <a:xfrm>
            <a:off x="7165869" y="1703873"/>
            <a:ext cx="4273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For more control over loops, we can also use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18759114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082E-2AA3-2AD5-7073-BDC07F3F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ADC0-C007-FBDF-9616-94D3D162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60D2A-EC81-4277-9088-845CA42503D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54234-73D1-75AC-C86B-D918E356ED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219240-530A-E6C2-D505-3D6809386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C45F4-3DB0-6C3D-35B8-E285D942F405}"/>
              </a:ext>
            </a:extLst>
          </p:cNvPr>
          <p:cNvSpPr txBox="1"/>
          <p:nvPr/>
        </p:nvSpPr>
        <p:spPr>
          <a:xfrm>
            <a:off x="7165868" y="1703873"/>
            <a:ext cx="4960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For more control over loops, we can also use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Skip to the next iteration and jump to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start of the loop block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72820-D9CC-DD08-D00E-C29E868FBFF6}"/>
              </a:ext>
            </a:extLst>
          </p:cNvPr>
          <p:cNvSpPr/>
          <p:nvPr/>
        </p:nvSpPr>
        <p:spPr>
          <a:xfrm>
            <a:off x="4127759" y="2653532"/>
            <a:ext cx="1647076" cy="3535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FEC7A-2E15-DADC-AFCA-15896C2D0119}"/>
              </a:ext>
            </a:extLst>
          </p:cNvPr>
          <p:cNvSpPr/>
          <p:nvPr/>
        </p:nvSpPr>
        <p:spPr>
          <a:xfrm>
            <a:off x="6246523" y="1768348"/>
            <a:ext cx="264741" cy="35355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70824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36A5-86BF-E10E-D9C7-4620B577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0C11-6711-9F0E-A048-9CCCC9F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DE108-7923-42C1-6466-D8A72DD392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9B08-68FE-45CB-9D14-9E899DDF8A8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21EB99-BE97-78D0-87B6-96569C6BB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1AFEF8-FC6C-F6F4-7E47-17B1F807B620}"/>
              </a:ext>
            </a:extLst>
          </p:cNvPr>
          <p:cNvSpPr txBox="1"/>
          <p:nvPr/>
        </p:nvSpPr>
        <p:spPr>
          <a:xfrm>
            <a:off x="7165868" y="1703873"/>
            <a:ext cx="5026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For more control over loops, we can also use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Skip to the next iteration and jump to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start of the loop block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Break out of the loop, jump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behind the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3D9047-9508-8E9F-9D55-0444E79838B6}"/>
              </a:ext>
            </a:extLst>
          </p:cNvPr>
          <p:cNvSpPr/>
          <p:nvPr/>
        </p:nvSpPr>
        <p:spPr>
          <a:xfrm>
            <a:off x="4127759" y="3954558"/>
            <a:ext cx="1088617" cy="3535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33111-D4AF-420E-4879-7E8757064F0A}"/>
              </a:ext>
            </a:extLst>
          </p:cNvPr>
          <p:cNvSpPr/>
          <p:nvPr/>
        </p:nvSpPr>
        <p:spPr>
          <a:xfrm>
            <a:off x="2687113" y="5272525"/>
            <a:ext cx="264741" cy="35355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254566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25A7-1FFB-8668-781C-75A575CB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25A1-C0FA-8B80-7AB3-E96203F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2B22C-1766-5CEF-8C52-8307D0F683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98348-BE09-A60D-B8EB-1ECECC0874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353A09-F8C6-C971-82CB-8FF83F8B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20C813-5937-2F42-682B-C0FF9B5DBB6E}"/>
              </a:ext>
            </a:extLst>
          </p:cNvPr>
          <p:cNvSpPr txBox="1"/>
          <p:nvPr/>
        </p:nvSpPr>
        <p:spPr>
          <a:xfrm>
            <a:off x="7165868" y="1703873"/>
            <a:ext cx="5026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For more control over loops, we can also use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Skip to the next iteration and jump to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start of the loop block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de-DE" sz="1600">
                <a:solidFill>
                  <a:srgbClr val="00FF00"/>
                </a:solidFill>
                <a:latin typeface="Lato"/>
              </a:rPr>
              <a:t>break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Break out of the loop, jump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behind the loop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9063B8-482C-1C9D-1685-E6599723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34" y="3594160"/>
            <a:ext cx="4114800" cy="18967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8CD1D9-5E0F-C363-9B9E-AD7BD2D806BE}"/>
              </a:ext>
            </a:extLst>
          </p:cNvPr>
          <p:cNvSpPr txBox="1"/>
          <p:nvPr/>
        </p:nvSpPr>
        <p:spPr>
          <a:xfrm>
            <a:off x="7621534" y="3259723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4795556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4B46-AF0E-442C-773E-A10AFD6CA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D67E-2B09-2DAD-14D9-2B141440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4CE6C-AE5C-717C-FFDE-C696C768E52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6EA4-EB4C-ADB5-8D21-BF776C3A10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DE0E7E-33C2-AE8E-3B1D-1ACD4895D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E320D2-FACE-AFDE-89E1-18D54C5B8BA8}"/>
              </a:ext>
            </a:extLst>
          </p:cNvPr>
          <p:cNvSpPr txBox="1"/>
          <p:nvPr/>
        </p:nvSpPr>
        <p:spPr>
          <a:xfrm>
            <a:off x="7165869" y="2242210"/>
            <a:ext cx="45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n = [0, 1, 2, 3, 4] were skipped by the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continue</a:t>
            </a:r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we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broke out of the loop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at n = 7, before printing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A220A4-BB2B-F737-7B52-8A168073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34" y="3594160"/>
            <a:ext cx="4114800" cy="18967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ECF43D-7882-05C3-1898-79FC0DC765C5}"/>
              </a:ext>
            </a:extLst>
          </p:cNvPr>
          <p:cNvSpPr txBox="1"/>
          <p:nvPr/>
        </p:nvSpPr>
        <p:spPr>
          <a:xfrm>
            <a:off x="7621534" y="3259723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230A50-11A1-3AC7-9887-977B07442FCF}"/>
              </a:ext>
            </a:extLst>
          </p:cNvPr>
          <p:cNvSpPr/>
          <p:nvPr/>
        </p:nvSpPr>
        <p:spPr>
          <a:xfrm>
            <a:off x="3379056" y="2188814"/>
            <a:ext cx="2414189" cy="124018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20A5E-3039-72F4-39CA-F15650B44F32}"/>
              </a:ext>
            </a:extLst>
          </p:cNvPr>
          <p:cNvSpPr/>
          <p:nvPr/>
        </p:nvSpPr>
        <p:spPr>
          <a:xfrm>
            <a:off x="3379056" y="3503175"/>
            <a:ext cx="2414189" cy="12401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8587628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E5D0-877B-CE19-EE9B-DD9A4466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8C53-27C5-C8EB-88F2-1524AE58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89D5E-DD0A-FAED-3A08-DE5F3394C0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3BDF1-A9F8-9071-4330-52CD801513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25D2B7-8B62-2C05-DC90-C238D8147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A07B2F-0D5B-0593-B874-B7A924C60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0E9EB1-CB4F-C9CF-E56B-F04C1546E4D2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928D7A-2D9E-4B75-89B7-F91CEF2D8A39}"/>
              </a:ext>
            </a:extLst>
          </p:cNvPr>
          <p:cNvSpPr/>
          <p:nvPr/>
        </p:nvSpPr>
        <p:spPr>
          <a:xfrm>
            <a:off x="1478996" y="1340327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0995357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2995-90E3-FBF3-4516-4029C495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67D1-3E8D-3DF4-3A96-1ED8C2E1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18AC-462A-C652-7640-69E7047EB93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A773-4F1E-3154-493F-DE08D62375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926842-7C62-8DD7-6014-1E3259C7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1B1986-EB2C-7118-A517-A048551F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1E2315-C11D-77C5-FC41-A3D54D37FC21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67E42-7920-B552-E23B-612E613F8C23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423A3-BA28-0FED-6E2B-6B552381BDE4}"/>
              </a:ext>
            </a:extLst>
          </p:cNvPr>
          <p:cNvSpPr txBox="1"/>
          <p:nvPr/>
        </p:nvSpPr>
        <p:spPr>
          <a:xfrm>
            <a:off x="7714897" y="3360471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0</a:t>
            </a:r>
          </a:p>
        </p:txBody>
      </p:sp>
    </p:spTree>
    <p:extLst>
      <p:ext uri="{BB962C8B-B14F-4D97-AF65-F5344CB8AC3E}">
        <p14:creationId xmlns:p14="http://schemas.microsoft.com/office/powerpoint/2010/main" val="271909410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028D-6132-DDD9-2254-4A728990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C0C3-78C5-C99D-8420-C77E0DBE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29AAF-03EB-1CF3-5D5D-644627573F9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C3A6-5685-470E-12E9-CE012780FA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F13C48-C519-467B-C479-BC6DF4D8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579DC-317C-9DBF-92F6-1098CF786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F258E3-AEFE-CB2A-076E-B703903E5771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D3D45C-836D-4E3A-BC5F-CB1755ADB5E0}"/>
              </a:ext>
            </a:extLst>
          </p:cNvPr>
          <p:cNvSpPr/>
          <p:nvPr/>
        </p:nvSpPr>
        <p:spPr>
          <a:xfrm>
            <a:off x="1478996" y="2211802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F490B-EFDE-FB2B-579F-37472543BF04}"/>
              </a:ext>
            </a:extLst>
          </p:cNvPr>
          <p:cNvSpPr txBox="1"/>
          <p:nvPr/>
        </p:nvSpPr>
        <p:spPr>
          <a:xfrm>
            <a:off x="7714897" y="3360471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0</a:t>
            </a:r>
          </a:p>
        </p:txBody>
      </p:sp>
    </p:spTree>
    <p:extLst>
      <p:ext uri="{BB962C8B-B14F-4D97-AF65-F5344CB8AC3E}">
        <p14:creationId xmlns:p14="http://schemas.microsoft.com/office/powerpoint/2010/main" val="167638372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8E06-C291-2365-06CD-23447A3D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0B47-25E5-1744-8AAE-9738D327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1DCB9-9177-ECC3-6D30-7B2100C6F24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0237-FF7B-1C1D-078B-39DDBC1435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EB5584-3565-2075-FC49-A5A8D99F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014D7E-47E7-0819-EF00-9F8F49DCB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8AC0D7-0EF0-6163-42DC-540165E2A319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E8AD6-13B5-5760-A99A-9BAAD3DC885E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DDB32-E9ED-5660-192D-E9B838565DA7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1</a:t>
            </a:r>
          </a:p>
        </p:txBody>
      </p:sp>
    </p:spTree>
    <p:extLst>
      <p:ext uri="{BB962C8B-B14F-4D97-AF65-F5344CB8AC3E}">
        <p14:creationId xmlns:p14="http://schemas.microsoft.com/office/powerpoint/2010/main" val="1569347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4607-A5ED-8ADA-7EE1-8B02287B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4366-205A-AAF7-454F-B0149EAB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4AB2-8F84-D75E-AF5B-7BEE1CC9119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C7B2A-BE9A-E2DA-5AEC-3C66E66EB4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EA8BEB-D6F5-EC72-840B-5B0158D67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10D44-EBF0-7528-86AF-9843D0DA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07B4F2-9BFA-6EB3-0912-FAE885809A5B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01E6D-8EC6-DA1B-D9B4-6404CEEE62E1}"/>
              </a:ext>
            </a:extLst>
          </p:cNvPr>
          <p:cNvSpPr/>
          <p:nvPr/>
        </p:nvSpPr>
        <p:spPr>
          <a:xfrm>
            <a:off x="1478996" y="2211802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05EEE-A24C-D233-3AF8-A0DC98FE4BB9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1</a:t>
            </a:r>
          </a:p>
        </p:txBody>
      </p:sp>
    </p:spTree>
    <p:extLst>
      <p:ext uri="{BB962C8B-B14F-4D97-AF65-F5344CB8AC3E}">
        <p14:creationId xmlns:p14="http://schemas.microsoft.com/office/powerpoint/2010/main" val="71209562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76BA-2E59-4269-545F-CE873558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DB07-A37F-A753-3CEA-810C6DC7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CD56-821D-D5DB-360B-370E6B96F0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D0429-8241-3524-6E55-56E98BD367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F5376B-6937-B1AC-5444-A0FDBA53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610CEB-0E6D-55C1-9BC9-CCEE3FB68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358E1C-CA53-B3CF-3B27-0D05FD9D9EE4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6C8BF-7BDA-06B0-81A4-EC7E61C5DE7A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1C097-AED1-D252-BD97-4E8CA228DDD6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2</a:t>
            </a:r>
          </a:p>
        </p:txBody>
      </p:sp>
    </p:spTree>
    <p:extLst>
      <p:ext uri="{BB962C8B-B14F-4D97-AF65-F5344CB8AC3E}">
        <p14:creationId xmlns:p14="http://schemas.microsoft.com/office/powerpoint/2010/main" val="193905868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B2C3-33AF-4A8D-1600-54BC80B8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F1D0-BDAA-131D-3EA2-6A8DB223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72C31-630B-6F41-4E22-CEAA8AE4B99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90506-B687-0F25-11CF-B9D151EF0C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60B0CF-BD95-7D6F-345D-8892ADC31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D8D6D7-54AE-64E9-0A01-6B7231140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EC0894-DE12-D711-5786-11504F6A79CC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5604C-2167-21E5-3B3C-F273F84291D0}"/>
              </a:ext>
            </a:extLst>
          </p:cNvPr>
          <p:cNvSpPr/>
          <p:nvPr/>
        </p:nvSpPr>
        <p:spPr>
          <a:xfrm>
            <a:off x="1478996" y="2211802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97FAD-6D26-BFC8-D7C8-0AE709BBCC98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2</a:t>
            </a:r>
          </a:p>
        </p:txBody>
      </p:sp>
    </p:spTree>
    <p:extLst>
      <p:ext uri="{BB962C8B-B14F-4D97-AF65-F5344CB8AC3E}">
        <p14:creationId xmlns:p14="http://schemas.microsoft.com/office/powerpoint/2010/main" val="139332066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D034-A4A5-36E9-C064-9008318D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C86B-149E-0A6F-F91C-E1FC0DFA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CD7B7-8973-A05E-B055-0DF23EE1C74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FD85-4443-6318-9FC4-84780933567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23F529-09D1-EBEE-F498-73DEA7F1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407219-7FDC-F941-267D-8C5BA38EE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CBA65F-7418-0D74-89D5-B201E0AE00E9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F7E574-090D-3DF9-56EC-A841BF281F25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BDFBB-5E13-ACE4-020C-9514C4A1A16F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3</a:t>
            </a:r>
          </a:p>
        </p:txBody>
      </p:sp>
    </p:spTree>
    <p:extLst>
      <p:ext uri="{BB962C8B-B14F-4D97-AF65-F5344CB8AC3E}">
        <p14:creationId xmlns:p14="http://schemas.microsoft.com/office/powerpoint/2010/main" val="29936559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39F9-433B-1729-EEB6-EAF1FC0B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B16B-B6DA-3E56-07F5-3886ECF7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D6C8A-CF91-6F1D-71F1-8E391612C44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1F4A4-6C3C-7D05-D1C7-D0BA06B6F2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783A64-FA91-EC91-4DD2-A39926883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CCE96D-05D1-C505-884C-ADB52AF12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56A0BF-066B-E8C9-B21C-846D096D73FB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3257F-279A-3335-284E-80BBAD68FF81}"/>
              </a:ext>
            </a:extLst>
          </p:cNvPr>
          <p:cNvSpPr/>
          <p:nvPr/>
        </p:nvSpPr>
        <p:spPr>
          <a:xfrm>
            <a:off x="1478996" y="2211802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47DB5-074F-3F10-A355-6923A18A6041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3</a:t>
            </a:r>
          </a:p>
        </p:txBody>
      </p:sp>
    </p:spTree>
    <p:extLst>
      <p:ext uri="{BB962C8B-B14F-4D97-AF65-F5344CB8AC3E}">
        <p14:creationId xmlns:p14="http://schemas.microsoft.com/office/powerpoint/2010/main" val="42864264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1E04-212F-08E9-8EEE-B60FB1B2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C152-8BB3-D546-B1AA-888167D4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8F5E-E936-76D5-7BC2-C5F0AF8C29A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A98EE-ED42-0CB2-4E7D-289590B904E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C0285E-2A6E-A667-B038-A3F31594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15AEBC-8A64-5398-08A4-342DD83FD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A1E3C2-46EA-B6B7-9A3C-2A61FB455CD0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624D6-0F53-9B57-A2AA-20EC82EA746C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B3BB9-2797-F051-8072-A18F3876F708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4</a:t>
            </a:r>
          </a:p>
        </p:txBody>
      </p:sp>
    </p:spTree>
    <p:extLst>
      <p:ext uri="{BB962C8B-B14F-4D97-AF65-F5344CB8AC3E}">
        <p14:creationId xmlns:p14="http://schemas.microsoft.com/office/powerpoint/2010/main" val="223043103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F9369-DBF0-5425-6E69-8143FB33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B4D2-A6BA-6FE1-09CE-7D0E1D39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4E65-3A8E-BB8B-D9A9-4268D399025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0B2ED-EFC5-66F3-A0C0-CE3C7D9BAA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CB8AD0-0819-2873-C2CE-0FEAA48F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9E403-0002-E58D-E7A0-3B719F22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2262BA-AF51-8BD3-6AF2-1EACFCBB0A16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40C60-BCC1-4A17-E2EF-228460664BDD}"/>
              </a:ext>
            </a:extLst>
          </p:cNvPr>
          <p:cNvSpPr/>
          <p:nvPr/>
        </p:nvSpPr>
        <p:spPr>
          <a:xfrm>
            <a:off x="1478996" y="2211802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EC15E-135D-4B10-2B90-207778E8A669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4</a:t>
            </a:r>
          </a:p>
        </p:txBody>
      </p:sp>
    </p:spTree>
    <p:extLst>
      <p:ext uri="{BB962C8B-B14F-4D97-AF65-F5344CB8AC3E}">
        <p14:creationId xmlns:p14="http://schemas.microsoft.com/office/powerpoint/2010/main" val="109949462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0B72-391E-4505-4D37-F527E702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9A65-2A54-6FA2-A670-F802087A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C4390-AFEF-B475-5722-3CD1849ABB5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6065-E44A-732C-1ECE-9214AB51FF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B1D19F-ADC8-B31C-C054-9FDEB70C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9A28AE-4E5C-C43C-6403-2E10CAFA2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FC5AA3-6C8F-D9FE-904D-3919ED75B903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33CD9-8F95-E389-E8D1-0B0B218CCB12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27081-A770-DF08-8B38-43F44779838A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127295398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600F-3B2F-C6C3-880B-4BD58B5F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B3A9-09DA-D9BA-9CEA-51CACE24F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59D9-E424-7F8D-E687-083BAD0935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A5D84-04BB-1FAB-6BB7-42ACC6EF43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ECFC76-44F5-2B74-EA38-7B9E2EFE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D84F79-A4C8-2AA5-B3B6-512930393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C5367A-1CD8-E34D-A47D-A1D6A2126DD2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3DE46-0736-86CE-2D91-528381306DEF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DBBBE-87B8-ACF8-77AF-083005DC27F2}"/>
              </a:ext>
            </a:extLst>
          </p:cNvPr>
          <p:cNvSpPr/>
          <p:nvPr/>
        </p:nvSpPr>
        <p:spPr>
          <a:xfrm>
            <a:off x="1478997" y="2203197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1249582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3017-983E-3FF7-4260-7C241B56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3588-D398-5C29-E7D0-920ACCF4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47B0-650C-ECB7-0DC3-82C3A21FE3A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1CC11-CC3E-E2BA-0E59-E4F7674114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EDEE6A-C82F-3B46-CC02-8008C9515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FE979B-44A4-A76F-6C31-72F72E2E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326ABB-93C9-0F92-1B7C-345C5E2A106A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37053-B663-B728-C5C4-6AF5619F77CB}"/>
              </a:ext>
            </a:extLst>
          </p:cNvPr>
          <p:cNvSpPr txBox="1"/>
          <p:nvPr/>
        </p:nvSpPr>
        <p:spPr>
          <a:xfrm>
            <a:off x="7714897" y="3360471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2CE26E-65BE-C6A6-1929-FFCDDA02CD70}"/>
              </a:ext>
            </a:extLst>
          </p:cNvPr>
          <p:cNvSpPr/>
          <p:nvPr/>
        </p:nvSpPr>
        <p:spPr>
          <a:xfrm>
            <a:off x="1478997" y="3528736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4423550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8DDC0-8CC0-B954-2AD2-41BCE038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71FB-7CA4-AE24-EE2E-08786002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6A36C-68DD-0DA8-FF5C-A46314653D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101D8-65E6-E9FD-9F1E-212AD968A1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C234BC-9E8C-ADFB-5A90-D7C11B1A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408104-D0D4-A9CF-E8C8-627D13442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DCDCD6-8507-2844-53D7-62656419A989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680EB-427A-FD8C-1C07-4B7917821C36}"/>
              </a:ext>
            </a:extLst>
          </p:cNvPr>
          <p:cNvSpPr txBox="1"/>
          <p:nvPr/>
        </p:nvSpPr>
        <p:spPr>
          <a:xfrm>
            <a:off x="7714897" y="3360471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69896-406B-83AB-FF6A-D7F48C65E8BE}"/>
              </a:ext>
            </a:extLst>
          </p:cNvPr>
          <p:cNvSpPr/>
          <p:nvPr/>
        </p:nvSpPr>
        <p:spPr>
          <a:xfrm>
            <a:off x="1478997" y="4833037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16A21-5F32-E780-4E34-4FAFD1BAAE0B}"/>
              </a:ext>
            </a:extLst>
          </p:cNvPr>
          <p:cNvSpPr/>
          <p:nvPr/>
        </p:nvSpPr>
        <p:spPr>
          <a:xfrm>
            <a:off x="8898396" y="1878507"/>
            <a:ext cx="1074088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1142369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167E-081F-948C-0445-6817C5EA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1897B-6746-9553-AFED-DF0D8458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C688-7884-AD90-FCF9-F6E8EF36C94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0200-4594-3199-47A4-7065BC2FF7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526146-AE32-2956-E991-8BFC5DE1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154169-AB14-1B7A-4B18-63C5243A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A2C51B-10A7-2E3B-8CB5-7A34BF14B86D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758AC4-B190-90BC-DFB8-4A7A52EB83FE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4F3DF-8A31-B98A-4FA1-1F25D09B33A8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6</a:t>
            </a:r>
          </a:p>
        </p:txBody>
      </p:sp>
    </p:spTree>
    <p:extLst>
      <p:ext uri="{BB962C8B-B14F-4D97-AF65-F5344CB8AC3E}">
        <p14:creationId xmlns:p14="http://schemas.microsoft.com/office/powerpoint/2010/main" val="128416863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ED15-8F30-EFD5-FDE9-5A24BCA9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B29E-21CC-B925-7237-91A54B62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D87E4-3C06-DAA5-FC45-E71A5DA4B29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76A24-AAC8-C4FA-8F31-BB7AE3A6CC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832B68-A9EC-3E55-F994-DB998CAFE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AB6A9B-3042-AA6B-353D-F67CF82A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EEF57E-9751-E75D-AA98-ECCEBDD5DB3F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C09CE-0919-8988-2B03-A9C7580D583D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3AE3E8-5B5F-7B3C-AF4B-BA4AE54A043B}"/>
              </a:ext>
            </a:extLst>
          </p:cNvPr>
          <p:cNvSpPr/>
          <p:nvPr/>
        </p:nvSpPr>
        <p:spPr>
          <a:xfrm>
            <a:off x="1478997" y="220015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0089894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4658-AFA1-FC29-43BE-43A27490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3A34-305E-EC38-30AF-70DE0175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9270-5D13-2E13-6898-C9A8F807450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FB5E-B9ED-4ACB-6732-BC34DFEBAC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1739ED-85AD-3392-0746-B26E0D94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0E0BD8-5DC9-13C1-086F-FD514F30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7FC6FA-E759-AF2F-BAF4-0ED0975D45BF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C6529-A6C3-D553-4590-3CA29A45B4D8}"/>
              </a:ext>
            </a:extLst>
          </p:cNvPr>
          <p:cNvSpPr txBox="1"/>
          <p:nvPr/>
        </p:nvSpPr>
        <p:spPr>
          <a:xfrm>
            <a:off x="7714897" y="3360471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5C537-0694-EF1B-BC0F-8C21A02302AB}"/>
              </a:ext>
            </a:extLst>
          </p:cNvPr>
          <p:cNvSpPr/>
          <p:nvPr/>
        </p:nvSpPr>
        <p:spPr>
          <a:xfrm>
            <a:off x="1478997" y="3528736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8684620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9696C-3764-055A-F7DA-D5E24912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57B3-E3FB-B60F-2B33-25C34803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D887-5878-A98B-1838-A63FD280D49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1515-3309-CDCD-2EAD-2EB36AAC44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D04006-2A54-D8D5-B3C4-1668FF766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D041C5-7E45-EC28-787D-243A02C67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C3920C-12CC-5480-DCBC-EEEB511DE14A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AE690-48D2-DB16-0789-A76117A6D3BB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36464-5D1A-996A-9B4D-784332F9B235}"/>
              </a:ext>
            </a:extLst>
          </p:cNvPr>
          <p:cNvSpPr/>
          <p:nvPr/>
        </p:nvSpPr>
        <p:spPr>
          <a:xfrm>
            <a:off x="1478997" y="4833037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7EA6B-FD13-7C03-90C2-03E6642A5A7D}"/>
              </a:ext>
            </a:extLst>
          </p:cNvPr>
          <p:cNvSpPr/>
          <p:nvPr/>
        </p:nvSpPr>
        <p:spPr>
          <a:xfrm>
            <a:off x="8898396" y="2394975"/>
            <a:ext cx="1074088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2683560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356B-A7C8-CE4D-2020-87838371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7554-B759-05E4-E76D-18F0E4D8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6AA0-9A5D-A930-49DE-EC593C5A70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1640-EE8C-9054-4165-BF360980ED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5415D9-3863-E9E1-75BB-147CA8B95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42280E-DA0C-03D3-4162-4CF73D461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F5E7B2-86D6-CACE-79CB-811D938C9324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8B396-9474-B967-3D16-A8BC04618382}"/>
              </a:ext>
            </a:extLst>
          </p:cNvPr>
          <p:cNvSpPr/>
          <p:nvPr/>
        </p:nvSpPr>
        <p:spPr>
          <a:xfrm>
            <a:off x="1478996" y="176991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E20B9-28BB-39AE-C08E-BDE1E97A3360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7</a:t>
            </a:r>
          </a:p>
        </p:txBody>
      </p:sp>
    </p:spTree>
    <p:extLst>
      <p:ext uri="{BB962C8B-B14F-4D97-AF65-F5344CB8AC3E}">
        <p14:creationId xmlns:p14="http://schemas.microsoft.com/office/powerpoint/2010/main" val="192649951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6467-9926-ECB0-7E06-8CC02C9A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AE0D-9219-4020-609C-6DD40380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C8532-B274-3A20-EB9D-27FE650234A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E57AC-7D80-5EBC-C818-1DEEC87FE05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9E0CD3-26C1-B4D8-1096-65376840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761282-BFF1-B81F-0295-5BDA045D0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F8AA46-1FAD-AA77-8AB1-81E88BD4812C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D5519-B630-28E2-4738-BBCF5BF3C418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637EB-7C48-DB61-D4C6-D8E905673B98}"/>
              </a:ext>
            </a:extLst>
          </p:cNvPr>
          <p:cNvSpPr/>
          <p:nvPr/>
        </p:nvSpPr>
        <p:spPr>
          <a:xfrm>
            <a:off x="1478997" y="2200150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4533919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6C0BD-9104-3022-329C-730F1A1B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449D-8BA4-2CA6-929E-BF8DE2A8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9484-B16A-569C-F66F-05F98013739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54313-0C4D-E8A4-1F42-5D570A21C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8307A1-1844-A585-2534-B5A5D7CE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96236-1A00-96FD-3AE2-915656510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95B469-ADE5-1E5E-B245-702261C94276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8A81A-A632-DC8E-491A-53213DD9894A}"/>
              </a:ext>
            </a:extLst>
          </p:cNvPr>
          <p:cNvSpPr txBox="1"/>
          <p:nvPr/>
        </p:nvSpPr>
        <p:spPr>
          <a:xfrm>
            <a:off x="7714897" y="3360471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chemeClr val="bg1"/>
                </a:solidFill>
                <a:latin typeface="Lato"/>
              </a:rPr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7AF1C-A993-5EC4-BA15-69BB544D36B2}"/>
              </a:ext>
            </a:extLst>
          </p:cNvPr>
          <p:cNvSpPr/>
          <p:nvPr/>
        </p:nvSpPr>
        <p:spPr>
          <a:xfrm>
            <a:off x="1478997" y="3528736"/>
            <a:ext cx="5686872" cy="121880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6489111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E177C-C264-DC3A-93CB-68399D47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31EF-4EB2-E317-9ABF-969C59A5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Loops - break and continue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7C6BA-D4D1-86DF-2D04-0CC6207B180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2A38E-429B-FF62-9CBF-9BD4F7F9A7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6D7D00-1CB7-546A-7A96-6B7EE1DC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97" y="1340327"/>
            <a:ext cx="5686872" cy="471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2A147-2EBC-9227-978C-9D2ACD506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396" y="1340327"/>
            <a:ext cx="3127208" cy="1441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F3184D-59A2-8322-951C-14EE872DF714}"/>
              </a:ext>
            </a:extLst>
          </p:cNvPr>
          <p:cNvSpPr txBox="1"/>
          <p:nvPr/>
        </p:nvSpPr>
        <p:spPr>
          <a:xfrm>
            <a:off x="8038864" y="1340327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  <a:latin typeface="Lato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5BFFE-038F-7BFE-75AD-87ADD1452C49}"/>
              </a:ext>
            </a:extLst>
          </p:cNvPr>
          <p:cNvSpPr/>
          <p:nvPr/>
        </p:nvSpPr>
        <p:spPr>
          <a:xfrm>
            <a:off x="1478996" y="5517673"/>
            <a:ext cx="5686872" cy="3651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4406787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429070-CA12-730F-B289-E1E19A56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Time for exercises!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72529973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11066151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3" y="1401057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387317007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3" y="1401057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EC2EA-FFEB-C8E2-F464-C36418C1ED82}"/>
              </a:ext>
            </a:extLst>
          </p:cNvPr>
          <p:cNvSpPr txBox="1"/>
          <p:nvPr/>
        </p:nvSpPr>
        <p:spPr>
          <a:xfrm>
            <a:off x="7769243" y="2815362"/>
            <a:ext cx="1622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</p:txBody>
      </p:sp>
    </p:spTree>
    <p:extLst>
      <p:ext uri="{BB962C8B-B14F-4D97-AF65-F5344CB8AC3E}">
        <p14:creationId xmlns:p14="http://schemas.microsoft.com/office/powerpoint/2010/main" val="315879262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3" y="1401057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24DE-A03A-FF4D-DE2F-B6B003E12FF0}"/>
              </a:ext>
            </a:extLst>
          </p:cNvPr>
          <p:cNvSpPr txBox="1"/>
          <p:nvPr/>
        </p:nvSpPr>
        <p:spPr>
          <a:xfrm>
            <a:off x="7769243" y="2815362"/>
            <a:ext cx="1830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answer is 100.</a:t>
            </a:r>
          </a:p>
        </p:txBody>
      </p:sp>
    </p:spTree>
    <p:extLst>
      <p:ext uri="{BB962C8B-B14F-4D97-AF65-F5344CB8AC3E}">
        <p14:creationId xmlns:p14="http://schemas.microsoft.com/office/powerpoint/2010/main" val="169453256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2" y="1401057"/>
            <a:ext cx="2800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24DE-A03A-FF4D-DE2F-B6B003E12FF0}"/>
              </a:ext>
            </a:extLst>
          </p:cNvPr>
          <p:cNvSpPr txBox="1"/>
          <p:nvPr/>
        </p:nvSpPr>
        <p:spPr>
          <a:xfrm>
            <a:off x="7769243" y="2815362"/>
            <a:ext cx="42591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answer is 100.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When nesting loops, runtime easily blows up</a:t>
            </a:r>
          </a:p>
        </p:txBody>
      </p:sp>
    </p:spTree>
    <p:extLst>
      <p:ext uri="{BB962C8B-B14F-4D97-AF65-F5344CB8AC3E}">
        <p14:creationId xmlns:p14="http://schemas.microsoft.com/office/powerpoint/2010/main" val="295667100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2" y="1401057"/>
            <a:ext cx="2800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24DE-A03A-FF4D-DE2F-B6B003E12FF0}"/>
              </a:ext>
            </a:extLst>
          </p:cNvPr>
          <p:cNvSpPr txBox="1"/>
          <p:nvPr/>
        </p:nvSpPr>
        <p:spPr>
          <a:xfrm>
            <a:off x="7769243" y="2815362"/>
            <a:ext cx="42591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answer is 100.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When nesting loops, runtime easily blows up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For every outer loop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you need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run the inner loop 10 times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2F3C4-786D-35F4-7FEC-6F87CC6837F1}"/>
              </a:ext>
            </a:extLst>
          </p:cNvPr>
          <p:cNvSpPr/>
          <p:nvPr/>
        </p:nvSpPr>
        <p:spPr>
          <a:xfrm>
            <a:off x="3359514" y="2912384"/>
            <a:ext cx="4409729" cy="47129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3355533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2" y="1401057"/>
            <a:ext cx="2788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24DE-A03A-FF4D-DE2F-B6B003E12FF0}"/>
              </a:ext>
            </a:extLst>
          </p:cNvPr>
          <p:cNvSpPr txBox="1"/>
          <p:nvPr/>
        </p:nvSpPr>
        <p:spPr>
          <a:xfrm>
            <a:off x="7769244" y="2815362"/>
            <a:ext cx="42406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answer is 100.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When nesting loops, runtime easily blows up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For every outer loop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you need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run the inner loop 10 times</a:t>
            </a:r>
            <a:b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run the outer loop 10 times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2F3C4-786D-35F4-7FEC-6F87CC6837F1}"/>
              </a:ext>
            </a:extLst>
          </p:cNvPr>
          <p:cNvSpPr/>
          <p:nvPr/>
        </p:nvSpPr>
        <p:spPr>
          <a:xfrm>
            <a:off x="2544756" y="2400804"/>
            <a:ext cx="4409729" cy="47935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1466247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3" y="1401057"/>
            <a:ext cx="2796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C24DE-A03A-FF4D-DE2F-B6B003E12FF0}"/>
              </a:ext>
            </a:extLst>
          </p:cNvPr>
          <p:cNvSpPr txBox="1"/>
          <p:nvPr/>
        </p:nvSpPr>
        <p:spPr>
          <a:xfrm>
            <a:off x="7769244" y="2815362"/>
            <a:ext cx="42529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The answer is 100.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When nesting loops, runtime easily blows up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For every outer loop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you need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run the inner loop 10 times</a:t>
            </a:r>
            <a:b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run the outer loop 10 times</a:t>
            </a:r>
            <a:b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10x10 == 100 iterations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102225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8ABBD-5B56-FA98-6FE0-69AABE7A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01057"/>
            <a:ext cx="6039243" cy="4521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1085489" y="1401057"/>
            <a:ext cx="644511" cy="422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58FB5-CED4-903D-3453-89CAD77CC1BF}"/>
              </a:ext>
            </a:extLst>
          </p:cNvPr>
          <p:cNvSpPr txBox="1"/>
          <p:nvPr/>
        </p:nvSpPr>
        <p:spPr>
          <a:xfrm>
            <a:off x="7769243" y="1401057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2FAD-97DA-9EB4-AC68-19747253BB7A}"/>
              </a:ext>
            </a:extLst>
          </p:cNvPr>
          <p:cNvSpPr txBox="1"/>
          <p:nvPr/>
        </p:nvSpPr>
        <p:spPr>
          <a:xfrm>
            <a:off x="7769243" y="2923084"/>
            <a:ext cx="39066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How often we run through the loop is not linked to the variable name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Variable shadowing did not matter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B2A79C-CAED-2934-D6BE-ED2CA1BC1F3A}"/>
              </a:ext>
            </a:extLst>
          </p:cNvPr>
          <p:cNvSpPr/>
          <p:nvPr/>
        </p:nvSpPr>
        <p:spPr>
          <a:xfrm>
            <a:off x="3347429" y="2410391"/>
            <a:ext cx="334340" cy="4189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38701-3913-73C5-F807-FEF369BC442F}"/>
              </a:ext>
            </a:extLst>
          </p:cNvPr>
          <p:cNvSpPr/>
          <p:nvPr/>
        </p:nvSpPr>
        <p:spPr>
          <a:xfrm>
            <a:off x="4152396" y="2923084"/>
            <a:ext cx="334340" cy="4189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4531187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458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406129936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AAA68-E428-F3DB-37B5-0E441860A494}"/>
              </a:ext>
            </a:extLst>
          </p:cNvPr>
          <p:cNvSpPr txBox="1"/>
          <p:nvPr/>
        </p:nvSpPr>
        <p:spPr>
          <a:xfrm>
            <a:off x="6799591" y="2813151"/>
            <a:ext cx="5046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However it does not do what you might think it does...</a:t>
            </a:r>
          </a:p>
        </p:txBody>
      </p:sp>
    </p:spTree>
    <p:extLst>
      <p:ext uri="{BB962C8B-B14F-4D97-AF65-F5344CB8AC3E}">
        <p14:creationId xmlns:p14="http://schemas.microsoft.com/office/powerpoint/2010/main" val="40702038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AAA68-E428-F3DB-37B5-0E441860A494}"/>
              </a:ext>
            </a:extLst>
          </p:cNvPr>
          <p:cNvSpPr txBox="1"/>
          <p:nvPr/>
        </p:nvSpPr>
        <p:spPr>
          <a:xfrm>
            <a:off x="3770389" y="2639939"/>
            <a:ext cx="4828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We‘re never actually setting elements in the vector!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We only assign to a local variable.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35FCF-EC22-7A07-46C5-481F5C5530E3}"/>
              </a:ext>
            </a:extLst>
          </p:cNvPr>
          <p:cNvSpPr/>
          <p:nvPr/>
        </p:nvSpPr>
        <p:spPr>
          <a:xfrm>
            <a:off x="2396775" y="2578044"/>
            <a:ext cx="1373614" cy="431017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6845095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AAA68-E428-F3DB-37B5-0E441860A494}"/>
              </a:ext>
            </a:extLst>
          </p:cNvPr>
          <p:cNvSpPr txBox="1"/>
          <p:nvPr/>
        </p:nvSpPr>
        <p:spPr>
          <a:xfrm>
            <a:off x="5276934" y="3259723"/>
            <a:ext cx="1661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prints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[1, 2, 3, 4]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35FCF-EC22-7A07-46C5-481F5C5530E3}"/>
              </a:ext>
            </a:extLst>
          </p:cNvPr>
          <p:cNvSpPr/>
          <p:nvPr/>
        </p:nvSpPr>
        <p:spPr>
          <a:xfrm>
            <a:off x="1929504" y="3262838"/>
            <a:ext cx="3347430" cy="338368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7880474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AAA68-E428-F3DB-37B5-0E441860A494}"/>
              </a:ext>
            </a:extLst>
          </p:cNvPr>
          <p:cNvSpPr txBox="1"/>
          <p:nvPr/>
        </p:nvSpPr>
        <p:spPr>
          <a:xfrm>
            <a:off x="6096000" y="3900158"/>
            <a:ext cx="4294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FF00"/>
                </a:solidFill>
                <a:latin typeface="Lato"/>
              </a:rPr>
              <a:t>vector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contains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3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so it prints those two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35FCF-EC22-7A07-46C5-481F5C5530E3}"/>
              </a:ext>
            </a:extLst>
          </p:cNvPr>
          <p:cNvSpPr/>
          <p:nvPr/>
        </p:nvSpPr>
        <p:spPr>
          <a:xfrm>
            <a:off x="2449140" y="3900158"/>
            <a:ext cx="3456191" cy="341529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3099228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80919-0B16-FA28-4C2F-19D13080099D}"/>
              </a:ext>
            </a:extLst>
          </p:cNvPr>
          <p:cNvSpPr/>
          <p:nvPr/>
        </p:nvSpPr>
        <p:spPr>
          <a:xfrm>
            <a:off x="762817" y="1359375"/>
            <a:ext cx="644511" cy="42296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408A4-2E55-9AA0-1DFE-368C7FA35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28" y="1359375"/>
            <a:ext cx="7322966" cy="4139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C711A0-4B4E-073F-562A-B11466C54839}"/>
              </a:ext>
            </a:extLst>
          </p:cNvPr>
          <p:cNvSpPr txBox="1"/>
          <p:nvPr/>
        </p:nvSpPr>
        <p:spPr>
          <a:xfrm>
            <a:off x="8730294" y="1359375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this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88043A-6D74-10EB-4A8D-826A70B06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971" y="4593802"/>
            <a:ext cx="518232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6996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Next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4252C0-DE64-D869-65C5-305B1D85A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Ownership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057919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381476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555B-EE59-611F-22AA-C2EA46A5C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 might think that there exists the „most powerful“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90941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555B-EE59-611F-22AA-C2EA46A5C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 might think that there exists the „most powerful“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Indeed, some loops are more convenient than others, you would not use </a:t>
            </a:r>
            <a:r>
              <a:rPr lang="de-DE" dirty="0">
                <a:solidFill>
                  <a:srgbClr val="FFFF00"/>
                </a:solidFill>
              </a:rPr>
              <a:t>loop</a:t>
            </a:r>
            <a:r>
              <a:rPr lang="de-DE" dirty="0"/>
              <a:t> to iterate over a collection!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73044991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555B-EE59-611F-22AA-C2EA46A5C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 might think that there exists the „most powerful“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Indeed, some loops are more convenient than others, you would not use </a:t>
            </a:r>
            <a:r>
              <a:rPr lang="de-DE" dirty="0">
                <a:solidFill>
                  <a:srgbClr val="FFFF00"/>
                </a:solidFill>
              </a:rPr>
              <a:t>loop</a:t>
            </a:r>
            <a:r>
              <a:rPr lang="de-DE" dirty="0"/>
              <a:t> to iterate over a collection!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However, all loops can be converted to each other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All loops are equally powerful!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607364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5E0E63-6C36-4EE5-E834-C9AE4AB4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0" y="2525705"/>
            <a:ext cx="11518280" cy="1806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7319167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5E0E63-6C36-4EE5-E834-C9AE4AB4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0" y="2525705"/>
            <a:ext cx="11518280" cy="1806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A4D3D-C7C4-857C-8BCA-ADDFF121143A}"/>
              </a:ext>
            </a:extLst>
          </p:cNvPr>
          <p:cNvSpPr/>
          <p:nvPr/>
        </p:nvSpPr>
        <p:spPr>
          <a:xfrm>
            <a:off x="336860" y="2976836"/>
            <a:ext cx="5093145" cy="38267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01522-5F3E-5AB8-B99D-ED8CCE2D87EB}"/>
              </a:ext>
            </a:extLst>
          </p:cNvPr>
          <p:cNvSpPr txBox="1"/>
          <p:nvPr/>
        </p:nvSpPr>
        <p:spPr>
          <a:xfrm>
            <a:off x="2701580" y="4332295"/>
            <a:ext cx="7197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can‘t easily do the assign thing, we need to first desugar this line</a:t>
            </a:r>
          </a:p>
        </p:txBody>
      </p:sp>
    </p:spTree>
    <p:extLst>
      <p:ext uri="{BB962C8B-B14F-4D97-AF65-F5344CB8AC3E}">
        <p14:creationId xmlns:p14="http://schemas.microsoft.com/office/powerpoint/2010/main" val="201392110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9643-27AF-0782-46AA-C63B99F9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4" y="2663076"/>
            <a:ext cx="11164811" cy="26153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09FDEA-F30D-B325-77C7-29FB96FDF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00" y="1472954"/>
            <a:ext cx="6316374" cy="9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1115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4CDEE4-ADD9-9CF5-B0FA-D12A7CB24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472954"/>
            <a:ext cx="6316374" cy="990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9643-27AF-0782-46AA-C63B99F9D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94" y="2663076"/>
            <a:ext cx="11164811" cy="2615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BDDB4C-B387-4FB1-1013-18A9FD0F7BC2}"/>
              </a:ext>
            </a:extLst>
          </p:cNvPr>
          <p:cNvSpPr/>
          <p:nvPr/>
        </p:nvSpPr>
        <p:spPr>
          <a:xfrm>
            <a:off x="513594" y="3198386"/>
            <a:ext cx="8110769" cy="10030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AD13C-1D45-9027-4FC0-DCA0DD43A65D}"/>
              </a:ext>
            </a:extLst>
          </p:cNvPr>
          <p:cNvSpPr/>
          <p:nvPr/>
        </p:nvSpPr>
        <p:spPr>
          <a:xfrm>
            <a:off x="1730000" y="1723561"/>
            <a:ext cx="2769493" cy="22557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586A2-45BE-34AD-3FC4-3108E9AE800A}"/>
              </a:ext>
            </a:extLst>
          </p:cNvPr>
          <p:cNvSpPr txBox="1"/>
          <p:nvPr/>
        </p:nvSpPr>
        <p:spPr>
          <a:xfrm>
            <a:off x="2802570" y="4900225"/>
            <a:ext cx="6101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Those lines are equivalent – We just assign to a variable by hand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Added bonus: We no longer move the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vector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!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9054796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9643-27AF-0782-46AA-C63B99F9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4" y="2663076"/>
            <a:ext cx="11164811" cy="2615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BDDB4C-B387-4FB1-1013-18A9FD0F7BC2}"/>
              </a:ext>
            </a:extLst>
          </p:cNvPr>
          <p:cNvSpPr/>
          <p:nvPr/>
        </p:nvSpPr>
        <p:spPr>
          <a:xfrm>
            <a:off x="513595" y="3198386"/>
            <a:ext cx="682780" cy="40281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586A2-45BE-34AD-3FC4-3108E9AE800A}"/>
              </a:ext>
            </a:extLst>
          </p:cNvPr>
          <p:cNvSpPr txBox="1"/>
          <p:nvPr/>
        </p:nvSpPr>
        <p:spPr>
          <a:xfrm>
            <a:off x="3392486" y="4900225"/>
            <a:ext cx="4921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We‘re still using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though... We need to go deeper!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3E337-03B5-9C0D-57EC-31C42561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00" y="1472954"/>
            <a:ext cx="6316374" cy="9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4541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D686F-8649-5905-D612-4FDE70265E4E}"/>
              </a:ext>
            </a:extLst>
          </p:cNvPr>
          <p:cNvSpPr txBox="1"/>
          <p:nvPr/>
        </p:nvSpPr>
        <p:spPr>
          <a:xfrm>
            <a:off x="1730000" y="1134400"/>
            <a:ext cx="4762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Goal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 Convert this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 into a normal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9643-27AF-0782-46AA-C63B99F9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4" y="2663076"/>
            <a:ext cx="11164811" cy="2615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BDDB4C-B387-4FB1-1013-18A9FD0F7BC2}"/>
              </a:ext>
            </a:extLst>
          </p:cNvPr>
          <p:cNvSpPr/>
          <p:nvPr/>
        </p:nvSpPr>
        <p:spPr>
          <a:xfrm>
            <a:off x="513595" y="3198386"/>
            <a:ext cx="682780" cy="40281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586A2-45BE-34AD-3FC4-3108E9AE800A}"/>
              </a:ext>
            </a:extLst>
          </p:cNvPr>
          <p:cNvSpPr txBox="1"/>
          <p:nvPr/>
        </p:nvSpPr>
        <p:spPr>
          <a:xfrm>
            <a:off x="3392485" y="4900225"/>
            <a:ext cx="4921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We‘re still using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though... We need to go deeper!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need to understand what the Range does.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D6AE1-A697-072F-7D09-B4F8819B2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00" y="1472954"/>
            <a:ext cx="6316374" cy="9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4941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5116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EC3F96-41DF-991C-F02B-87210F108A1E}"/>
              </a:ext>
            </a:extLst>
          </p:cNvPr>
          <p:cNvSpPr txBox="1"/>
          <p:nvPr/>
        </p:nvSpPr>
        <p:spPr>
          <a:xfrm>
            <a:off x="6949753" y="1468027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</p:txBody>
      </p:sp>
    </p:spTree>
    <p:extLst>
      <p:ext uri="{BB962C8B-B14F-4D97-AF65-F5344CB8AC3E}">
        <p14:creationId xmlns:p14="http://schemas.microsoft.com/office/powerpoint/2010/main" val="204707481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A61F3-6336-D18B-BE02-1A57B2E9B2E6}"/>
              </a:ext>
            </a:extLst>
          </p:cNvPr>
          <p:cNvSpPr/>
          <p:nvPr/>
        </p:nvSpPr>
        <p:spPr>
          <a:xfrm>
            <a:off x="7137958" y="2434970"/>
            <a:ext cx="334341" cy="4532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EA01-8323-042D-0E48-9186BDB4B359}"/>
              </a:ext>
            </a:extLst>
          </p:cNvPr>
          <p:cNvSpPr/>
          <p:nvPr/>
        </p:nvSpPr>
        <p:spPr>
          <a:xfrm>
            <a:off x="3605234" y="1467532"/>
            <a:ext cx="140986" cy="2202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00C16-D976-43A4-5C5D-889F8F0EACFF}"/>
              </a:ext>
            </a:extLst>
          </p:cNvPr>
          <p:cNvSpPr txBox="1"/>
          <p:nvPr/>
        </p:nvSpPr>
        <p:spPr>
          <a:xfrm>
            <a:off x="6949753" y="1468027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</p:txBody>
      </p:sp>
    </p:spTree>
    <p:extLst>
      <p:ext uri="{BB962C8B-B14F-4D97-AF65-F5344CB8AC3E}">
        <p14:creationId xmlns:p14="http://schemas.microsoft.com/office/powerpoint/2010/main" val="288731292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A61F3-6336-D18B-BE02-1A57B2E9B2E6}"/>
              </a:ext>
            </a:extLst>
          </p:cNvPr>
          <p:cNvSpPr/>
          <p:nvPr/>
        </p:nvSpPr>
        <p:spPr>
          <a:xfrm>
            <a:off x="7137958" y="2434970"/>
            <a:ext cx="334341" cy="4532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EA01-8323-042D-0E48-9186BDB4B359}"/>
              </a:ext>
            </a:extLst>
          </p:cNvPr>
          <p:cNvSpPr/>
          <p:nvPr/>
        </p:nvSpPr>
        <p:spPr>
          <a:xfrm>
            <a:off x="3605234" y="1467532"/>
            <a:ext cx="140986" cy="2202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9F766-7360-C194-7CF8-E4609BB01059}"/>
              </a:ext>
            </a:extLst>
          </p:cNvPr>
          <p:cNvSpPr/>
          <p:nvPr/>
        </p:nvSpPr>
        <p:spPr>
          <a:xfrm>
            <a:off x="4443098" y="3041287"/>
            <a:ext cx="3423966" cy="48271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08396-F87D-5CB5-C59A-32BECC92A1C2}"/>
              </a:ext>
            </a:extLst>
          </p:cNvPr>
          <p:cNvSpPr/>
          <p:nvPr/>
        </p:nvSpPr>
        <p:spPr>
          <a:xfrm>
            <a:off x="3897613" y="1467532"/>
            <a:ext cx="1242361" cy="22028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73985B-BCF0-8D48-D269-B13914EE88E6}"/>
              </a:ext>
            </a:extLst>
          </p:cNvPr>
          <p:cNvSpPr txBox="1"/>
          <p:nvPr/>
        </p:nvSpPr>
        <p:spPr>
          <a:xfrm>
            <a:off x="6949753" y="1468027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</p:txBody>
      </p:sp>
    </p:spTree>
    <p:extLst>
      <p:ext uri="{BB962C8B-B14F-4D97-AF65-F5344CB8AC3E}">
        <p14:creationId xmlns:p14="http://schemas.microsoft.com/office/powerpoint/2010/main" val="173996312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A61F3-6336-D18B-BE02-1A57B2E9B2E6}"/>
              </a:ext>
            </a:extLst>
          </p:cNvPr>
          <p:cNvSpPr/>
          <p:nvPr/>
        </p:nvSpPr>
        <p:spPr>
          <a:xfrm>
            <a:off x="7137958" y="2434970"/>
            <a:ext cx="334341" cy="4532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EA01-8323-042D-0E48-9186BDB4B359}"/>
              </a:ext>
            </a:extLst>
          </p:cNvPr>
          <p:cNvSpPr/>
          <p:nvPr/>
        </p:nvSpPr>
        <p:spPr>
          <a:xfrm>
            <a:off x="3605234" y="1467532"/>
            <a:ext cx="140986" cy="2202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9F766-7360-C194-7CF8-E4609BB01059}"/>
              </a:ext>
            </a:extLst>
          </p:cNvPr>
          <p:cNvSpPr/>
          <p:nvPr/>
        </p:nvSpPr>
        <p:spPr>
          <a:xfrm>
            <a:off x="4443098" y="3041287"/>
            <a:ext cx="3423966" cy="48271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08396-F87D-5CB5-C59A-32BECC92A1C2}"/>
              </a:ext>
            </a:extLst>
          </p:cNvPr>
          <p:cNvSpPr/>
          <p:nvPr/>
        </p:nvSpPr>
        <p:spPr>
          <a:xfrm>
            <a:off x="3897613" y="1467532"/>
            <a:ext cx="1242361" cy="22028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7B833-0FF3-1B70-82DE-51BCA398F2DA}"/>
              </a:ext>
            </a:extLst>
          </p:cNvPr>
          <p:cNvSpPr/>
          <p:nvPr/>
        </p:nvSpPr>
        <p:spPr>
          <a:xfrm>
            <a:off x="2023606" y="1467532"/>
            <a:ext cx="538326" cy="220281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18FF3-D929-D331-2181-5DBE12212D62}"/>
              </a:ext>
            </a:extLst>
          </p:cNvPr>
          <p:cNvSpPr/>
          <p:nvPr/>
        </p:nvSpPr>
        <p:spPr>
          <a:xfrm>
            <a:off x="3548838" y="2434969"/>
            <a:ext cx="1224571" cy="453245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55A763-237C-093A-F095-E35CD995DFD2}"/>
              </a:ext>
            </a:extLst>
          </p:cNvPr>
          <p:cNvSpPr txBox="1"/>
          <p:nvPr/>
        </p:nvSpPr>
        <p:spPr>
          <a:xfrm>
            <a:off x="6949753" y="1468027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</p:txBody>
      </p:sp>
    </p:spTree>
    <p:extLst>
      <p:ext uri="{BB962C8B-B14F-4D97-AF65-F5344CB8AC3E}">
        <p14:creationId xmlns:p14="http://schemas.microsoft.com/office/powerpoint/2010/main" val="346700380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A61F3-6336-D18B-BE02-1A57B2E9B2E6}"/>
              </a:ext>
            </a:extLst>
          </p:cNvPr>
          <p:cNvSpPr/>
          <p:nvPr/>
        </p:nvSpPr>
        <p:spPr>
          <a:xfrm>
            <a:off x="7137958" y="2434970"/>
            <a:ext cx="334341" cy="4532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EA01-8323-042D-0E48-9186BDB4B359}"/>
              </a:ext>
            </a:extLst>
          </p:cNvPr>
          <p:cNvSpPr/>
          <p:nvPr/>
        </p:nvSpPr>
        <p:spPr>
          <a:xfrm>
            <a:off x="3605234" y="1467532"/>
            <a:ext cx="140986" cy="2202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9F766-7360-C194-7CF8-E4609BB01059}"/>
              </a:ext>
            </a:extLst>
          </p:cNvPr>
          <p:cNvSpPr/>
          <p:nvPr/>
        </p:nvSpPr>
        <p:spPr>
          <a:xfrm>
            <a:off x="4443098" y="3041287"/>
            <a:ext cx="3423966" cy="48271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08396-F87D-5CB5-C59A-32BECC92A1C2}"/>
              </a:ext>
            </a:extLst>
          </p:cNvPr>
          <p:cNvSpPr/>
          <p:nvPr/>
        </p:nvSpPr>
        <p:spPr>
          <a:xfrm>
            <a:off x="3897613" y="1467532"/>
            <a:ext cx="1242361" cy="22028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7B833-0FF3-1B70-82DE-51BCA398F2DA}"/>
              </a:ext>
            </a:extLst>
          </p:cNvPr>
          <p:cNvSpPr/>
          <p:nvPr/>
        </p:nvSpPr>
        <p:spPr>
          <a:xfrm>
            <a:off x="2023606" y="1467532"/>
            <a:ext cx="538326" cy="220281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18FF3-D929-D331-2181-5DBE12212D62}"/>
              </a:ext>
            </a:extLst>
          </p:cNvPr>
          <p:cNvSpPr/>
          <p:nvPr/>
        </p:nvSpPr>
        <p:spPr>
          <a:xfrm>
            <a:off x="3548838" y="2434969"/>
            <a:ext cx="1224571" cy="453245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FB996-A30F-26B9-DD42-7354C1BF0365}"/>
              </a:ext>
            </a:extLst>
          </p:cNvPr>
          <p:cNvSpPr/>
          <p:nvPr/>
        </p:nvSpPr>
        <p:spPr>
          <a:xfrm>
            <a:off x="3746220" y="1466859"/>
            <a:ext cx="152400" cy="220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9B175-BE70-873F-4A90-77341E8BF848}"/>
              </a:ext>
            </a:extLst>
          </p:cNvPr>
          <p:cNvSpPr/>
          <p:nvPr/>
        </p:nvSpPr>
        <p:spPr>
          <a:xfrm>
            <a:off x="2561932" y="4833161"/>
            <a:ext cx="2473310" cy="482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72008-A6A0-2BE8-F8F6-CF022D409065}"/>
              </a:ext>
            </a:extLst>
          </p:cNvPr>
          <p:cNvSpPr txBox="1"/>
          <p:nvPr/>
        </p:nvSpPr>
        <p:spPr>
          <a:xfrm>
            <a:off x="6949753" y="1468027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</p:txBody>
      </p:sp>
    </p:spTree>
    <p:extLst>
      <p:ext uri="{BB962C8B-B14F-4D97-AF65-F5344CB8AC3E}">
        <p14:creationId xmlns:p14="http://schemas.microsoft.com/office/powerpoint/2010/main" val="385452184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34" y="2434970"/>
            <a:ext cx="8953332" cy="350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1C06F-9E55-9FAB-A92F-5A846B21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34" y="1239749"/>
            <a:ext cx="5102269" cy="11952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A61F3-6336-D18B-BE02-1A57B2E9B2E6}"/>
              </a:ext>
            </a:extLst>
          </p:cNvPr>
          <p:cNvSpPr/>
          <p:nvPr/>
        </p:nvSpPr>
        <p:spPr>
          <a:xfrm>
            <a:off x="7137958" y="2434970"/>
            <a:ext cx="334341" cy="4532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EA01-8323-042D-0E48-9186BDB4B359}"/>
              </a:ext>
            </a:extLst>
          </p:cNvPr>
          <p:cNvSpPr/>
          <p:nvPr/>
        </p:nvSpPr>
        <p:spPr>
          <a:xfrm>
            <a:off x="3605234" y="1467532"/>
            <a:ext cx="140986" cy="2202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9F766-7360-C194-7CF8-E4609BB01059}"/>
              </a:ext>
            </a:extLst>
          </p:cNvPr>
          <p:cNvSpPr/>
          <p:nvPr/>
        </p:nvSpPr>
        <p:spPr>
          <a:xfrm>
            <a:off x="4443098" y="3041287"/>
            <a:ext cx="3423966" cy="48271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08396-F87D-5CB5-C59A-32BECC92A1C2}"/>
              </a:ext>
            </a:extLst>
          </p:cNvPr>
          <p:cNvSpPr/>
          <p:nvPr/>
        </p:nvSpPr>
        <p:spPr>
          <a:xfrm>
            <a:off x="3897613" y="1467532"/>
            <a:ext cx="1242361" cy="22028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7B833-0FF3-1B70-82DE-51BCA398F2DA}"/>
              </a:ext>
            </a:extLst>
          </p:cNvPr>
          <p:cNvSpPr/>
          <p:nvPr/>
        </p:nvSpPr>
        <p:spPr>
          <a:xfrm>
            <a:off x="2023606" y="1467532"/>
            <a:ext cx="538326" cy="220281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18FF3-D929-D331-2181-5DBE12212D62}"/>
              </a:ext>
            </a:extLst>
          </p:cNvPr>
          <p:cNvSpPr/>
          <p:nvPr/>
        </p:nvSpPr>
        <p:spPr>
          <a:xfrm>
            <a:off x="3548838" y="2434969"/>
            <a:ext cx="1224571" cy="453245"/>
          </a:xfrm>
          <a:prstGeom prst="rect">
            <a:avLst/>
          </a:prstGeom>
          <a:noFill/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FB996-A30F-26B9-DD42-7354C1BF0365}"/>
              </a:ext>
            </a:extLst>
          </p:cNvPr>
          <p:cNvSpPr/>
          <p:nvPr/>
        </p:nvSpPr>
        <p:spPr>
          <a:xfrm>
            <a:off x="3746220" y="1466859"/>
            <a:ext cx="152400" cy="220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9B175-BE70-873F-4A90-77341E8BF848}"/>
              </a:ext>
            </a:extLst>
          </p:cNvPr>
          <p:cNvSpPr/>
          <p:nvPr/>
        </p:nvSpPr>
        <p:spPr>
          <a:xfrm>
            <a:off x="2561932" y="4833161"/>
            <a:ext cx="2473310" cy="482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649C2-5184-6207-848C-4B2CB5EBB94A}"/>
              </a:ext>
            </a:extLst>
          </p:cNvPr>
          <p:cNvSpPr txBox="1"/>
          <p:nvPr/>
        </p:nvSpPr>
        <p:spPr>
          <a:xfrm>
            <a:off x="6949753" y="1468027"/>
            <a:ext cx="4483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Where did our range go?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Damn, impressive! But we still didn‘t find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:(</a:t>
            </a:r>
          </a:p>
        </p:txBody>
      </p:sp>
    </p:spTree>
    <p:extLst>
      <p:ext uri="{BB962C8B-B14F-4D97-AF65-F5344CB8AC3E}">
        <p14:creationId xmlns:p14="http://schemas.microsoft.com/office/powerpoint/2010/main" val="119510938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97" y="1210936"/>
            <a:ext cx="3446228" cy="1347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7B1D3-555F-0D74-601C-B6E1EB6B2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96" y="2554644"/>
            <a:ext cx="5975934" cy="35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4193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97" y="1210936"/>
            <a:ext cx="3446228" cy="1347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7B1D3-555F-0D74-601C-B6E1EB6B2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96" y="2554644"/>
            <a:ext cx="5975934" cy="35339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1A260D-A3A4-DBA0-19C3-E1F49E6242AD}"/>
              </a:ext>
            </a:extLst>
          </p:cNvPr>
          <p:cNvSpPr/>
          <p:nvPr/>
        </p:nvSpPr>
        <p:spPr>
          <a:xfrm>
            <a:off x="2235648" y="3335344"/>
            <a:ext cx="4265857" cy="116414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8C86-1909-0769-915C-7E83363CE56B}"/>
              </a:ext>
            </a:extLst>
          </p:cNvPr>
          <p:cNvSpPr txBox="1"/>
          <p:nvPr/>
        </p:nvSpPr>
        <p:spPr>
          <a:xfrm>
            <a:off x="6582258" y="3429000"/>
            <a:ext cx="5245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in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we want to loop as long as the condition is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true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want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break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the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once the condition is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false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not (a &lt; b)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 &gt;= b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33282C-63FB-5161-D84F-CCE8E8CCBE04}"/>
              </a:ext>
            </a:extLst>
          </p:cNvPr>
          <p:cNvSpPr/>
          <p:nvPr/>
        </p:nvSpPr>
        <p:spPr>
          <a:xfrm flipH="1" flipV="1">
            <a:off x="2167168" y="1421953"/>
            <a:ext cx="1871431" cy="21349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1377635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9BD6C-E4EA-AE6C-F9B9-7670A72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97" y="1210936"/>
            <a:ext cx="3446228" cy="1347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7B1D3-555F-0D74-601C-B6E1EB6B2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96" y="2554644"/>
            <a:ext cx="5975934" cy="3533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218C86-1909-0769-915C-7E83363CE56B}"/>
              </a:ext>
            </a:extLst>
          </p:cNvPr>
          <p:cNvSpPr txBox="1"/>
          <p:nvPr/>
        </p:nvSpPr>
        <p:spPr>
          <a:xfrm>
            <a:off x="7116477" y="2062581"/>
            <a:ext cx="44516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Here we finally got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All the previous loops are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identical in what they do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just using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different language constructs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.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Exception: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 moved the vector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which was not the case in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while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or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349781637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Loops - Extra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555B-EE59-611F-22AA-C2EA46A5C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 might think that there exists the „most powerful“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Indeed, some loops are more convenient than others, you would not use </a:t>
            </a:r>
            <a:r>
              <a:rPr lang="de-DE" dirty="0">
                <a:solidFill>
                  <a:srgbClr val="FFFF00"/>
                </a:solidFill>
              </a:rPr>
              <a:t>loop</a:t>
            </a:r>
            <a:r>
              <a:rPr lang="de-DE" dirty="0"/>
              <a:t> to iterate over a collection!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However, all loops can be converted to each other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All loops are equally powerful!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However, as we‘ve seen... It gets quite convoluted. Thank you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and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while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for existing :^)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1445057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BEB-7AAF-308A-C469-32F534CC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Next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4252C0-DE64-D869-65C5-305B1D85A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Ownership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5595-3597-E6A9-F36C-FD76B8000F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18E7F3-A8C7-4A95-9196-C5E52C9EABF4}" type="datetime1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FDD-2948-4C42-8743-8A7E221739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56698225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bg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DBFD8670-388A-45DB-B6D8-A4419426ACB6}" vid="{3722A3BE-AE64-47AA-9AAF-C7F0BEC620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6498</Words>
  <Application>Microsoft Office PowerPoint</Application>
  <PresentationFormat>Widescreen</PresentationFormat>
  <Paragraphs>1323</Paragraphs>
  <Slides>206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206</vt:i4>
      </vt:variant>
    </vt:vector>
  </HeadingPairs>
  <TitlesOfParts>
    <vt:vector size="213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Plan for today</vt:lpstr>
      <vt:lpstr>Plan for today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loop</vt:lpstr>
      <vt:lpstr>Loops - while</vt:lpstr>
      <vt:lpstr>Loops - while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Intermission - Conditions</vt:lpstr>
      <vt:lpstr>Loops - while</vt:lpstr>
      <vt:lpstr>Loops - while</vt:lpstr>
      <vt:lpstr>Loops - while</vt:lpstr>
      <vt:lpstr>Loops - while</vt:lpstr>
      <vt:lpstr>Loops - while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Intermission - Scopes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for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Loops - break and continue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Next time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Loops - Extra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RUSTikales Rust for beginners</dc:title>
  <dc:creator>Philippe Felix Haupt</dc:creator>
  <cp:lastModifiedBy>Philippe Felix Haupt</cp:lastModifiedBy>
  <cp:revision>190</cp:revision>
  <dcterms:created xsi:type="dcterms:W3CDTF">2024-05-28T09:27:23Z</dcterms:created>
  <dcterms:modified xsi:type="dcterms:W3CDTF">2025-11-04T20:39:02Z</dcterms:modified>
</cp:coreProperties>
</file>