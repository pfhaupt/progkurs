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57"/>
  </p:notesMasterIdLst>
  <p:sldIdLst>
    <p:sldId id="257" r:id="rId2"/>
    <p:sldId id="380" r:id="rId3"/>
    <p:sldId id="381" r:id="rId4"/>
    <p:sldId id="382" r:id="rId5"/>
    <p:sldId id="383" r:id="rId6"/>
    <p:sldId id="384" r:id="rId7"/>
    <p:sldId id="385" r:id="rId8"/>
    <p:sldId id="386" r:id="rId9"/>
    <p:sldId id="387" r:id="rId10"/>
    <p:sldId id="388" r:id="rId11"/>
    <p:sldId id="389" r:id="rId12"/>
    <p:sldId id="392" r:id="rId13"/>
    <p:sldId id="390" r:id="rId14"/>
    <p:sldId id="391" r:id="rId15"/>
    <p:sldId id="393" r:id="rId16"/>
    <p:sldId id="394" r:id="rId17"/>
    <p:sldId id="395" r:id="rId18"/>
    <p:sldId id="396" r:id="rId19"/>
    <p:sldId id="397" r:id="rId20"/>
    <p:sldId id="398" r:id="rId21"/>
    <p:sldId id="399" r:id="rId22"/>
    <p:sldId id="400" r:id="rId23"/>
    <p:sldId id="401" r:id="rId24"/>
    <p:sldId id="402" r:id="rId25"/>
    <p:sldId id="403" r:id="rId26"/>
    <p:sldId id="404" r:id="rId27"/>
    <p:sldId id="405" r:id="rId28"/>
    <p:sldId id="406" r:id="rId29"/>
    <p:sldId id="407" r:id="rId30"/>
    <p:sldId id="408" r:id="rId31"/>
    <p:sldId id="409" r:id="rId32"/>
    <p:sldId id="410" r:id="rId33"/>
    <p:sldId id="411" r:id="rId34"/>
    <p:sldId id="412" r:id="rId35"/>
    <p:sldId id="413" r:id="rId36"/>
    <p:sldId id="414" r:id="rId37"/>
    <p:sldId id="415" r:id="rId38"/>
    <p:sldId id="416" r:id="rId39"/>
    <p:sldId id="417" r:id="rId40"/>
    <p:sldId id="418" r:id="rId41"/>
    <p:sldId id="419" r:id="rId42"/>
    <p:sldId id="420" r:id="rId43"/>
    <p:sldId id="421" r:id="rId44"/>
    <p:sldId id="422" r:id="rId45"/>
    <p:sldId id="423" r:id="rId46"/>
    <p:sldId id="424" r:id="rId47"/>
    <p:sldId id="425" r:id="rId48"/>
    <p:sldId id="426" r:id="rId49"/>
    <p:sldId id="427" r:id="rId50"/>
    <p:sldId id="428" r:id="rId51"/>
    <p:sldId id="430" r:id="rId52"/>
    <p:sldId id="431" r:id="rId53"/>
    <p:sldId id="432" r:id="rId54"/>
    <p:sldId id="434" r:id="rId55"/>
    <p:sldId id="429" r:id="rId5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B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6FE93B-C0A8-431F-AA2F-BF32D1BA0DA9}" type="datetimeFigureOut">
              <a:rPr lang="de-DE" smtClean="0"/>
              <a:t>21.10.2025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D2217-F587-40F2-A218-1E01A8F48D2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9051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10000400" y="673"/>
            <a:ext cx="2191600" cy="21916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grpSp>
        <p:nvGrpSpPr>
          <p:cNvPr id="11" name="Google Shape;11;p2"/>
          <p:cNvGrpSpPr/>
          <p:nvPr/>
        </p:nvGrpSpPr>
        <p:grpSpPr>
          <a:xfrm>
            <a:off x="1" y="654"/>
            <a:ext cx="6871607" cy="6845865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4716200" y="2104533"/>
            <a:ext cx="6690000" cy="21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6778600" y="5233233"/>
            <a:ext cx="4627600" cy="6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85E02C-1D04-C434-4012-E91BF6D3D15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1B86CF29-98CB-41A0-9533-1F69A7269E4E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635C2A-909A-0981-65DD-B67627BD99A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974101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5875200" y="1"/>
            <a:ext cx="6316800" cy="6857420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1098467" y="2737333"/>
            <a:ext cx="6116000" cy="153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0322E1-1580-77E1-1968-C1D465C6426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F110A31F-3378-4745-A8AD-87E81814308C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BEFDD5-75D2-F22A-0239-47782139EBE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02053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508002"/>
            <a:ext cx="1383800" cy="1355049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9385200" cy="12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730000" y="2090067"/>
            <a:ext cx="9385200" cy="38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1219170" lvl="1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828754" lvl="2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2438339" lvl="3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3047924" lvl="4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3657509" lvl="5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4267093" lvl="6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4876678" lvl="7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5486263" lvl="8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F2C6A1-8DB4-CC61-9F25-552C981AC8B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570957-C740-2757-2171-2AB52CD73CD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51431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508002"/>
            <a:ext cx="1383800" cy="1355049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9385200" cy="12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730000" y="2090067"/>
            <a:ext cx="4537600" cy="38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1219170" lvl="1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828754" lvl="2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2438339" lvl="3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3047924" lvl="4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3657509" lvl="5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4267093" lvl="6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4876678" lvl="7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5486263" lvl="8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6577628" y="2090067"/>
            <a:ext cx="4537600" cy="388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1219170" lvl="1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828754" lvl="2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2438339" lvl="3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3047924" lvl="4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3657509" lvl="5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4267093" lvl="6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4876678" lvl="7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5486263" lvl="8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F27596-14F9-142A-C6EE-E8288E24546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32A97D-91AA-8A52-C97E-9F3BDF95E66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953765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508002"/>
            <a:ext cx="1383800" cy="1355049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9385200" cy="12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284FE6-DBA5-DB3C-A653-C0ED85204145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4B3D48-E7F2-DEE3-3035-24E59946D7E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940701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508002"/>
            <a:ext cx="1383800" cy="1355049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730000" y="525000"/>
            <a:ext cx="5065200" cy="19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730000" y="2630067"/>
            <a:ext cx="5065200" cy="322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1219170" lvl="1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828754" lvl="2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2438339" lvl="3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3047924" lvl="4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3657509" lvl="5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4267093" lvl="6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4876678" lvl="7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5486263" lvl="8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93DCDD-2FBE-84CF-1266-B4597B7005E5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F7C1F0D2-5185-4D31-AB2C-73B275E057D2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A6E3F-03B5-A012-AA3C-51E8681E661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531197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5875200" y="0"/>
            <a:ext cx="6316800" cy="68580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1098467" y="1155700"/>
            <a:ext cx="6116000" cy="469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F07798-DE50-15C8-656C-CA61E9C8313F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D1D978B3-F0C5-4ABC-A255-F5F0962A8D8B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C35FA4-1B4D-27D1-9652-2771001ADF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488463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508002"/>
            <a:ext cx="1383800" cy="1355049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730000" y="2211100"/>
            <a:ext cx="4048400" cy="233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730000" y="4717333"/>
            <a:ext cx="4048400" cy="67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6197600" y="2262133"/>
            <a:ext cx="4902400" cy="313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1219170" lvl="1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828754" lvl="2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2438339" lvl="3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3047924" lvl="4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3657509" lvl="5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4267093" lvl="6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4876678" lvl="7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5486263" lvl="8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6403A9-CB77-6F63-E8A2-1C909EE5338B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D8799C66-E9C7-4A80-B57A-E25F3C3939CD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C16977-77CE-7C1B-80DA-950BC5B3F95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858379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1" y="5504763"/>
            <a:ext cx="931900" cy="912876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1083633" y="5740500"/>
            <a:ext cx="92480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6158AE-3BA6-5196-9F05-10AA6EB27DF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A986101B-8F49-41C6-B566-F6D80346D6C1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D4A692-F0C9-AF1C-145C-A45885A71D0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7276768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5875200" y="1"/>
            <a:ext cx="6316800" cy="6857420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1098467" y="1712900"/>
            <a:ext cx="6368000" cy="17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10666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1098467" y="3524165"/>
            <a:ext cx="6368000" cy="16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14856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1219170" lvl="1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828754" lvl="2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2438339" lvl="3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3047924" lvl="4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3657509" lvl="5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4267093" lvl="6" indent="-397923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4876678" lvl="7" indent="-397923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5486263" lvl="8" indent="-397923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F436DB-340F-4646-13CF-32D4D213E6B5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A47C6873-5FFD-4CA3-B601-12EDA11E7384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FEA074-83FF-2A59-9E72-8DEB7C8D263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455494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E60905-4AF1-4212-7A94-81502EEF8A5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97C84E54-DB5C-4EF4-8C00-D9DC9CF4CB03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B192D9-E47E-4BA2-F2BD-45C43EE73CD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102333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333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fld id="{D2A5901E-C243-401B-B4FE-7878FCBD48ED}" type="slidenum">
              <a:rPr lang="de-DE" smtClean="0"/>
              <a:t>‹#›</a:t>
            </a:fld>
            <a:endParaRPr lang="de-DE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A2DD238-3295-044E-F400-315BD30668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B7197-EDBB-45FE-B01B-7EF51F589382}" type="datetime1">
              <a:rPr lang="de-DE" smtClean="0"/>
              <a:t>21.10.2025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B2F10F-A83E-3417-0420-ACEC0274AD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86904987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sldNum="0" hdr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" TargetMode="External"/><Relationship Id="rId2" Type="http://schemas.openxmlformats.org/officeDocument/2006/relationships/hyperlink" Target="https://www.rust-lang.org/learn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pfhaupt/progkurs/" TargetMode="External"/><Relationship Id="rId4" Type="http://schemas.openxmlformats.org/officeDocument/2006/relationships/hyperlink" Target="https://rustlings.cool/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docs/setup/linux" TargetMode="External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code.visualstudio.com/docs/setup/mac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/>
          <a:p>
            <a:r>
              <a:rPr lang="de"/>
              <a:t>RUSTikales Rust for beginners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5CBDE-CD49-75C0-4F45-9BDF39C5B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Plan for today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F59F5-2859-917C-AF45-46E6C259F467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B1852AE-BE14-403F-948A-24D6C5188DC7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33B72-19A3-D273-E198-BDBFE47973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518756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5CBDE-CD49-75C0-4F45-9BDF39C5B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Plan for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4C83-EE9D-C9E4-4D0F-852D99E7F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F59F5-2859-917C-AF45-46E6C259F467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B1852AE-BE14-403F-948A-24D6C5188DC7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33B72-19A3-D273-E198-BDBFE47973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540330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5CBDE-CD49-75C0-4F45-9BDF39C5B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Plan for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4C83-EE9D-C9E4-4D0F-852D99E7F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/>
              <a:t>Introduction</a:t>
            </a:r>
          </a:p>
          <a:p>
            <a:pPr>
              <a:buFont typeface="+mj-lt"/>
              <a:buAutoNum type="arabicPeriod"/>
            </a:pPr>
            <a:r>
              <a:rPr lang="de-DE" dirty="0"/>
              <a:t>Rust Installation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F59F5-2859-917C-AF45-46E6C259F467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B1852AE-BE14-403F-948A-24D6C5188DC7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33B72-19A3-D273-E198-BDBFE47973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950241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5CBDE-CD49-75C0-4F45-9BDF39C5B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Plan for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4C83-EE9D-C9E4-4D0F-852D99E7F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/>
              <a:t>Introduction</a:t>
            </a:r>
          </a:p>
          <a:p>
            <a:pPr>
              <a:buFont typeface="+mj-lt"/>
              <a:buAutoNum type="arabicPeriod"/>
            </a:pPr>
            <a:r>
              <a:rPr lang="de-DE" dirty="0"/>
              <a:t>Rust Installation</a:t>
            </a:r>
          </a:p>
          <a:p>
            <a:pPr>
              <a:buFont typeface="+mj-lt"/>
              <a:buAutoNum type="arabicPeriod"/>
            </a:pPr>
            <a:r>
              <a:rPr lang="de-DE" dirty="0"/>
              <a:t>Development Environment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F59F5-2859-917C-AF45-46E6C259F467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B1852AE-BE14-403F-948A-24D6C5188DC7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33B72-19A3-D273-E198-BDBFE47973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928414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5CBDE-CD49-75C0-4F45-9BDF39C5B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Plan for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64C83-EE9D-C9E4-4D0F-852D99E7F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de-DE" dirty="0"/>
              <a:t>Introduction</a:t>
            </a:r>
          </a:p>
          <a:p>
            <a:pPr>
              <a:buFont typeface="+mj-lt"/>
              <a:buAutoNum type="arabicPeriod"/>
            </a:pPr>
            <a:r>
              <a:rPr lang="de-DE" dirty="0"/>
              <a:t>Rust Installation</a:t>
            </a:r>
          </a:p>
          <a:p>
            <a:pPr>
              <a:buFont typeface="+mj-lt"/>
              <a:buAutoNum type="arabicPeriod"/>
            </a:pPr>
            <a:r>
              <a:rPr lang="de-DE" dirty="0"/>
              <a:t>Development Environment</a:t>
            </a:r>
          </a:p>
          <a:p>
            <a:pPr>
              <a:buFont typeface="+mj-lt"/>
              <a:buAutoNum type="arabicPeriod"/>
            </a:pPr>
            <a:r>
              <a:rPr lang="de-DE" dirty="0"/>
              <a:t>General Info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F59F5-2859-917C-AF45-46E6C259F467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B1852AE-BE14-403F-948A-24D6C5188DC7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33B72-19A3-D273-E198-BDBFE47973C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693855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Welcome to this Rust course!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613025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Welcome to this Rust course!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Your life will change forever soon, you will be learning the best language in the world!!!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586660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Welcome to this Rust course!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Your life will change forever soon, you will be learning the best language in the world!!!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It‘s memory safe!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It‘s statically typed!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It‘s fast!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Zero Cost Abstraction!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783235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Welcome to this Rust course!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Your life will change forever soon, you will be learning the best language in the world!!!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It‘s memory safe!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It‘s statically typed!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It‘s fast!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Zero Cost Abstraction!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Well, not quite, but you‘ll see once we get there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4105563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9467111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Rust Compiler </a:t>
            </a:r>
            <a:r>
              <a:rPr lang="en-US" dirty="0">
                <a:solidFill>
                  <a:srgbClr val="FFFF00"/>
                </a:solidFill>
              </a:rPr>
              <a:t>rustc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682424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Rust Compiler </a:t>
            </a:r>
            <a:r>
              <a:rPr lang="en-US" dirty="0">
                <a:solidFill>
                  <a:srgbClr val="FFFF00"/>
                </a:solidFill>
              </a:rPr>
              <a:t>rustc</a:t>
            </a:r>
            <a:endParaRPr lang="en-US" dirty="0"/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Rust tool </a:t>
            </a:r>
            <a:r>
              <a:rPr lang="en-US" dirty="0">
                <a:solidFill>
                  <a:srgbClr val="FFFF00"/>
                </a:solidFill>
              </a:rPr>
              <a:t>cargo</a:t>
            </a:r>
            <a:endParaRPr lang="en-US" dirty="0"/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cargo </a:t>
            </a:r>
            <a:r>
              <a:rPr lang="en-US" dirty="0" err="1">
                <a:solidFill>
                  <a:srgbClr val="FFFF00"/>
                </a:solidFill>
              </a:rPr>
              <a:t>init</a:t>
            </a:r>
            <a:r>
              <a:rPr lang="en-US" dirty="0">
                <a:solidFill>
                  <a:srgbClr val="FFFF00"/>
                </a:solidFill>
              </a:rPr>
              <a:t>/new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cargo build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cargo run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863226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Rust Compiler </a:t>
            </a:r>
            <a:r>
              <a:rPr lang="en-US" dirty="0">
                <a:solidFill>
                  <a:srgbClr val="FFFF00"/>
                </a:solidFill>
              </a:rPr>
              <a:t>rustc</a:t>
            </a:r>
            <a:endParaRPr lang="en-US" dirty="0"/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Rust tool </a:t>
            </a:r>
            <a:r>
              <a:rPr lang="en-US" dirty="0">
                <a:solidFill>
                  <a:srgbClr val="FFFF00"/>
                </a:solidFill>
              </a:rPr>
              <a:t>cargo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Working with IDEs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Visual Studio Code + rust-analyzer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 err="1">
                <a:solidFill>
                  <a:schemeClr val="bg1"/>
                </a:solidFill>
              </a:rPr>
              <a:t>RustRover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6981187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correct tools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Basic Rust-Syntax and Rust-specific quirks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803443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correct tools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Basic Rust-Syntax and Rust-specific quirks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Basics of Programming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Variables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Types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How do computers execute code?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111059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correct tools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Basic Rust-Syntax and Rust-specific quirks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Basics of Programming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Control Flow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if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loop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match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 err="1">
                <a:solidFill>
                  <a:srgbClr val="FFFF00"/>
                </a:solidFill>
              </a:rPr>
              <a:t>fn</a:t>
            </a:r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8796226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correct tools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Basic Rust-Syntax and Rust-specific quirks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Basics of Programming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Control Flow</a:t>
            </a:r>
            <a:endParaRPr lang="de-DE" dirty="0"/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/>
              <a:t>Data Structures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struct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enum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1809092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correct tools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Basic Rust-Syntax and Rust-specific quirks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Basics of Programming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Control Flow</a:t>
            </a:r>
            <a:endParaRPr lang="de-DE" dirty="0"/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/>
              <a:t>Data Structures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What makes Rust different from other languages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Ownership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Borrow Checking</a:t>
            </a:r>
          </a:p>
          <a:p>
            <a:pPr lvl="3">
              <a:buFont typeface="Symbol" panose="05050102010706020507" pitchFamily="18" charset="2"/>
              <a:buChar char="-"/>
            </a:pPr>
            <a:r>
              <a:rPr lang="en-US" dirty="0">
                <a:solidFill>
                  <a:srgbClr val="FFFF00"/>
                </a:solidFill>
              </a:rPr>
              <a:t>Option&lt;T&gt; and Result&lt;T,E&gt;</a:t>
            </a:r>
          </a:p>
          <a:p>
            <a:pPr lvl="3">
              <a:buFont typeface="Symbol" panose="05050102010706020507" pitchFamily="18" charset="2"/>
              <a:buChar char="-"/>
            </a:pPr>
            <a:endParaRPr lang="de-DE" dirty="0">
              <a:solidFill>
                <a:srgbClr val="FFFF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476846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correct tools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Basic Rust-Syntax and Rust-specific quirks</a:t>
            </a:r>
            <a:endParaRPr lang="de-DE" dirty="0"/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Dipping into advanced-ish topics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Traits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Generics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Third-party libraries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40726349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What will we be learning this semester?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Working with the correct tools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Basic Rust-Syntax and Rust-specific quirks</a:t>
            </a:r>
            <a:endParaRPr lang="de-DE" dirty="0"/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Dipping into advanced-ish topics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What I will </a:t>
            </a:r>
            <a:r>
              <a:rPr lang="de-DE" dirty="0">
                <a:solidFill>
                  <a:srgbClr val="FF0000"/>
                </a:solidFill>
              </a:rPr>
              <a:t>not</a:t>
            </a:r>
            <a:r>
              <a:rPr lang="de-DE" dirty="0">
                <a:solidFill>
                  <a:schemeClr val="bg1"/>
                </a:solidFill>
              </a:rPr>
              <a:t> cover</a:t>
            </a:r>
          </a:p>
          <a:p>
            <a:pPr marL="1202237" lvl="1" indent="-380990">
              <a:buSzPct val="100000"/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unsafe</a:t>
            </a:r>
          </a:p>
          <a:p>
            <a:pPr marL="1202237" lvl="1" indent="-380990">
              <a:buSzPct val="100000"/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async</a:t>
            </a:r>
          </a:p>
          <a:p>
            <a:pPr marL="1202237" lvl="1" indent="-380990">
              <a:buSzPct val="100000"/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Macros</a:t>
            </a:r>
          </a:p>
          <a:p>
            <a:pPr marL="1202237" lvl="1" indent="-380990">
              <a:buSzPct val="100000"/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Multithreading</a:t>
            </a:r>
          </a:p>
          <a:p>
            <a:pPr marL="1202237" lvl="1" indent="-380990">
              <a:buSzPct val="100000"/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Functional Programming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140781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Introduction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Where can I find resources?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Official Rust website: 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u="sng" dirty="0">
                <a:solidFill>
                  <a:schemeClr val="hlink"/>
                </a:solidFill>
                <a:hlinkClick r:id="rId2"/>
              </a:rPr>
              <a:t>https://www.rust-lang.org/learn/</a:t>
            </a:r>
            <a:r>
              <a:rPr lang="en-US" dirty="0"/>
              <a:t> 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Rust Book: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u="sng" dirty="0">
                <a:solidFill>
                  <a:schemeClr val="hlink"/>
                </a:solidFill>
                <a:hlinkClick r:id="rId3"/>
              </a:rPr>
              <a:t>https://doc.rust-lang.org/book/</a:t>
            </a:r>
            <a:endParaRPr lang="en-US" dirty="0">
              <a:solidFill>
                <a:srgbClr val="F6B26B"/>
              </a:solidFill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Rustlings (official Rust exercises):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u="sng" dirty="0">
                <a:solidFill>
                  <a:schemeClr val="hlink"/>
                </a:solidFill>
                <a:hlinkClick r:id="rId4"/>
              </a:rPr>
              <a:t>https://rustlings.cool/</a:t>
            </a:r>
            <a:r>
              <a:rPr lang="en-US" b="1" dirty="0"/>
              <a:t> 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Repo for this course: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u="sng" dirty="0">
                <a:solidFill>
                  <a:schemeClr val="hlink"/>
                </a:solidFill>
                <a:hlinkClick r:id="rId5"/>
              </a:rPr>
              <a:t>https://github.com/pfhaupt/progkurs/</a:t>
            </a:r>
            <a:r>
              <a:rPr lang="en-US" dirty="0"/>
              <a:t> 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subdirectory </a:t>
            </a:r>
            <a:r>
              <a:rPr lang="en-US" dirty="0">
                <a:solidFill>
                  <a:srgbClr val="FFFF00"/>
                </a:solidFill>
              </a:rPr>
              <a:t>rust-beginner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40621127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Rust Installation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8CE4E-AD5B-3BA0-0311-9042456F9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94729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246037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Rust Installation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8CED07-0835-3FA2-8F31-DA22BA435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Linux/macOS</a:t>
            </a:r>
          </a:p>
          <a:p>
            <a:pPr>
              <a:spcBef>
                <a:spcPts val="1600"/>
              </a:spcBef>
              <a:buFont typeface="Symbol" panose="05050102010706020507" pitchFamily="18" charset="2"/>
              <a:buChar char="-"/>
            </a:pPr>
            <a:r>
              <a:rPr lang="en-US" dirty="0"/>
              <a:t>Go to `</a:t>
            </a:r>
            <a:r>
              <a:rPr lang="en-US" dirty="0">
                <a:solidFill>
                  <a:srgbClr val="F6B26B"/>
                </a:solidFill>
              </a:rPr>
              <a:t>rust-lang.org</a:t>
            </a:r>
            <a:r>
              <a:rPr lang="en-US" dirty="0"/>
              <a:t>`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Click `Get Started`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Run this command in your terminal</a:t>
            </a:r>
          </a:p>
          <a:p>
            <a:pPr marL="380990" indent="-380990">
              <a:spcBef>
                <a:spcPts val="1600"/>
              </a:spcBef>
              <a:buFont typeface="Symbol" panose="05050102010706020507" pitchFamily="18" charset="2"/>
              <a:buChar char="-"/>
            </a:pPr>
            <a:endParaRPr lang="en-US" dirty="0"/>
          </a:p>
          <a:p>
            <a:pPr>
              <a:spcBef>
                <a:spcPts val="1600"/>
              </a:spcBef>
              <a:buFont typeface="Symbol" panose="05050102010706020507" pitchFamily="18" charset="2"/>
              <a:buChar char="-"/>
            </a:pPr>
            <a:r>
              <a:rPr lang="en-US" dirty="0"/>
              <a:t>You may need to also install a linker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you’ll see later when the example fails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You’re ready to go!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921CECB-E52F-0B11-9E83-755BF8BF376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Windows</a:t>
            </a:r>
          </a:p>
          <a:p>
            <a:pPr>
              <a:spcBef>
                <a:spcPts val="1600"/>
              </a:spcBef>
              <a:buFont typeface="Symbol" panose="05050102010706020507" pitchFamily="18" charset="2"/>
              <a:buChar char="-"/>
            </a:pPr>
            <a:r>
              <a:rPr lang="en-US" dirty="0"/>
              <a:t>Go to `</a:t>
            </a:r>
            <a:r>
              <a:rPr lang="en-US" dirty="0">
                <a:solidFill>
                  <a:srgbClr val="F6B26B"/>
                </a:solidFill>
              </a:rPr>
              <a:t>rust-lang.org</a:t>
            </a:r>
            <a:r>
              <a:rPr lang="en-US" dirty="0"/>
              <a:t>`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Click `Get Started`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Download the Installer</a:t>
            </a:r>
          </a:p>
          <a:p>
            <a:pPr marL="380990" indent="-380990">
              <a:spcBef>
                <a:spcPts val="1600"/>
              </a:spcBef>
              <a:buFont typeface="Symbol" panose="05050102010706020507" pitchFamily="18" charset="2"/>
              <a:buChar char="-"/>
            </a:pPr>
            <a:endParaRPr lang="en-US" dirty="0"/>
          </a:p>
          <a:p>
            <a:pPr>
              <a:spcBef>
                <a:spcPts val="1600"/>
              </a:spcBef>
              <a:buFont typeface="Symbol" panose="05050102010706020507" pitchFamily="18" charset="2"/>
              <a:buChar char="-"/>
            </a:pPr>
            <a:r>
              <a:rPr lang="en-US" dirty="0"/>
              <a:t>Run the Installer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You may need to also install MSVC Tools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Installer will tell you, Quick Install is okay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Pray that eduroam doesn’t blacklist the MSVC Installer again :^)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12" name="Google Shape;396;p44">
            <a:extLst>
              <a:ext uri="{FF2B5EF4-FFF2-40B4-BE49-F238E27FC236}">
                <a16:creationId xmlns:a16="http://schemas.microsoft.com/office/drawing/2014/main" id="{151183E0-50F3-4CC3-2E64-EF73A5FF0DA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30000" y="3337682"/>
            <a:ext cx="4537599" cy="5487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397;p44">
            <a:extLst>
              <a:ext uri="{FF2B5EF4-FFF2-40B4-BE49-F238E27FC236}">
                <a16:creationId xmlns:a16="http://schemas.microsoft.com/office/drawing/2014/main" id="{B7559997-9516-3753-CAEC-8040EBD30A8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7632" y="3337681"/>
            <a:ext cx="4838401" cy="54873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1578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31B7E-595D-5B43-B0FB-48758A81F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Rust Installation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8CED07-0835-3FA2-8F31-DA22BA435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Linux/macOS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921CECB-E52F-0B11-9E83-755BF8BF376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Windows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9FDBB-0D96-D820-7D82-52759DB0A6B9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C5A5924-177F-4E13-8F18-BF17D897E27B}" type="datetime1">
              <a:rPr lang="de-DE" smtClean="0"/>
              <a:t>21.10.2025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F7AC2-DDBE-EB06-A033-9ABA8844D44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3" name="Google Shape;407;p45">
            <a:extLst>
              <a:ext uri="{FF2B5EF4-FFF2-40B4-BE49-F238E27FC236}">
                <a16:creationId xmlns:a16="http://schemas.microsoft.com/office/drawing/2014/main" id="{33FB3262-52A3-C4D4-F7CB-AFA4B7FD972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29972" y="2456741"/>
            <a:ext cx="4537597" cy="2927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408;p45">
            <a:extLst>
              <a:ext uri="{FF2B5EF4-FFF2-40B4-BE49-F238E27FC236}">
                <a16:creationId xmlns:a16="http://schemas.microsoft.com/office/drawing/2014/main" id="{628A16E8-831A-9F79-0868-52494026A95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77597" y="2456741"/>
            <a:ext cx="4537600" cy="29275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61D5ED-0242-85C8-B872-959B9FBAC3E4}"/>
              </a:ext>
            </a:extLst>
          </p:cNvPr>
          <p:cNvSpPr txBox="1"/>
          <p:nvPr/>
        </p:nvSpPr>
        <p:spPr>
          <a:xfrm>
            <a:off x="2037594" y="5553173"/>
            <a:ext cx="8116811" cy="634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09585" indent="-414856">
              <a:lnSpc>
                <a:spcPct val="115000"/>
              </a:lnSpc>
              <a:buClr>
                <a:schemeClr val="lt1"/>
              </a:buClr>
              <a:buSzPts val="1300"/>
              <a:buFont typeface="Symbol" panose="05050102010706020507" pitchFamily="18" charset="2"/>
              <a:buChar char="-"/>
            </a:pPr>
            <a:r>
              <a:rPr lang="en-US" sz="16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If you see this, you’re almost done! It will now install all necessary tools.</a:t>
            </a:r>
          </a:p>
          <a:p>
            <a:pPr marL="609585" indent="-414856">
              <a:lnSpc>
                <a:spcPct val="115000"/>
              </a:lnSpc>
              <a:buClr>
                <a:schemeClr val="lt1"/>
              </a:buClr>
              <a:buSzPts val="1300"/>
              <a:buFont typeface="Symbol" panose="05050102010706020507" pitchFamily="18" charset="2"/>
              <a:buChar char="-"/>
            </a:pPr>
            <a:r>
              <a:rPr lang="en-US" sz="16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Restart your terminal, and you’ll be able to use </a:t>
            </a:r>
            <a:r>
              <a:rPr lang="en-US" sz="1600" dirty="0">
                <a:solidFill>
                  <a:srgbClr val="FFFF00"/>
                </a:solidFill>
                <a:latin typeface="Lato"/>
                <a:ea typeface="Lato"/>
                <a:cs typeface="Lato"/>
                <a:sym typeface="Lato"/>
              </a:rPr>
              <a:t>rustc</a:t>
            </a:r>
            <a:r>
              <a:rPr lang="en-US" sz="16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 and </a:t>
            </a:r>
            <a:r>
              <a:rPr lang="en-US" sz="1600" dirty="0">
                <a:solidFill>
                  <a:srgbClr val="FFFF00"/>
                </a:solidFill>
                <a:latin typeface="Lato"/>
                <a:ea typeface="Lato"/>
                <a:cs typeface="Lato"/>
                <a:sym typeface="Lato"/>
              </a:rPr>
              <a:t>cargo</a:t>
            </a:r>
            <a:r>
              <a:rPr lang="en-US" sz="1600" dirty="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7288400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Rust Installation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if Installation was successful, you should be able to run the following commands: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A12FF-E673-8FFE-A422-F2B42E1A9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100" y="2475740"/>
            <a:ext cx="10863799" cy="2670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5530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Rust Installation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if any of those commands failed, we must troubleshoot now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6875385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Rust Installation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if any of those commands failed, we must troubleshoot now</a:t>
            </a:r>
            <a:endParaRPr lang="de" dirty="0"/>
          </a:p>
          <a:p>
            <a:pPr>
              <a:buFont typeface="Symbol" panose="05050102010706020507" pitchFamily="18" charset="2"/>
              <a:buChar char="-"/>
            </a:pPr>
            <a:r>
              <a:rPr lang="de" dirty="0">
                <a:solidFill>
                  <a:srgbClr val="FFFFFF"/>
                </a:solidFill>
              </a:rPr>
              <a:t>common errors:</a:t>
            </a:r>
            <a:endParaRPr lang="en-US" dirty="0"/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`</a:t>
            </a:r>
            <a:r>
              <a:rPr lang="en-US" dirty="0">
                <a:solidFill>
                  <a:srgbClr val="FF9900"/>
                </a:solidFill>
              </a:rPr>
              <a:t>Linker cc not found</a:t>
            </a:r>
            <a:r>
              <a:rPr lang="en-US" dirty="0"/>
              <a:t>`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Linux 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</a:t>
            </a:r>
            <a:r>
              <a:rPr lang="en-US" dirty="0" err="1">
                <a:solidFill>
                  <a:srgbClr val="FFFF00"/>
                </a:solidFill>
              </a:rPr>
              <a:t>sudo</a:t>
            </a:r>
            <a:r>
              <a:rPr lang="en-US" dirty="0">
                <a:solidFill>
                  <a:srgbClr val="FFFF00"/>
                </a:solidFill>
              </a:rPr>
              <a:t> apt install </a:t>
            </a:r>
            <a:r>
              <a:rPr lang="en-US" dirty="0" err="1">
                <a:solidFill>
                  <a:srgbClr val="FFFF00"/>
                </a:solidFill>
              </a:rPr>
              <a:t>gcc</a:t>
            </a:r>
            <a:endParaRPr lang="en-US" dirty="0">
              <a:solidFill>
                <a:srgbClr val="FFFF00"/>
              </a:solidFill>
            </a:endParaRP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macOS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FFFF00"/>
                </a:solidFill>
                <a:sym typeface="Wingdings" panose="05000000000000000000" pitchFamily="2" charset="2"/>
              </a:rPr>
              <a:t> brew install </a:t>
            </a:r>
            <a:r>
              <a:rPr lang="en-US" dirty="0" err="1">
                <a:solidFill>
                  <a:srgbClr val="FFFF00"/>
                </a:solidFill>
                <a:sym typeface="Wingdings" panose="05000000000000000000" pitchFamily="2" charset="2"/>
              </a:rPr>
              <a:t>gcc</a:t>
            </a:r>
            <a:endParaRPr lang="en-US" dirty="0">
              <a:solidFill>
                <a:srgbClr val="FFFF00"/>
              </a:solidFill>
              <a:sym typeface="Wingdings" panose="05000000000000000000" pitchFamily="2" charset="2"/>
            </a:endParaRP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Windows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shouldn’t happen, the Installer installed the MSVC toolchain :^)</a:t>
            </a:r>
            <a:endParaRPr lang="en-US" dirty="0">
              <a:solidFill>
                <a:schemeClr val="bg1"/>
              </a:solidFill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eduroam may </a:t>
            </a:r>
            <a:r>
              <a:rPr lang="en-US" dirty="0">
                <a:solidFill>
                  <a:srgbClr val="FF9900"/>
                </a:solidFill>
              </a:rPr>
              <a:t>block downloading the Installer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US" dirty="0"/>
              <a:t> you’d need to </a:t>
            </a:r>
            <a:r>
              <a:rPr lang="en-US" dirty="0">
                <a:solidFill>
                  <a:srgbClr val="FFFF00"/>
                </a:solidFill>
              </a:rPr>
              <a:t>try again at home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8780674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de-DE" dirty="0"/>
              <a:t>Rust Installation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To test if everything is set up properly, run those commands: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Create a directory of your choice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en-US" dirty="0"/>
              <a:t>Either via file manager, or terminal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Open that directory in a terminal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type in </a:t>
            </a:r>
            <a:r>
              <a:rPr lang="en-US" dirty="0">
                <a:solidFill>
                  <a:srgbClr val="FFFF00"/>
                </a:solidFill>
              </a:rPr>
              <a:t>cargo new </a:t>
            </a:r>
            <a:r>
              <a:rPr lang="en-US" dirty="0" err="1">
                <a:solidFill>
                  <a:srgbClr val="FFFF00"/>
                </a:solidFill>
              </a:rPr>
              <a:t>test_program</a:t>
            </a:r>
            <a:endParaRPr lang="en-US" dirty="0">
              <a:solidFill>
                <a:srgbClr val="FFFF00"/>
              </a:solidFill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Navigate into that directory with </a:t>
            </a:r>
            <a:r>
              <a:rPr lang="en-US" dirty="0">
                <a:solidFill>
                  <a:srgbClr val="FFFF00"/>
                </a:solidFill>
              </a:rPr>
              <a:t>cd </a:t>
            </a:r>
            <a:r>
              <a:rPr lang="en-US" dirty="0" err="1">
                <a:solidFill>
                  <a:srgbClr val="FFFF00"/>
                </a:solidFill>
              </a:rPr>
              <a:t>test_program</a:t>
            </a:r>
            <a:endParaRPr lang="en-US" dirty="0">
              <a:solidFill>
                <a:schemeClr val="bg1"/>
              </a:solidFill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type in </a:t>
            </a:r>
            <a:r>
              <a:rPr lang="en-US" dirty="0">
                <a:solidFill>
                  <a:srgbClr val="FFFF00"/>
                </a:solidFill>
              </a:rPr>
              <a:t>cargo run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/>
              <a:t>if you see </a:t>
            </a:r>
            <a:r>
              <a:rPr lang="en-US" dirty="0">
                <a:solidFill>
                  <a:srgbClr val="00FF00"/>
                </a:solidFill>
              </a:rPr>
              <a:t>Hello, world!</a:t>
            </a:r>
            <a:r>
              <a:rPr lang="en-US" dirty="0"/>
              <a:t>, you’re ready to go!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681946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Technically it doesn’t matter, you could even use Ed, Notepad, Word…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0864692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Technically it doesn’t matter, you could even use Ed, Notepad, Word…</a:t>
            </a:r>
            <a:endParaRPr lang="de-DE" dirty="0"/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There are some IDEs and Editors that make programming [in Rust] easier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9365804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Technically it doesn’t matter, you could even use Ed, Notepad, Word…</a:t>
            </a:r>
            <a:endParaRPr lang="de-DE" dirty="0"/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There are some IDEs and Editors that make programming [in Rust] easier</a:t>
            </a:r>
          </a:p>
          <a:p>
            <a:pPr marL="1202237" lvl="1" indent="-380990">
              <a:buFont typeface="Symbol" panose="05050102010706020507" pitchFamily="18" charset="2"/>
              <a:buChar char="-"/>
            </a:pPr>
            <a:r>
              <a:rPr lang="en-US" dirty="0"/>
              <a:t>JetBrains </a:t>
            </a:r>
            <a:r>
              <a:rPr lang="en-US" dirty="0" err="1"/>
              <a:t>RustRover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Free license </a:t>
            </a:r>
            <a:r>
              <a:rPr lang="en-US" dirty="0"/>
              <a:t>for CS-students with a University-email</a:t>
            </a:r>
          </a:p>
          <a:p>
            <a:pPr marL="1202237" lvl="1" indent="-380990">
              <a:buFont typeface="Symbol" panose="05050102010706020507" pitchFamily="18" charset="2"/>
              <a:buChar char="-"/>
            </a:pPr>
            <a:r>
              <a:rPr lang="en-US" dirty="0"/>
              <a:t>Emacs, Vim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For those who prefer terminal editors</a:t>
            </a:r>
          </a:p>
          <a:p>
            <a:pPr marL="1202237" lvl="1" indent="-380990">
              <a:buFont typeface="Symbol" panose="05050102010706020507" pitchFamily="18" charset="2"/>
              <a:buChar char="-"/>
            </a:pPr>
            <a:r>
              <a:rPr lang="en-US" dirty="0"/>
              <a:t>Visual Studio </a:t>
            </a:r>
            <a:r>
              <a:rPr lang="en-US"/>
              <a:t>Code </a:t>
            </a:r>
            <a:r>
              <a:rPr lang="en-US">
                <a:sym typeface="Wingdings" panose="05000000000000000000" pitchFamily="2" charset="2"/>
              </a:rPr>
              <a:t> Jack of all trades, also good for other languages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9373304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en-US" dirty="0"/>
              <a:t>Technically it doesn’t matter, you could even use Ed, Notepad, Word…</a:t>
            </a:r>
            <a:endParaRPr lang="de-DE" dirty="0"/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There are some IDEs and Editors that make programming [in Rust] easier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VSC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nn-NO" u="sng" dirty="0">
                <a:solidFill>
                  <a:schemeClr val="hlink"/>
                </a:solidFill>
                <a:hlinkClick r:id="rId2"/>
              </a:rPr>
              <a:t>https://code.visualstudio.com/</a:t>
            </a:r>
            <a:endParaRPr lang="nn-NO" u="sng" dirty="0">
              <a:solidFill>
                <a:schemeClr val="hlink"/>
              </a:solidFill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nn-NO" dirty="0">
                <a:solidFill>
                  <a:schemeClr val="bg1"/>
                </a:solidFill>
              </a:rPr>
              <a:t>Windows </a:t>
            </a:r>
            <a:r>
              <a:rPr lang="nn-NO" dirty="0">
                <a:solidFill>
                  <a:schemeClr val="bg1"/>
                </a:solidFill>
                <a:sym typeface="Wingdings" panose="05000000000000000000" pitchFamily="2" charset="2"/>
              </a:rPr>
              <a:t> Simply follow the Installer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nn-NO" dirty="0">
                <a:solidFill>
                  <a:schemeClr val="bg1"/>
                </a:solidFill>
                <a:sym typeface="Wingdings" panose="05000000000000000000" pitchFamily="2" charset="2"/>
              </a:rPr>
              <a:t>Linux  </a:t>
            </a:r>
            <a:r>
              <a:rPr lang="nn-NO" dirty="0">
                <a:solidFill>
                  <a:schemeClr val="bg1"/>
                </a:solidFill>
                <a:sym typeface="Wingdings" panose="05000000000000000000" pitchFamily="2" charset="2"/>
                <a:hlinkClick r:id="rId3"/>
              </a:rPr>
              <a:t>https://code.visualstudio.com/docs/setup/linux</a:t>
            </a:r>
            <a:endParaRPr lang="nn-NO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nn-NO" dirty="0">
                <a:solidFill>
                  <a:schemeClr val="bg1"/>
                </a:solidFill>
                <a:sym typeface="Wingdings" panose="05000000000000000000" pitchFamily="2" charset="2"/>
              </a:rPr>
              <a:t>macOS  </a:t>
            </a:r>
            <a:r>
              <a:rPr lang="nn-NO" dirty="0">
                <a:solidFill>
                  <a:schemeClr val="bg1"/>
                </a:solidFill>
                <a:sym typeface="Wingdings" panose="05000000000000000000" pitchFamily="2" charset="2"/>
                <a:hlinkClick r:id="rId4"/>
              </a:rPr>
              <a:t>https://code.visualstudio.com/docs/setup/mac</a:t>
            </a:r>
            <a:endParaRPr lang="nn-NO" dirty="0">
              <a:solidFill>
                <a:schemeClr val="bg1"/>
              </a:solidFill>
              <a:sym typeface="Wingdings" panose="05000000000000000000" pitchFamily="2" charset="2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078257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E589CA-C46D-A288-B71D-1B534617D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Visual Studio Code itself does not have builtin Rust-Support, only Syntax Highlight – It‘s just a Text Editor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  <a:sym typeface="Wingdings" panose="05000000000000000000" pitchFamily="2" charset="2"/>
              </a:rPr>
              <a:t>Using extensions, we can fix that</a:t>
            </a:r>
            <a:endParaRPr lang="nn-NO" dirty="0">
              <a:solidFill>
                <a:schemeClr val="bg1"/>
              </a:solidFill>
              <a:sym typeface="Wingdings" panose="05000000000000000000" pitchFamily="2" charset="2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6867724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0D523C-CEFC-49FA-F794-AC0D3218A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437" y="1134400"/>
            <a:ext cx="7525125" cy="5030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216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0D523C-CEFC-49FA-F794-AC0D3218A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437" y="1134400"/>
            <a:ext cx="7525125" cy="503031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6BFF630-B586-6AC6-8ED0-BD0B7EF32EF3}"/>
              </a:ext>
            </a:extLst>
          </p:cNvPr>
          <p:cNvSpPr/>
          <p:nvPr/>
        </p:nvSpPr>
        <p:spPr>
          <a:xfrm>
            <a:off x="2280927" y="4513899"/>
            <a:ext cx="827603" cy="84403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67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C8AFF8-E694-3AE2-2797-C0C5034F54E5}"/>
              </a:ext>
            </a:extLst>
          </p:cNvPr>
          <p:cNvSpPr txBox="1"/>
          <p:nvPr/>
        </p:nvSpPr>
        <p:spPr>
          <a:xfrm>
            <a:off x="897879" y="4711635"/>
            <a:ext cx="1356462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67" dirty="0">
                <a:solidFill>
                  <a:schemeClr val="bg1"/>
                </a:solidFill>
              </a:rPr>
              <a:t>Extensions</a:t>
            </a:r>
          </a:p>
        </p:txBody>
      </p:sp>
    </p:spTree>
    <p:extLst>
      <p:ext uri="{BB962C8B-B14F-4D97-AF65-F5344CB8AC3E}">
        <p14:creationId xmlns:p14="http://schemas.microsoft.com/office/powerpoint/2010/main" val="25234261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0D523C-CEFC-49FA-F794-AC0D3218A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437" y="1134400"/>
            <a:ext cx="7525125" cy="50303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135926-BDD2-CECA-9DDF-2677076FA1A9}"/>
              </a:ext>
            </a:extLst>
          </p:cNvPr>
          <p:cNvSpPr txBox="1"/>
          <p:nvPr/>
        </p:nvSpPr>
        <p:spPr>
          <a:xfrm>
            <a:off x="5826403" y="2265865"/>
            <a:ext cx="2270173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67" dirty="0">
                <a:solidFill>
                  <a:schemeClr val="bg1"/>
                </a:solidFill>
              </a:rPr>
              <a:t>Search for this term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FA6CD9-F7A2-8ED3-B1DC-4A9D17BC1FA0}"/>
              </a:ext>
            </a:extLst>
          </p:cNvPr>
          <p:cNvSpPr/>
          <p:nvPr/>
        </p:nvSpPr>
        <p:spPr>
          <a:xfrm>
            <a:off x="3274129" y="2228826"/>
            <a:ext cx="6519895" cy="48445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67"/>
          </a:p>
        </p:txBody>
      </p:sp>
    </p:spTree>
    <p:extLst>
      <p:ext uri="{BB962C8B-B14F-4D97-AF65-F5344CB8AC3E}">
        <p14:creationId xmlns:p14="http://schemas.microsoft.com/office/powerpoint/2010/main" val="12406468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E0D523C-CEFC-49FA-F794-AC0D3218A6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437" y="1134400"/>
            <a:ext cx="7525125" cy="50303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6D4C55-7F17-71F5-8FEB-4314D21A1ADD}"/>
              </a:ext>
            </a:extLst>
          </p:cNvPr>
          <p:cNvSpPr txBox="1"/>
          <p:nvPr/>
        </p:nvSpPr>
        <p:spPr>
          <a:xfrm>
            <a:off x="5510621" y="2112157"/>
            <a:ext cx="3245817" cy="66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67" dirty="0">
                <a:solidFill>
                  <a:schemeClr val="bg1"/>
                </a:solidFill>
              </a:rPr>
              <a:t>The one with the checkmark is what we want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34E266-D604-EF62-50B0-8D985AC3A0C0}"/>
              </a:ext>
            </a:extLst>
          </p:cNvPr>
          <p:cNvSpPr/>
          <p:nvPr/>
        </p:nvSpPr>
        <p:spPr>
          <a:xfrm>
            <a:off x="3068183" y="2809784"/>
            <a:ext cx="6790379" cy="10702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67"/>
          </a:p>
        </p:txBody>
      </p:sp>
    </p:spTree>
    <p:extLst>
      <p:ext uri="{BB962C8B-B14F-4D97-AF65-F5344CB8AC3E}">
        <p14:creationId xmlns:p14="http://schemas.microsoft.com/office/powerpoint/2010/main" val="1942580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4F9645-C1CE-3702-F1FF-2A5469EA2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198" y="1894478"/>
            <a:ext cx="9971603" cy="311108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06C2918-33F7-F816-DDFC-C625F97678F1}"/>
              </a:ext>
            </a:extLst>
          </p:cNvPr>
          <p:cNvSpPr/>
          <p:nvPr/>
        </p:nvSpPr>
        <p:spPr>
          <a:xfrm>
            <a:off x="4053235" y="2749257"/>
            <a:ext cx="6019295" cy="4077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67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5CB7F6-C5F6-B7E9-D223-81F551243598}"/>
              </a:ext>
            </a:extLst>
          </p:cNvPr>
          <p:cNvSpPr txBox="1"/>
          <p:nvPr/>
        </p:nvSpPr>
        <p:spPr>
          <a:xfrm>
            <a:off x="6712276" y="1185465"/>
            <a:ext cx="4369525" cy="66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67" dirty="0">
                <a:solidFill>
                  <a:schemeClr val="bg1"/>
                </a:solidFill>
              </a:rPr>
              <a:t>As extensions can run arbitrary code, make sure it‘s the right one :^)</a:t>
            </a:r>
          </a:p>
        </p:txBody>
      </p:sp>
    </p:spTree>
    <p:extLst>
      <p:ext uri="{BB962C8B-B14F-4D97-AF65-F5344CB8AC3E}">
        <p14:creationId xmlns:p14="http://schemas.microsoft.com/office/powerpoint/2010/main" val="38818002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E9BB337-6EB5-B8E1-E1EA-86ECA5D09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01EABD-95BF-35D9-5124-FBD635B95A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C02F5A9B-9FF8-41D7-88D9-F781DB264A7C}" type="datetime1">
              <a:rPr lang="de-DE" smtClean="0"/>
              <a:t>21.10.2025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91E4-9400-CD18-C72D-534310977D5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4F9645-C1CE-3702-F1FF-2A5469EA2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198" y="1894478"/>
            <a:ext cx="9971603" cy="31110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9A182E2-4813-A5EC-ECAF-49C6AE47FA0D}"/>
              </a:ext>
            </a:extLst>
          </p:cNvPr>
          <p:cNvSpPr/>
          <p:nvPr/>
        </p:nvSpPr>
        <p:spPr>
          <a:xfrm>
            <a:off x="4053235" y="3788301"/>
            <a:ext cx="6168667" cy="6484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67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2E4D94-80BB-5D59-BD35-5474CCEC7B4D}"/>
              </a:ext>
            </a:extLst>
          </p:cNvPr>
          <p:cNvSpPr txBox="1"/>
          <p:nvPr/>
        </p:nvSpPr>
        <p:spPr>
          <a:xfrm>
            <a:off x="4053235" y="4994174"/>
            <a:ext cx="5008102" cy="6669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67" dirty="0">
                <a:solidFill>
                  <a:schemeClr val="bg1"/>
                </a:solidFill>
              </a:rPr>
              <a:t>Somewhere here should be an Install-button</a:t>
            </a:r>
          </a:p>
          <a:p>
            <a:r>
              <a:rPr lang="de-DE" sz="1867" dirty="0">
                <a:solidFill>
                  <a:schemeClr val="bg1"/>
                </a:solidFill>
              </a:rPr>
              <a:t>Restart VSC if necessary</a:t>
            </a:r>
          </a:p>
        </p:txBody>
      </p:sp>
    </p:spTree>
    <p:extLst>
      <p:ext uri="{BB962C8B-B14F-4D97-AF65-F5344CB8AC3E}">
        <p14:creationId xmlns:p14="http://schemas.microsoft.com/office/powerpoint/2010/main" val="287778687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6D167D2-4273-8CEC-C1BB-E3C3041E2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2C7351-E705-708A-E296-F594D877061B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DCE61-CF80-E1B2-6D20-DE67ED5B6FB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98AB2-AC46-36D5-078E-94EE23BBF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126" y="1210188"/>
            <a:ext cx="8495747" cy="489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3756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6D167D2-4273-8CEC-C1BB-E3C3041E2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2C7351-E705-708A-E296-F594D877061B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DCE61-CF80-E1B2-6D20-DE67ED5B6FB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98AB2-AC46-36D5-078E-94EE23BBF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126" y="1210188"/>
            <a:ext cx="8495747" cy="489799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A8A1AB4-650C-331C-2271-B6B4CDDA9162}"/>
              </a:ext>
            </a:extLst>
          </p:cNvPr>
          <p:cNvSpPr/>
          <p:nvPr/>
        </p:nvSpPr>
        <p:spPr>
          <a:xfrm>
            <a:off x="1812653" y="3758572"/>
            <a:ext cx="2180027" cy="39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67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93CBA-603A-220F-3709-E4A18EA7A1F4}"/>
              </a:ext>
            </a:extLst>
          </p:cNvPr>
          <p:cNvSpPr txBox="1"/>
          <p:nvPr/>
        </p:nvSpPr>
        <p:spPr>
          <a:xfrm>
            <a:off x="1812654" y="3348203"/>
            <a:ext cx="4184159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867" dirty="0">
                <a:solidFill>
                  <a:schemeClr val="bg1"/>
                </a:solidFill>
              </a:rPr>
              <a:t>We can run our code from within VSC</a:t>
            </a:r>
          </a:p>
        </p:txBody>
      </p:sp>
    </p:spTree>
    <p:extLst>
      <p:ext uri="{BB962C8B-B14F-4D97-AF65-F5344CB8AC3E}">
        <p14:creationId xmlns:p14="http://schemas.microsoft.com/office/powerpoint/2010/main" val="18944668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6D167D2-4273-8CEC-C1BB-E3C3041E2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2C7351-E705-708A-E296-F594D877061B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DCE61-CF80-E1B2-6D20-DE67ED5B6FB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98AB2-AC46-36D5-078E-94EE23BBF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126" y="1210188"/>
            <a:ext cx="8495747" cy="489799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02536AA-4F7A-D9F8-AC85-ACEE87EBCFAF}"/>
              </a:ext>
            </a:extLst>
          </p:cNvPr>
          <p:cNvSpPr/>
          <p:nvPr/>
        </p:nvSpPr>
        <p:spPr>
          <a:xfrm>
            <a:off x="6168668" y="5167526"/>
            <a:ext cx="1469499" cy="48444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6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B0C581-49CB-A1D9-F035-B2074DF6BB01}"/>
              </a:ext>
            </a:extLst>
          </p:cNvPr>
          <p:cNvSpPr txBox="1"/>
          <p:nvPr/>
        </p:nvSpPr>
        <p:spPr>
          <a:xfrm>
            <a:off x="6168669" y="5651975"/>
            <a:ext cx="4088159" cy="66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67" dirty="0">
                <a:solidFill>
                  <a:schemeClr val="bg1"/>
                </a:solidFill>
              </a:rPr>
              <a:t>Direct error reporting in our editor, without compiling ourselves</a:t>
            </a:r>
          </a:p>
        </p:txBody>
      </p:sp>
    </p:spTree>
    <p:extLst>
      <p:ext uri="{BB962C8B-B14F-4D97-AF65-F5344CB8AC3E}">
        <p14:creationId xmlns:p14="http://schemas.microsoft.com/office/powerpoint/2010/main" val="72377200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6D167D2-4273-8CEC-C1BB-E3C3041E2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de-DE" dirty="0"/>
              <a:t>Development Environment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2C7351-E705-708A-E296-F594D877061B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DCE61-CF80-E1B2-6D20-DE67ED5B6FB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98AB2-AC46-36D5-078E-94EE23BBF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126" y="1210188"/>
            <a:ext cx="8495747" cy="489799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87294F1-CFA2-2A19-8812-44647CE3393C}"/>
              </a:ext>
            </a:extLst>
          </p:cNvPr>
          <p:cNvSpPr/>
          <p:nvPr/>
        </p:nvSpPr>
        <p:spPr>
          <a:xfrm>
            <a:off x="6242310" y="1198107"/>
            <a:ext cx="4219689" cy="39427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6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038718-C75E-C454-EB5B-6C01906BE44D}"/>
              </a:ext>
            </a:extLst>
          </p:cNvPr>
          <p:cNvSpPr txBox="1"/>
          <p:nvPr/>
        </p:nvSpPr>
        <p:spPr>
          <a:xfrm>
            <a:off x="2515157" y="1198104"/>
            <a:ext cx="3727152" cy="66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867" dirty="0">
                <a:solidFill>
                  <a:schemeClr val="bg1"/>
                </a:solidFill>
              </a:rPr>
              <a:t>Diagnostics when hovering over the red swiggly lines of death :^)</a:t>
            </a:r>
          </a:p>
        </p:txBody>
      </p:sp>
    </p:spTree>
    <p:extLst>
      <p:ext uri="{BB962C8B-B14F-4D97-AF65-F5344CB8AC3E}">
        <p14:creationId xmlns:p14="http://schemas.microsoft.com/office/powerpoint/2010/main" val="2453172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E167334-7D6E-5BE0-E308-47B9450A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General Info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F2833B-B050-8029-ACE8-7B5B9714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Slides are available at the mentioned Github repository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C5264-C7A5-F82F-320E-0727A4961B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8868C-DD9D-9BF0-085C-254B37D742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3183999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E167334-7D6E-5BE0-E308-47B9450A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General Info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F2833B-B050-8029-ACE8-7B5B9714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Slides are available at the mentioned Github repository</a:t>
            </a:r>
            <a:endParaRPr lang="de" dirty="0"/>
          </a:p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I highly recommend using the default </a:t>
            </a:r>
            <a:r>
              <a:rPr lang="de-DE" dirty="0">
                <a:solidFill>
                  <a:srgbClr val="FFFF00"/>
                </a:solidFill>
              </a:rPr>
              <a:t>git</a:t>
            </a:r>
            <a:r>
              <a:rPr lang="de-DE" dirty="0"/>
              <a:t> way of getting the repository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git</a:t>
            </a:r>
            <a:r>
              <a:rPr lang="de-DE" dirty="0"/>
              <a:t> is very important, it‘s best to start early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Because I am still changing slides, regular updates </a:t>
            </a:r>
            <a:r>
              <a:rPr lang="de-DE"/>
              <a:t>are recommended</a:t>
            </a:r>
            <a:endParaRPr lang="de-DE" dirty="0"/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Initial Step: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/>
              <a:t>Go to the Github repository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/>
              <a:t>Click the green </a:t>
            </a:r>
            <a:r>
              <a:rPr lang="de-DE" dirty="0">
                <a:solidFill>
                  <a:srgbClr val="00FF00"/>
                </a:solidFill>
              </a:rPr>
              <a:t>Code</a:t>
            </a:r>
            <a:r>
              <a:rPr lang="de-DE" dirty="0"/>
              <a:t> button, copy the HTTPS-url to your clipboard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/>
              <a:t>Go to a directory of your choice, open the terminal there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/>
              <a:t>type in </a:t>
            </a:r>
            <a:r>
              <a:rPr lang="de-DE" dirty="0">
                <a:solidFill>
                  <a:srgbClr val="FFFF00"/>
                </a:solidFill>
              </a:rPr>
              <a:t>git clone &lt;paste URL here&gt;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In the future, to get the updated slides: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Simply go to that directory (or rather, the </a:t>
            </a:r>
            <a:r>
              <a:rPr lang="de-DE" dirty="0">
                <a:solidFill>
                  <a:srgbClr val="FFFF00"/>
                </a:solidFill>
              </a:rPr>
              <a:t>progkurs</a:t>
            </a:r>
            <a:r>
              <a:rPr lang="de-DE" dirty="0">
                <a:solidFill>
                  <a:schemeClr val="bg1"/>
                </a:solidFill>
              </a:rPr>
              <a:t> directory inside)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type in </a:t>
            </a:r>
            <a:r>
              <a:rPr lang="de-DE" dirty="0">
                <a:solidFill>
                  <a:srgbClr val="FFFF00"/>
                </a:solidFill>
              </a:rPr>
              <a:t>git pull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>
                    <a:lumMod val="95000"/>
                  </a:schemeClr>
                </a:solidFill>
              </a:rPr>
              <a:t>You now have access to the current state of all slides and exercises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C5264-C7A5-F82F-320E-0727A4961B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8868C-DD9D-9BF0-085C-254B37D742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0868726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E167334-7D6E-5BE0-E308-47B9450A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General Info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F2833B-B050-8029-ACE8-7B5B9714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Slides are available at the mentioned Github repository</a:t>
            </a:r>
            <a:endParaRPr lang="en-US" dirty="0">
              <a:solidFill>
                <a:schemeClr val="bg1"/>
              </a:solidFill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Every session will be split into three parts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Recap of last session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New topics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en-US" dirty="0">
                <a:solidFill>
                  <a:schemeClr val="bg1"/>
                </a:solidFill>
              </a:rPr>
              <a:t>Exercises at the end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C5264-C7A5-F82F-320E-0727A4961B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8868C-DD9D-9BF0-085C-254B37D742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2185512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E167334-7D6E-5BE0-E308-47B9450A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General Info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F2833B-B050-8029-ACE8-7B5B9714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Slides are available at the mentioned Github repository</a:t>
            </a:r>
            <a:endParaRPr lang="de-DE" dirty="0">
              <a:solidFill>
                <a:schemeClr val="bg1"/>
              </a:solidFill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Every session will be split into three parts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Exercises and some Code snippets in future slides will be color coded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00FF00"/>
                </a:solidFill>
              </a:rPr>
              <a:t>Green</a:t>
            </a:r>
            <a:r>
              <a:rPr lang="de-DE" dirty="0">
                <a:solidFill>
                  <a:schemeClr val="bg1"/>
                </a:solidFill>
              </a:rPr>
              <a:t> </a:t>
            </a:r>
            <a:r>
              <a:rPr lang="de-DE" dirty="0">
                <a:solidFill>
                  <a:schemeClr val="bg1"/>
                </a:solidFill>
                <a:sym typeface="Wingdings" panose="05000000000000000000" pitchFamily="2" charset="2"/>
              </a:rPr>
              <a:t> 0/3  We have covered the topic already, should be easy enough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  <a:sym typeface="Wingdings" panose="05000000000000000000" pitchFamily="2" charset="2"/>
              </a:rPr>
              <a:t>Yellow</a:t>
            </a:r>
            <a:r>
              <a:rPr lang="de-DE" dirty="0">
                <a:solidFill>
                  <a:schemeClr val="bg1"/>
                </a:solidFill>
                <a:sym typeface="Wingdings" panose="05000000000000000000" pitchFamily="2" charset="2"/>
              </a:rPr>
              <a:t>  1/3  We have just covered the topic, may be hard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0000"/>
                </a:solidFill>
                <a:sym typeface="Wingdings" panose="05000000000000000000" pitchFamily="2" charset="2"/>
              </a:rPr>
              <a:t>Red</a:t>
            </a:r>
            <a:r>
              <a:rPr lang="de-DE" dirty="0">
                <a:solidFill>
                  <a:schemeClr val="bg1"/>
                </a:solidFill>
                <a:sym typeface="Wingdings" panose="05000000000000000000" pitchFamily="2" charset="2"/>
              </a:rPr>
              <a:t>  2/3  Same as </a:t>
            </a:r>
            <a:r>
              <a:rPr lang="de-DE" dirty="0">
                <a:solidFill>
                  <a:srgbClr val="FFFF00"/>
                </a:solidFill>
                <a:sym typeface="Wingdings" panose="05000000000000000000" pitchFamily="2" charset="2"/>
              </a:rPr>
              <a:t>Yellow</a:t>
            </a:r>
            <a:r>
              <a:rPr lang="de-DE" dirty="0">
                <a:solidFill>
                  <a:schemeClr val="bg1"/>
                </a:solidFill>
                <a:sym typeface="Wingdings" panose="05000000000000000000" pitchFamily="2" charset="2"/>
              </a:rPr>
              <a:t>, but trickier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BF00FF"/>
                </a:solidFill>
                <a:sym typeface="Wingdings" panose="05000000000000000000" pitchFamily="2" charset="2"/>
              </a:rPr>
              <a:t>Purple</a:t>
            </a:r>
            <a:r>
              <a:rPr lang="de-DE" dirty="0">
                <a:solidFill>
                  <a:schemeClr val="bg1"/>
                </a:solidFill>
                <a:sym typeface="Wingdings" panose="05000000000000000000" pitchFamily="2" charset="2"/>
              </a:rPr>
              <a:t>  3/3  We have not covered the topic, but challenges are always fun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C5264-C7A5-F82F-320E-0727A4961B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8868C-DD9D-9BF0-085C-254B37D742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8645606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E167334-7D6E-5BE0-E308-47B9450A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General Info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F2833B-B050-8029-ACE8-7B5B9714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Slides are available at the mentioned Github repository</a:t>
            </a:r>
            <a:endParaRPr lang="de-DE" dirty="0">
              <a:solidFill>
                <a:schemeClr val="bg1"/>
              </a:solidFill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Every session will be split into three parts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Exercises and some Code snippets in future slides will be color coded</a:t>
            </a:r>
            <a:endParaRPr lang="de" dirty="0"/>
          </a:p>
          <a:p>
            <a:pPr>
              <a:buFont typeface="Symbol" panose="05050102010706020507" pitchFamily="18" charset="2"/>
              <a:buChar char="-"/>
            </a:pPr>
            <a:r>
              <a:rPr lang="de" dirty="0"/>
              <a:t>Every session contains a file with exercises called </a:t>
            </a:r>
            <a:r>
              <a:rPr lang="de" dirty="0">
                <a:solidFill>
                  <a:srgbClr val="FFFF00"/>
                </a:solidFill>
              </a:rPr>
              <a:t>exercises.md</a:t>
            </a:r>
            <a:endParaRPr lang="de-DE" dirty="0">
              <a:solidFill>
                <a:schemeClr val="bg1"/>
              </a:solidFill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Exercises will not be fully compared every time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Important points will be mentioned in each Recap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Example solutions are in a file called </a:t>
            </a:r>
            <a:r>
              <a:rPr lang="de-DE" dirty="0">
                <a:solidFill>
                  <a:srgbClr val="FFFF00"/>
                </a:solidFill>
              </a:rPr>
              <a:t>solutions.md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C5264-C7A5-F82F-320E-0727A4961B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8868C-DD9D-9BF0-085C-254B37D742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3432786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E167334-7D6E-5BE0-E308-47B9450A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de-DE" dirty="0"/>
              <a:t>General Info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F2833B-B050-8029-ACE8-7B5B9714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/>
              <a:t>Slides are available at the mentioned Github repository</a:t>
            </a:r>
            <a:endParaRPr lang="de-DE" dirty="0">
              <a:solidFill>
                <a:schemeClr val="bg1"/>
              </a:solidFill>
            </a:endParaRP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Every session will be split into three parts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Exercises and some Code snippets in future slides will be color coded</a:t>
            </a:r>
            <a:endParaRPr lang="de" dirty="0"/>
          </a:p>
          <a:p>
            <a:pPr>
              <a:buFont typeface="Symbol" panose="05050102010706020507" pitchFamily="18" charset="2"/>
              <a:buChar char="-"/>
            </a:pPr>
            <a:r>
              <a:rPr lang="de" dirty="0"/>
              <a:t>Every session contains a file with exercises called </a:t>
            </a:r>
            <a:r>
              <a:rPr lang="de" dirty="0">
                <a:solidFill>
                  <a:srgbClr val="FFFF00"/>
                </a:solidFill>
              </a:rPr>
              <a:t>exercises.md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Example solutions are in a file called </a:t>
            </a:r>
            <a:r>
              <a:rPr lang="de-DE" dirty="0">
                <a:solidFill>
                  <a:srgbClr val="FFFF00"/>
                </a:solidFill>
              </a:rPr>
              <a:t>solutions.md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Participation and Feedback is very important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Basic program stands, but my goal is to teach you Rust the best </a:t>
            </a:r>
            <a:r>
              <a:rPr lang="de-DE">
                <a:solidFill>
                  <a:schemeClr val="bg1"/>
                </a:solidFill>
              </a:rPr>
              <a:t>I can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>
                <a:solidFill>
                  <a:schemeClr val="bg1"/>
                </a:solidFill>
              </a:rPr>
              <a:t>Slides are a rough guideline, we have enough time to talk about anything you don‘t understand</a:t>
            </a:r>
            <a:endParaRPr lang="de-DE" dirty="0">
              <a:solidFill>
                <a:schemeClr val="bg1"/>
              </a:solidFill>
            </a:endParaRP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Don‘t understand something? Am I too fast? Did I make any mistakes?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Just raise your hand, and we can discuss a topic for a while! </a:t>
            </a:r>
            <a:r>
              <a:rPr lang="de-DE" dirty="0">
                <a:solidFill>
                  <a:schemeClr val="bg1"/>
                </a:solidFill>
                <a:sym typeface="Wingdings" panose="05000000000000000000" pitchFamily="2" charset="2"/>
              </a:rPr>
              <a:t>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C5264-C7A5-F82F-320E-0727A4961B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8868C-DD9D-9BF0-085C-254B37D742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0227204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D2321-F2F5-6C42-855A-6A9D3C56B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C28AE6D-7CDB-234C-DE29-AC2AB7312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Intermission – Intermissions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080DBA8-35C5-2AE8-4DAD-59C4F36A8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94729" indent="0">
              <a:buNone/>
            </a:pP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2D6EE6-5710-B0F3-4C0A-870E6DC919C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8A339B-C471-D40B-5074-67BF0ABE830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8596932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09326-10F7-117F-BF2C-8F96F8945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EAE829B-7239-F0AC-1D3D-C17A07F2C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Intermission – Intermissions</a:t>
            </a:r>
            <a:endParaRPr lang="de-DE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8E5E8F-DF70-EF26-AD52-0BADDCFFB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/>
              <a:t>Rust is a system programming language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/>
              <a:t>Pretty close to the metal, compared to languages like JavaScript or Python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/>
              <a:t>„Low level“ language – Lots of memory stuff, pointers, etc.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E01C01-9E70-2E1A-9B1A-7F15EE30C2D7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2D65DA-BCA3-66E6-A30A-0AD3B4AD46A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27205501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98190-8969-CD46-D43E-0325868EB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13B6502-CCC4-2953-8E95-D0518BA49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Intermission – Intermissions</a:t>
            </a:r>
            <a:endParaRPr lang="de-DE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CDE2869-EF6E-2E09-CF84-9C7580374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/>
              <a:t>Rust is a system programming language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/>
              <a:t>Pretty close to the metal, compared to languages like JavaScript or Python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/>
              <a:t>„Low level“ language – Lots of memory stuff, pointers, etc.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/>
              <a:t>To better understand the language, </a:t>
            </a:r>
            <a:r>
              <a:rPr lang="de-DE">
                <a:solidFill>
                  <a:srgbClr val="00FF00"/>
                </a:solidFill>
              </a:rPr>
              <a:t>you need to understand the hardware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/>
              <a:t>Intermissions will, at fitting points, </a:t>
            </a:r>
            <a:r>
              <a:rPr lang="de-DE">
                <a:solidFill>
                  <a:srgbClr val="FFFF00"/>
                </a:solidFill>
              </a:rPr>
              <a:t>introduce low level concepts </a:t>
            </a:r>
            <a:r>
              <a:rPr lang="de-DE"/>
              <a:t>to aid with that understanding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/>
              <a:t>Functions </a:t>
            </a:r>
            <a:r>
              <a:rPr lang="de-DE">
                <a:sym typeface="Wingdings" panose="05000000000000000000" pitchFamily="2" charset="2"/>
              </a:rPr>
              <a:t> What is a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call stack</a:t>
            </a:r>
            <a:r>
              <a:rPr lang="de-DE">
                <a:sym typeface="Wingdings" panose="05000000000000000000" pitchFamily="2" charset="2"/>
              </a:rPr>
              <a:t>? What are </a:t>
            </a:r>
            <a:r>
              <a:rPr lang="de-DE">
                <a:solidFill>
                  <a:srgbClr val="FF0000"/>
                </a:solidFill>
                <a:sym typeface="Wingdings" panose="05000000000000000000" pitchFamily="2" charset="2"/>
              </a:rPr>
              <a:t>dangling pointers</a:t>
            </a:r>
            <a:r>
              <a:rPr lang="de-DE">
                <a:sym typeface="Wingdings" panose="05000000000000000000" pitchFamily="2" charset="2"/>
              </a:rPr>
              <a:t>?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>
                <a:sym typeface="Wingdings" panose="05000000000000000000" pitchFamily="2" charset="2"/>
              </a:rPr>
              <a:t>Ownership  What is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memory safety</a:t>
            </a:r>
            <a:r>
              <a:rPr lang="de-DE">
                <a:sym typeface="Wingdings" panose="05000000000000000000" pitchFamily="2" charset="2"/>
              </a:rPr>
              <a:t> about?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313DA3-11DF-8D33-458A-567D3569A93F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93815-B719-85E7-19CB-DD835904809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33917534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D820-A682-003B-7D7E-526A2EC27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32D6C97-F1DC-F1E6-A28C-D84DC43B4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Intermission – Intermissions</a:t>
            </a:r>
            <a:endParaRPr lang="de-DE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C74D9F2-8F88-2800-6575-E19B93880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/>
              <a:t>Rust is a system programming language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/>
              <a:t>Pretty close to the metal, compared to languages like JavaScript or Python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/>
              <a:t>„Low level“ language – Lots of memory stuff, pointers, etc.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/>
              <a:t>To better understand the language, </a:t>
            </a:r>
            <a:r>
              <a:rPr lang="de-DE">
                <a:solidFill>
                  <a:srgbClr val="00FF00"/>
                </a:solidFill>
              </a:rPr>
              <a:t>you need to understand the hardware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/>
              <a:t>Intermissions will, at fitting points, </a:t>
            </a:r>
            <a:r>
              <a:rPr lang="de-DE">
                <a:solidFill>
                  <a:srgbClr val="FFFF00"/>
                </a:solidFill>
              </a:rPr>
              <a:t>introduce low level concepts </a:t>
            </a:r>
            <a:r>
              <a:rPr lang="de-DE"/>
              <a:t>to aid with that understanding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/>
              <a:t>Functions </a:t>
            </a:r>
            <a:r>
              <a:rPr lang="de-DE">
                <a:sym typeface="Wingdings" panose="05000000000000000000" pitchFamily="2" charset="2"/>
              </a:rPr>
              <a:t> What is a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call stack</a:t>
            </a:r>
            <a:r>
              <a:rPr lang="de-DE">
                <a:sym typeface="Wingdings" panose="05000000000000000000" pitchFamily="2" charset="2"/>
              </a:rPr>
              <a:t>? What are </a:t>
            </a:r>
            <a:r>
              <a:rPr lang="de-DE">
                <a:solidFill>
                  <a:srgbClr val="FF0000"/>
                </a:solidFill>
                <a:sym typeface="Wingdings" panose="05000000000000000000" pitchFamily="2" charset="2"/>
              </a:rPr>
              <a:t>dangling pointers</a:t>
            </a:r>
            <a:r>
              <a:rPr lang="de-DE">
                <a:sym typeface="Wingdings" panose="05000000000000000000" pitchFamily="2" charset="2"/>
              </a:rPr>
              <a:t>?</a:t>
            </a:r>
          </a:p>
          <a:p>
            <a:pPr lvl="2">
              <a:buFont typeface="Symbol" panose="05050102010706020507" pitchFamily="18" charset="2"/>
              <a:buChar char="-"/>
            </a:pPr>
            <a:r>
              <a:rPr lang="de-DE">
                <a:sym typeface="Wingdings" panose="05000000000000000000" pitchFamily="2" charset="2"/>
              </a:rPr>
              <a:t>Ownership  What is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memory safety</a:t>
            </a:r>
            <a:r>
              <a:rPr lang="de-DE">
                <a:sym typeface="Wingdings" panose="05000000000000000000" pitchFamily="2" charset="2"/>
              </a:rPr>
              <a:t> about?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>
                <a:sym typeface="Wingdings" panose="05000000000000000000" pitchFamily="2" charset="2"/>
              </a:rPr>
              <a:t>Intermissions will also introduce some </a:t>
            </a:r>
            <a:r>
              <a:rPr lang="de-DE">
                <a:solidFill>
                  <a:srgbClr val="00FF00"/>
                </a:solidFill>
                <a:sym typeface="Wingdings" panose="05000000000000000000" pitchFamily="2" charset="2"/>
              </a:rPr>
              <a:t>concepts that don‘t fit into the topic at hand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>
                <a:sym typeface="Wingdings" panose="05000000000000000000" pitchFamily="2" charset="2"/>
              </a:rPr>
              <a:t>How do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floating point numbers</a:t>
            </a:r>
            <a:r>
              <a:rPr lang="de-DE">
                <a:sym typeface="Wingdings" panose="05000000000000000000" pitchFamily="2" charset="2"/>
              </a:rPr>
              <a:t> work?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>
                <a:sym typeface="Wingdings" panose="05000000000000000000" pitchFamily="2" charset="2"/>
              </a:rPr>
              <a:t>What are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Strings</a:t>
            </a:r>
            <a:r>
              <a:rPr lang="de-DE">
                <a:sym typeface="Wingdings" panose="05000000000000000000" pitchFamily="2" charset="2"/>
              </a:rPr>
              <a:t>? What is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format!() </a:t>
            </a:r>
            <a:r>
              <a:rPr lang="de-DE">
                <a:sym typeface="Wingdings" panose="05000000000000000000" pitchFamily="2" charset="2"/>
              </a:rPr>
              <a:t>and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println!()</a:t>
            </a:r>
            <a:r>
              <a:rPr lang="de-DE">
                <a:sym typeface="Wingdings" panose="05000000000000000000" pitchFamily="2" charset="2"/>
              </a:rPr>
              <a:t>?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>
                <a:sym typeface="Wingdings" panose="05000000000000000000" pitchFamily="2" charset="2"/>
              </a:rPr>
              <a:t>Goal: Learn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concepts that transcend Rust </a:t>
            </a:r>
            <a:r>
              <a:rPr lang="de-DE">
                <a:sym typeface="Wingdings" panose="05000000000000000000" pitchFamily="2" charset="2"/>
              </a:rPr>
              <a:t>and are </a:t>
            </a:r>
            <a:r>
              <a:rPr lang="de-DE">
                <a:solidFill>
                  <a:srgbClr val="FFFF00"/>
                </a:solidFill>
                <a:sym typeface="Wingdings" panose="05000000000000000000" pitchFamily="2" charset="2"/>
              </a:rPr>
              <a:t>applicable to other languages</a:t>
            </a:r>
            <a:endParaRPr lang="de-DE">
              <a:sym typeface="Wingdings" panose="05000000000000000000" pitchFamily="2" charset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F33803-F73D-F2E5-FA9F-32F0F0BDF5E7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23DD71-E150-BB93-6A8C-3FE2C6301E7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169689861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E167334-7D6E-5BE0-E308-47B9450A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Next time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6F2833B-B050-8029-ACE8-7B5B9714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rustc</a:t>
            </a:r>
            <a:r>
              <a:rPr lang="de-DE" dirty="0">
                <a:solidFill>
                  <a:schemeClr val="bg1"/>
                </a:solidFill>
              </a:rPr>
              <a:t> vs </a:t>
            </a:r>
            <a:r>
              <a:rPr lang="de-DE" dirty="0">
                <a:solidFill>
                  <a:srgbClr val="FFFF00"/>
                </a:solidFill>
              </a:rPr>
              <a:t>cargo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Basic Types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chemeClr val="bg1"/>
                </a:solidFill>
              </a:rPr>
              <a:t>Variables</a:t>
            </a:r>
          </a:p>
          <a:p>
            <a:pPr>
              <a:buFont typeface="Symbol" panose="05050102010706020507" pitchFamily="18" charset="2"/>
              <a:buChar char="-"/>
            </a:pPr>
            <a:r>
              <a:rPr lang="de-DE" dirty="0">
                <a:solidFill>
                  <a:srgbClr val="FFFF00"/>
                </a:solidFill>
              </a:rPr>
              <a:t>let</a:t>
            </a:r>
            <a:r>
              <a:rPr lang="de-DE" dirty="0">
                <a:solidFill>
                  <a:schemeClr val="bg1"/>
                </a:solidFill>
              </a:rPr>
              <a:t> vs </a:t>
            </a:r>
            <a:r>
              <a:rPr lang="de-DE" dirty="0">
                <a:solidFill>
                  <a:srgbClr val="FFFF00"/>
                </a:solidFill>
              </a:rPr>
              <a:t>let mut</a:t>
            </a:r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C5264-C7A5-F82F-320E-0727A4961B0D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3156570E-7EF3-4182-BA9D-2A52B45C241A}" type="datetime1">
              <a:rPr lang="de-DE" smtClean="0"/>
              <a:t>21.10.2025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08868C-DD9D-9BF0-085C-254B37D742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de-DE"/>
              <a:t>RUSTikales Rust for beginners</a:t>
            </a:r>
          </a:p>
        </p:txBody>
      </p:sp>
    </p:spTree>
    <p:extLst>
      <p:ext uri="{BB962C8B-B14F-4D97-AF65-F5344CB8AC3E}">
        <p14:creationId xmlns:p14="http://schemas.microsoft.com/office/powerpoint/2010/main" val="4114796864"/>
      </p:ext>
    </p:extLst>
  </p:cSld>
  <p:clrMapOvr>
    <a:masterClrMapping/>
  </p:clrMapOvr>
</p:sld>
</file>

<file path=ppt/theme/theme1.xml><?xml version="1.0" encoding="utf-8"?>
<a:theme xmlns:a="http://schemas.openxmlformats.org/drawingml/2006/main" name="course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s" id="{EC4C77F5-468D-482A-8B72-13B1115A455E}" vid="{F1CF8C3C-195A-4352-BA77-4B821920FB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courses</Template>
  <TotalTime>0</TotalTime>
  <Words>2107</Words>
  <Application>Microsoft Office PowerPoint</Application>
  <PresentationFormat>Widescreen</PresentationFormat>
  <Paragraphs>399</Paragraphs>
  <Slides>55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2" baseType="lpstr">
      <vt:lpstr>Arial</vt:lpstr>
      <vt:lpstr>Calibri</vt:lpstr>
      <vt:lpstr>Lato</vt:lpstr>
      <vt:lpstr>Montserrat</vt:lpstr>
      <vt:lpstr>Symbol</vt:lpstr>
      <vt:lpstr>Wingdings</vt:lpstr>
      <vt:lpstr>courses</vt:lpstr>
      <vt:lpstr>RUSTikales Rust for beginners</vt:lpstr>
      <vt:lpstr>Plan for today</vt:lpstr>
      <vt:lpstr>Plan for today</vt:lpstr>
      <vt:lpstr>Plan for today</vt:lpstr>
      <vt:lpstr>Plan for today</vt:lpstr>
      <vt:lpstr>Plan for today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Introduction</vt:lpstr>
      <vt:lpstr>Rust Installation</vt:lpstr>
      <vt:lpstr>Rust Installation</vt:lpstr>
      <vt:lpstr>Rust Installation</vt:lpstr>
      <vt:lpstr>Rust Installation</vt:lpstr>
      <vt:lpstr>Rust Installation</vt:lpstr>
      <vt:lpstr>Rust Installation</vt:lpstr>
      <vt:lpstr>Rust Installation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Development Environment</vt:lpstr>
      <vt:lpstr>General Info</vt:lpstr>
      <vt:lpstr>General Info</vt:lpstr>
      <vt:lpstr>General Info</vt:lpstr>
      <vt:lpstr>General Info</vt:lpstr>
      <vt:lpstr>General Info</vt:lpstr>
      <vt:lpstr>General Info</vt:lpstr>
      <vt:lpstr>Intermission – Intermissions</vt:lpstr>
      <vt:lpstr>Intermission – Intermissions</vt:lpstr>
      <vt:lpstr>Intermission – Intermissions</vt:lpstr>
      <vt:lpstr>Intermission – Intermissions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RUSTikales Rust for beginners</dc:title>
  <dc:creator>Philippe Felix Haupt</dc:creator>
  <cp:lastModifiedBy>Philippe Felix Haupt</cp:lastModifiedBy>
  <cp:revision>8</cp:revision>
  <dcterms:created xsi:type="dcterms:W3CDTF">2024-04-21T12:29:38Z</dcterms:created>
  <dcterms:modified xsi:type="dcterms:W3CDTF">2025-10-21T17:15:54Z</dcterms:modified>
</cp:coreProperties>
</file>