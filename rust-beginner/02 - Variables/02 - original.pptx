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9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7" r:id="rId11"/>
    <p:sldId id="355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2" r:id="rId44"/>
    <p:sldId id="303" r:id="rId45"/>
    <p:sldId id="304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5" r:id="rId56"/>
    <p:sldId id="316" r:id="rId57"/>
    <p:sldId id="317" r:id="rId58"/>
    <p:sldId id="323" r:id="rId59"/>
    <p:sldId id="318" r:id="rId60"/>
    <p:sldId id="319" r:id="rId61"/>
    <p:sldId id="320" r:id="rId62"/>
    <p:sldId id="321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  <p:sldId id="336" r:id="rId76"/>
    <p:sldId id="337" r:id="rId77"/>
    <p:sldId id="338" r:id="rId78"/>
    <p:sldId id="339" r:id="rId79"/>
    <p:sldId id="340" r:id="rId80"/>
    <p:sldId id="341" r:id="rId81"/>
    <p:sldId id="342" r:id="rId82"/>
    <p:sldId id="343" r:id="rId83"/>
    <p:sldId id="344" r:id="rId84"/>
    <p:sldId id="345" r:id="rId85"/>
    <p:sldId id="346" r:id="rId86"/>
    <p:sldId id="347" r:id="rId87"/>
    <p:sldId id="349" r:id="rId88"/>
    <p:sldId id="348" r:id="rId89"/>
    <p:sldId id="350" r:id="rId90"/>
    <p:sldId id="351" r:id="rId91"/>
    <p:sldId id="352" r:id="rId92"/>
    <p:sldId id="353" r:id="rId93"/>
    <p:sldId id="354" r:id="rId9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BF00FF"/>
    <a:srgbClr val="DC00DC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42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EF282-A95B-40AE-853C-58C34264D18B}" type="datetimeFigureOut">
              <a:rPr lang="de-DE" smtClean="0"/>
              <a:t>21.10.2025</a:t>
            </a:fld>
            <a:endParaRPr lang="de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8251C8-549B-4DBC-88EE-451F11311E0B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782962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10000400" y="673"/>
            <a:ext cx="2191600" cy="21916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67"/>
          </a:p>
        </p:txBody>
      </p:sp>
      <p:grpSp>
        <p:nvGrpSpPr>
          <p:cNvPr id="11" name="Google Shape;11;p2"/>
          <p:cNvGrpSpPr/>
          <p:nvPr/>
        </p:nvGrpSpPr>
        <p:grpSpPr>
          <a:xfrm>
            <a:off x="1" y="654"/>
            <a:ext cx="6871607" cy="6845865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4716200" y="2104533"/>
            <a:ext cx="6690000" cy="21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5333"/>
            </a:lvl9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6778600" y="5233233"/>
            <a:ext cx="46276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85E02C-1D04-C434-4012-E91BF6D3D15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DDDBAF4-5993-4013-8206-68B6AE6C0E94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635C2A-909A-0981-65DD-B67627BD99A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33356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1098467" y="2737333"/>
            <a:ext cx="6116000" cy="1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0322E1-1580-77E1-1968-C1D465C642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1841E0B-2DBE-4DBD-BB99-3B2F008D0453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BEFDD5-75D2-F22A-0239-47782139EBE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91010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93852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F2C6A1-8DB4-CC61-9F25-552C981AC8B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ECAC185-C8C9-4DB8-912D-5CF042A71D39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570957-C740-2757-2171-2AB52CD73CD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00822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730000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6577628" y="2090067"/>
            <a:ext cx="4537600" cy="388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27596-14F9-142A-C6EE-E8288E24546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1CC20C92-8401-456F-A3C5-CFA4615D0C61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32A97D-91AA-8A52-C97E-9F3BDF95E66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9128460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9385200" cy="121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284FE6-DBA5-DB3C-A653-C0ED8520414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5895B02-2E27-441F-933D-1748416F074B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4B3D48-E7F2-DEE3-3035-24E59946D7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002982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730000" y="525000"/>
            <a:ext cx="5065200" cy="19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730000" y="2630067"/>
            <a:ext cx="5065200" cy="322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93DCDD-2FBE-84CF-1266-B4597B7005E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1DAC472-0208-4EBB-9DCF-E062E47D18AB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AEA6E3F-03B5-A012-AA3C-51E8681E661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47054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5875200" y="0"/>
            <a:ext cx="6316800" cy="68580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1098467" y="1155700"/>
            <a:ext cx="6116000" cy="469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F07798-DE50-15C8-656C-CA61E9C8313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8289240-026E-4825-B8CC-240AAE79FD98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C35FA4-1B4D-27D1-9652-2771001ADF2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325059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508002"/>
            <a:ext cx="1383800" cy="1355049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730000" y="2211100"/>
            <a:ext cx="4048400" cy="233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730000" y="4717333"/>
            <a:ext cx="4048400" cy="6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6197600" y="2262133"/>
            <a:ext cx="4902400" cy="31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56403A9-CB77-6F63-E8A2-1C909EE533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0F34F03-5F95-49EA-B14F-97D3425B1719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C16977-77CE-7C1B-80DA-950BC5B3F95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49103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1" y="5504763"/>
            <a:ext cx="931900" cy="912876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1083633" y="5740500"/>
            <a:ext cx="9248000" cy="6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609585" lvl="0" indent="-3047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6158AE-3BA6-5196-9F05-10AA6EB27DF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DC7031D-BA39-406A-A881-AFC471F7A483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D4A692-F0C9-AF1C-145C-A45885A71D0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16792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5875200" y="1"/>
            <a:ext cx="6316800" cy="6857420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67"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1098467" y="1712900"/>
            <a:ext cx="6368000" cy="17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10666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1098467" y="3524165"/>
            <a:ext cx="6368000" cy="162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436DB-340F-4646-13CF-32D4D213E6B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ACE0956-EBFF-44FB-B747-3637D6DDA9AC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FEA074-83FF-2A59-9E72-8DEB7C8D263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710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E60905-4AF1-4212-7A94-81502EEF8A5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E0F7B80-79DB-4B16-8A30-CD9CA642E93F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8B192D9-E47E-4BA2-F2BD-45C43EE73C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198681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333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fld id="{D2A5901E-C243-401B-B4FE-7878FCBD48ED}" type="slidenum">
              <a:rPr lang="de-DE" smtClean="0"/>
              <a:t>‹#›</a:t>
            </a:fld>
            <a:endParaRPr lang="de-DE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2DD238-3295-044E-F400-315BD30668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692495-19FF-4D19-82A1-0582E412D1FE}" type="datetime1">
              <a:rPr lang="de-DE" smtClean="0"/>
              <a:t>21.10.2025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B2F10F-A83E-3417-0420-ACEC0274A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56325744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ubber_duck_debugging" TargetMode="External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ubber_duck_debugging" TargetMode="External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Rubber_duck_debugging" TargetMode="External"/><Relationship Id="rId1" Type="http://schemas.openxmlformats.org/officeDocument/2006/relationships/slideLayout" Target="../slideLayouts/slideLayout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4980B-A2ED-E6BF-A8E8-BECC7CC5389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510955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966A4-D64B-1CCA-E340-EC9A1D74170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88EEFF6-A170-49CB-A01F-A182A4C42087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ACB5B-7F50-AD9A-7498-E36B4D57835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9732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7629" indent="-34290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6720B1-EAB2-6461-29A0-887DE098ECB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999E7FA-6C13-42FC-9249-CE93F3F3542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41DC1-A800-A23A-8893-F5AB907CF25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9313724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7629" indent="-342900">
              <a:buFont typeface="+mj-lt"/>
              <a:buAutoNum type="arabicPeriod"/>
            </a:pPr>
            <a:r>
              <a:rPr lang="de-DE" dirty="0"/>
              <a:t>Recap</a:t>
            </a:r>
          </a:p>
          <a:p>
            <a:pPr marL="537629" indent="-342900">
              <a:buFont typeface="+mj-lt"/>
              <a:buAutoNum type="arabicPeriod"/>
            </a:pPr>
            <a:r>
              <a:rPr lang="de-DE" dirty="0"/>
              <a:t>Basic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97366-7146-C521-1ABD-0ADB406BCA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8E522C0-22A9-4A67-9394-9CE4B2991D5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C2278-4C45-4A96-FBEA-9419D7E7B21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2901395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Plan for today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37629" indent="-342900">
              <a:buFont typeface="+mj-lt"/>
              <a:buAutoNum type="arabicPeriod"/>
            </a:pPr>
            <a:r>
              <a:rPr lang="de-DE" dirty="0"/>
              <a:t>Recap</a:t>
            </a:r>
          </a:p>
          <a:p>
            <a:pPr marL="537629" indent="-342900">
              <a:buFont typeface="+mj-lt"/>
              <a:buAutoNum type="arabicPeriod"/>
            </a:pPr>
            <a:r>
              <a:rPr lang="de-DE" dirty="0"/>
              <a:t>Basic Types</a:t>
            </a:r>
          </a:p>
          <a:p>
            <a:pPr marL="537629" indent="-342900">
              <a:buFont typeface="+mj-lt"/>
              <a:buAutoNum type="arabicPeriod"/>
            </a:pPr>
            <a:r>
              <a:rPr lang="de-DE" dirty="0"/>
              <a:t>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CA59B6-F10B-475A-84E5-7E789E8ED82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324B5436-A5B1-4655-87B8-3DFBBB76E4D9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F81AD-C608-7CFC-545D-3136A31B2A0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641461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94729" indent="0">
              <a:buNone/>
            </a:pPr>
            <a:endParaRPr lang="de-D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C7B258-F95C-066F-0F9C-4CF627C7090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4E2FF2C-1794-419A-B724-B043ADB00A9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D5B55C-4DF0-3658-2344-6FF3EC6BDF1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882317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Setup of tools required to start writing Rust code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Rust toolchain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IDE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/>
              <a:t>rust-analyzer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806051-EC7C-3DA3-AEE6-F10067AC4E1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79961F3-BA7E-4BF1-AAD5-A6CCAD169155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724862-11BE-C806-521E-0B3CA9831F0C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202839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Setup of tools required to start writing Rust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rustc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Rust Compiler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ym typeface="Wingdings" panose="05000000000000000000" pitchFamily="2" charset="2"/>
              </a:rPr>
              <a:t>The heart of the language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ym typeface="Wingdings" panose="05000000000000000000" pitchFamily="2" charset="2"/>
              </a:rPr>
              <a:t>Turns your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source code</a:t>
            </a:r>
            <a:r>
              <a:rPr lang="de-DE" dirty="0">
                <a:sym typeface="Wingdings" panose="05000000000000000000" pitchFamily="2" charset="2"/>
              </a:rPr>
              <a:t> (e.g.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main.rs</a:t>
            </a:r>
            <a:r>
              <a:rPr lang="de-DE" dirty="0">
                <a:sym typeface="Wingdings" panose="05000000000000000000" pitchFamily="2" charset="2"/>
              </a:rPr>
              <a:t>) into an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executable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2D20A6-E70A-5FBC-DE01-9B68CCC724D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DF66601-B675-4825-A98D-0B8950F1A623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F85DB-0E65-E83B-FD67-400560C6327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691602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Setup of tools required to start writing Rust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rustc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Rust Compiler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cargo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Package Manager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Manages</a:t>
            </a:r>
            <a:r>
              <a:rPr lang="de-DE" dirty="0">
                <a:solidFill>
                  <a:srgbClr val="00FF00"/>
                </a:solidFill>
              </a:rPr>
              <a:t> packages </a:t>
            </a:r>
            <a:r>
              <a:rPr lang="de-DE" dirty="0">
                <a:solidFill>
                  <a:schemeClr val="bg1"/>
                </a:solidFill>
              </a:rPr>
              <a:t>(crates), like third-party libraries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Many utility functions such as </a:t>
            </a:r>
            <a:r>
              <a:rPr lang="de-DE" dirty="0">
                <a:solidFill>
                  <a:srgbClr val="00FF00"/>
                </a:solidFill>
              </a:rPr>
              <a:t>cargo run</a:t>
            </a:r>
            <a:r>
              <a:rPr lang="de-DE" dirty="0">
                <a:solidFill>
                  <a:schemeClr val="bg1"/>
                </a:solidFill>
              </a:rPr>
              <a:t> or </a:t>
            </a:r>
            <a:r>
              <a:rPr lang="de-DE" dirty="0">
                <a:solidFill>
                  <a:srgbClr val="00FF00"/>
                </a:solidFill>
              </a:rPr>
              <a:t>cargo new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Overkill for 99% of the things we‘re doing, but extremely useful in general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0D0BF3-563D-866C-C63E-DC8938B94C0C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D57B0BE-8260-4AD1-B3BA-04D59E94D42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BA5925-64C9-2B1A-3025-966DD221CFD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8763203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Setup of tools required to start writing Rust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rustc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Rust Compiler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cargo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Package Manager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rustup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Toolchain Manager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Rust comes in different versions: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stable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beta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nightly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Allows us to update the version of the Compiler, or switch to different toolchains (e.g. for </a:t>
            </a:r>
            <a:r>
              <a:rPr lang="de-DE" dirty="0">
                <a:solidFill>
                  <a:srgbClr val="FFFF00"/>
                </a:solidFill>
              </a:rPr>
              <a:t>cross-compilation</a:t>
            </a:r>
            <a:r>
              <a:rPr lang="de-DE" dirty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41BBB-E205-4BF8-79FC-895D4DFEEB5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81022B4-8C6E-4D27-8D2C-5B0B0E7D4007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C8B42-B80C-C5B1-CE8D-2B63866913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2437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Setup of tools required to start writing Rust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rustc</a:t>
            </a:r>
            <a:r>
              <a:rPr lang="de-DE" dirty="0"/>
              <a:t> </a:t>
            </a:r>
            <a:r>
              <a:rPr lang="de-DE" dirty="0">
                <a:sym typeface="Wingdings" panose="05000000000000000000" pitchFamily="2" charset="2"/>
              </a:rPr>
              <a:t> Rust Compiler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cargo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Package Manager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rustup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Toolchain Manager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cargo new &lt;name&gt;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creates a new package in the directory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&lt;name&gt;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Unless specified otherwise, it‘s a </a:t>
            </a:r>
            <a:r>
              <a:rPr lang="de-DE" dirty="0">
                <a:solidFill>
                  <a:srgbClr val="00FF00"/>
                </a:solidFill>
              </a:rPr>
              <a:t>binary (application) package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Executable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We can then open that directory in an IDE and start programming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41BBB-E205-4BF8-79FC-895D4DFEEB5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81022B4-8C6E-4D27-8D2C-5B0B0E7D4007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C8B42-B80C-C5B1-CE8D-2B63866913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755325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1ABECA7-5ED6-DFF1-4230-8E96D7D5A8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272908"/>
            <a:ext cx="2999100" cy="5040423"/>
          </a:xfrm>
          <a:prstGeom prst="rect">
            <a:avLst/>
          </a:prstGeom>
        </p:spPr>
      </p:pic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E8B00D-E3EE-2CC9-FB12-E86971C0B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9803" y="1272908"/>
            <a:ext cx="6545815" cy="1575025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new example</a:t>
            </a:r>
            <a:r>
              <a:rPr lang="de-DE" dirty="0"/>
              <a:t> creates this folder structure</a:t>
            </a:r>
            <a:endParaRPr lang="de-DE" dirty="0">
              <a:solidFill>
                <a:srgbClr val="00FF00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002373-CEEF-54CA-5227-7E89981C413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A4FE0BFF-C197-458E-A632-186D5355030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6042C0-4AD1-F154-3FA9-D0D35EB9155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3617374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54F574A-26F9-095E-E605-2AF720DAA8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272908"/>
            <a:ext cx="2999100" cy="5040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E8B00D-E3EE-2CC9-FB12-E86971C0B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9803" y="1272908"/>
            <a:ext cx="6545815" cy="1575025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new example</a:t>
            </a:r>
            <a:r>
              <a:rPr lang="de-DE" dirty="0"/>
              <a:t> creates this folder structure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We will spend most of our time in here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main.rs</a:t>
            </a:r>
            <a:r>
              <a:rPr lang="de-DE" dirty="0">
                <a:solidFill>
                  <a:schemeClr val="bg1"/>
                </a:solidFill>
              </a:rPr>
              <a:t> is where we write code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F0C87-A4EF-B7D3-D77F-611E14D7970A}"/>
              </a:ext>
            </a:extLst>
          </p:cNvPr>
          <p:cNvSpPr/>
          <p:nvPr/>
        </p:nvSpPr>
        <p:spPr>
          <a:xfrm>
            <a:off x="1729998" y="1627390"/>
            <a:ext cx="2999100" cy="51963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E4D92-F9DE-E7C3-C4B8-78A8F3FBFAF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01D0455-141B-4312-99B9-AD5A1BBEE14E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484BBF-860B-1F80-1C8D-41C219DD7F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4245827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C6C7873-2135-5925-8BCF-6AB126886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272908"/>
            <a:ext cx="2999100" cy="5040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E8B00D-E3EE-2CC9-FB12-E86971C0B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9803" y="1272908"/>
            <a:ext cx="6545815" cy="1575025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new example</a:t>
            </a:r>
            <a:r>
              <a:rPr lang="de-DE" dirty="0"/>
              <a:t> creates this folder structure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main.rs</a:t>
            </a:r>
            <a:r>
              <a:rPr lang="de-DE" dirty="0">
                <a:solidFill>
                  <a:schemeClr val="bg1"/>
                </a:solidFill>
              </a:rPr>
              <a:t> is where we write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We can ignore </a:t>
            </a:r>
            <a:r>
              <a:rPr lang="de-DE" dirty="0">
                <a:solidFill>
                  <a:srgbClr val="FFFF00"/>
                </a:solidFill>
              </a:rPr>
              <a:t>Cargo.lock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Cargo.toml</a:t>
            </a:r>
            <a:r>
              <a:rPr lang="de-DE" dirty="0">
                <a:solidFill>
                  <a:schemeClr val="bg1"/>
                </a:solidFill>
              </a:rPr>
              <a:t> for now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Needed for package dependencies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F0C87-A4EF-B7D3-D77F-611E14D7970A}"/>
              </a:ext>
            </a:extLst>
          </p:cNvPr>
          <p:cNvSpPr/>
          <p:nvPr/>
        </p:nvSpPr>
        <p:spPr>
          <a:xfrm>
            <a:off x="1729999" y="5740176"/>
            <a:ext cx="2999100" cy="5181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067A91-D19F-9C1C-AE98-A609527AB3F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AD9A224-DC06-40F0-A7AA-1B6895E3B7B8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33B60-95D9-FE6B-C18F-46419E85B2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6473213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BD7A87D-AB53-5188-869E-BA608BF2DA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272908"/>
            <a:ext cx="2999100" cy="5040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E8B00D-E3EE-2CC9-FB12-E86971C0B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9803" y="1272908"/>
            <a:ext cx="6545815" cy="1575025"/>
          </a:xfrm>
        </p:spPr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new example</a:t>
            </a:r>
            <a:r>
              <a:rPr lang="de-DE" dirty="0"/>
              <a:t> creates this folder structure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main.rs</a:t>
            </a:r>
            <a:r>
              <a:rPr lang="de-DE" dirty="0">
                <a:solidFill>
                  <a:schemeClr val="bg1"/>
                </a:solidFill>
              </a:rPr>
              <a:t> is where we write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We can ignore </a:t>
            </a:r>
            <a:r>
              <a:rPr lang="de-DE" dirty="0">
                <a:solidFill>
                  <a:srgbClr val="FFFF00"/>
                </a:solidFill>
              </a:rPr>
              <a:t>Cargo.lock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Cargo.toml</a:t>
            </a:r>
            <a:r>
              <a:rPr lang="de-DE" dirty="0">
                <a:solidFill>
                  <a:schemeClr val="bg1"/>
                </a:solidFill>
              </a:rPr>
              <a:t> for now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cargo</a:t>
            </a:r>
            <a:r>
              <a:rPr lang="de-DE" dirty="0">
                <a:solidFill>
                  <a:schemeClr val="bg1"/>
                </a:solidFill>
              </a:rPr>
              <a:t> moves the output to the </a:t>
            </a:r>
            <a:r>
              <a:rPr lang="de-DE" dirty="0">
                <a:solidFill>
                  <a:srgbClr val="FFFF00"/>
                </a:solidFill>
              </a:rPr>
              <a:t>target</a:t>
            </a:r>
            <a:r>
              <a:rPr lang="de-DE" dirty="0">
                <a:solidFill>
                  <a:schemeClr val="bg1"/>
                </a:solidFill>
              </a:rPr>
              <a:t> directory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F0C87-A4EF-B7D3-D77F-611E14D7970A}"/>
              </a:ext>
            </a:extLst>
          </p:cNvPr>
          <p:cNvSpPr/>
          <p:nvPr/>
        </p:nvSpPr>
        <p:spPr>
          <a:xfrm>
            <a:off x="1729998" y="2175225"/>
            <a:ext cx="2999100" cy="353675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D395C5-DAFE-FD62-8FB3-C1D33C4B7F9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19B2DF9-C522-420A-967B-434E7D2A5B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724D7B-CD84-C969-8F41-C631D1555F2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3085031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E6E613-783F-10B5-9084-14D84B574D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272908"/>
            <a:ext cx="2999100" cy="5040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E8B00D-E3EE-2CC9-FB12-E86971C0B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9803" y="1272908"/>
            <a:ext cx="6545815" cy="5209671"/>
          </a:xfrm>
        </p:spPr>
        <p:txBody>
          <a:bodyPr>
            <a:norm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new example</a:t>
            </a:r>
            <a:r>
              <a:rPr lang="de-DE" dirty="0"/>
              <a:t> creates this folder structure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main.rs</a:t>
            </a:r>
            <a:r>
              <a:rPr lang="de-DE" dirty="0">
                <a:solidFill>
                  <a:schemeClr val="bg1"/>
                </a:solidFill>
              </a:rPr>
              <a:t> is where we write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We can ignore </a:t>
            </a:r>
            <a:r>
              <a:rPr lang="de-DE" dirty="0">
                <a:solidFill>
                  <a:srgbClr val="FFFF00"/>
                </a:solidFill>
              </a:rPr>
              <a:t>Cargo.lock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Cargo.toml</a:t>
            </a:r>
            <a:r>
              <a:rPr lang="de-DE" dirty="0">
                <a:solidFill>
                  <a:schemeClr val="bg1"/>
                </a:solidFill>
              </a:rPr>
              <a:t> for now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cargo</a:t>
            </a:r>
            <a:r>
              <a:rPr lang="de-DE" dirty="0">
                <a:solidFill>
                  <a:schemeClr val="bg1"/>
                </a:solidFill>
              </a:rPr>
              <a:t> moves the output to the </a:t>
            </a:r>
            <a:r>
              <a:rPr lang="de-DE" dirty="0">
                <a:solidFill>
                  <a:srgbClr val="FFFF00"/>
                </a:solidFill>
              </a:rPr>
              <a:t>target</a:t>
            </a:r>
            <a:r>
              <a:rPr lang="de-DE" dirty="0">
                <a:solidFill>
                  <a:schemeClr val="bg1"/>
                </a:solidFill>
              </a:rPr>
              <a:t> directory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build</a:t>
            </a:r>
            <a:r>
              <a:rPr lang="de-DE" dirty="0">
                <a:solidFill>
                  <a:schemeClr val="bg1"/>
                </a:solidFill>
              </a:rPr>
              <a:t> creates a </a:t>
            </a:r>
            <a:r>
              <a:rPr lang="de-DE" dirty="0">
                <a:solidFill>
                  <a:srgbClr val="FFFF00"/>
                </a:solidFill>
              </a:rPr>
              <a:t>debug</a:t>
            </a:r>
            <a:r>
              <a:rPr lang="de-DE" dirty="0">
                <a:solidFill>
                  <a:schemeClr val="bg1"/>
                </a:solidFill>
              </a:rPr>
              <a:t> build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build --release</a:t>
            </a:r>
            <a:r>
              <a:rPr lang="de-DE" dirty="0">
                <a:solidFill>
                  <a:schemeClr val="bg1"/>
                </a:solidFill>
              </a:rPr>
              <a:t> creates a </a:t>
            </a:r>
            <a:r>
              <a:rPr lang="de-DE" dirty="0">
                <a:solidFill>
                  <a:srgbClr val="FFFF00"/>
                </a:solidFill>
              </a:rPr>
              <a:t>release</a:t>
            </a:r>
            <a:r>
              <a:rPr lang="de-DE" dirty="0">
                <a:solidFill>
                  <a:schemeClr val="bg1"/>
                </a:solidFill>
              </a:rPr>
              <a:t> build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all optimizations enabled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F0C87-A4EF-B7D3-D77F-611E14D7970A}"/>
              </a:ext>
            </a:extLst>
          </p:cNvPr>
          <p:cNvSpPr/>
          <p:nvPr/>
        </p:nvSpPr>
        <p:spPr>
          <a:xfrm>
            <a:off x="1730000" y="2400803"/>
            <a:ext cx="2999100" cy="29002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4551CB-1220-8B41-3D9E-8401EDB9C990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6AE541D-87BE-4AC2-B54F-45F95B896449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06275-3E05-A78E-2CFF-9D409FF389ED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0772940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2B8DBCB-17D2-C547-3A99-58BA17073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272908"/>
            <a:ext cx="2999100" cy="50404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E8B00D-E3EE-2CC9-FB12-E86971C0B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9803" y="1272908"/>
            <a:ext cx="6545815" cy="5209671"/>
          </a:xfrm>
        </p:spPr>
        <p:txBody>
          <a:bodyPr>
            <a:norm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new example</a:t>
            </a:r>
            <a:r>
              <a:rPr lang="de-DE" dirty="0"/>
              <a:t> creates this folder structure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main.rs</a:t>
            </a:r>
            <a:r>
              <a:rPr lang="de-DE" dirty="0">
                <a:solidFill>
                  <a:schemeClr val="bg1"/>
                </a:solidFill>
              </a:rPr>
              <a:t> is where we write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We can ignore </a:t>
            </a:r>
            <a:r>
              <a:rPr lang="de-DE" dirty="0">
                <a:solidFill>
                  <a:srgbClr val="FFFF00"/>
                </a:solidFill>
              </a:rPr>
              <a:t>Cargo.lock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Cargo.toml</a:t>
            </a:r>
            <a:r>
              <a:rPr lang="de-DE" dirty="0">
                <a:solidFill>
                  <a:schemeClr val="bg1"/>
                </a:solidFill>
              </a:rPr>
              <a:t> for now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cargo</a:t>
            </a:r>
            <a:r>
              <a:rPr lang="de-DE" dirty="0">
                <a:solidFill>
                  <a:schemeClr val="bg1"/>
                </a:solidFill>
              </a:rPr>
              <a:t> moves the output to the </a:t>
            </a:r>
            <a:r>
              <a:rPr lang="de-DE" dirty="0">
                <a:solidFill>
                  <a:srgbClr val="FFFF00"/>
                </a:solidFill>
              </a:rPr>
              <a:t>target</a:t>
            </a:r>
            <a:r>
              <a:rPr lang="de-DE" dirty="0">
                <a:solidFill>
                  <a:schemeClr val="bg1"/>
                </a:solidFill>
              </a:rPr>
              <a:t> directory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build</a:t>
            </a:r>
            <a:r>
              <a:rPr lang="de-DE" dirty="0">
                <a:solidFill>
                  <a:schemeClr val="bg1"/>
                </a:solidFill>
              </a:rPr>
              <a:t> creates a </a:t>
            </a:r>
            <a:r>
              <a:rPr lang="de-DE" dirty="0">
                <a:solidFill>
                  <a:srgbClr val="FFFF00"/>
                </a:solidFill>
              </a:rPr>
              <a:t>debug</a:t>
            </a:r>
            <a:r>
              <a:rPr lang="de-DE" dirty="0">
                <a:solidFill>
                  <a:schemeClr val="bg1"/>
                </a:solidFill>
              </a:rPr>
              <a:t> build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build --release</a:t>
            </a:r>
            <a:r>
              <a:rPr lang="de-DE" dirty="0">
                <a:solidFill>
                  <a:schemeClr val="bg1"/>
                </a:solidFill>
              </a:rPr>
              <a:t> creates a </a:t>
            </a:r>
            <a:r>
              <a:rPr lang="de-DE" dirty="0">
                <a:solidFill>
                  <a:srgbClr val="FFFF00"/>
                </a:solidFill>
              </a:rPr>
              <a:t>release</a:t>
            </a:r>
            <a:r>
              <a:rPr lang="de-DE" dirty="0">
                <a:solidFill>
                  <a:schemeClr val="bg1"/>
                </a:solidFill>
              </a:rPr>
              <a:t> build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can find the executable here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2F0C87-A4EF-B7D3-D77F-611E14D7970A}"/>
              </a:ext>
            </a:extLst>
          </p:cNvPr>
          <p:cNvSpPr/>
          <p:nvPr/>
        </p:nvSpPr>
        <p:spPr>
          <a:xfrm>
            <a:off x="1730000" y="4608253"/>
            <a:ext cx="2999100" cy="2940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73684-667A-73F3-36A5-829D53516B2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F97CBD1A-3DCE-4096-BAB6-C3027B08AFF5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86D136-60B8-6F53-5A5B-B64B6F34108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7337947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Recap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7E8B00D-E3EE-2CC9-FB12-E86971C0B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9803" y="1272908"/>
            <a:ext cx="6545815" cy="5209671"/>
          </a:xfrm>
        </p:spPr>
        <p:txBody>
          <a:bodyPr>
            <a:normAutofit/>
          </a:bodyPr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new example</a:t>
            </a:r>
            <a:r>
              <a:rPr lang="de-DE" dirty="0"/>
              <a:t> creates this folder structure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main.rs</a:t>
            </a:r>
            <a:r>
              <a:rPr lang="de-DE" dirty="0">
                <a:solidFill>
                  <a:schemeClr val="bg1"/>
                </a:solidFill>
              </a:rPr>
              <a:t> is where we write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We can ignore </a:t>
            </a:r>
            <a:r>
              <a:rPr lang="de-DE" dirty="0">
                <a:solidFill>
                  <a:srgbClr val="FFFF00"/>
                </a:solidFill>
              </a:rPr>
              <a:t>Cargo.lock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Cargo.toml</a:t>
            </a:r>
            <a:r>
              <a:rPr lang="de-DE" dirty="0">
                <a:solidFill>
                  <a:schemeClr val="bg1"/>
                </a:solidFill>
              </a:rPr>
              <a:t> for now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</a:rPr>
              <a:t>cargo</a:t>
            </a:r>
            <a:r>
              <a:rPr lang="de-DE" dirty="0">
                <a:solidFill>
                  <a:schemeClr val="bg1"/>
                </a:solidFill>
              </a:rPr>
              <a:t> moves the output to the </a:t>
            </a:r>
            <a:r>
              <a:rPr lang="de-DE" dirty="0">
                <a:solidFill>
                  <a:srgbClr val="FFFF00"/>
                </a:solidFill>
              </a:rPr>
              <a:t>target</a:t>
            </a:r>
            <a:r>
              <a:rPr lang="de-DE" dirty="0">
                <a:solidFill>
                  <a:schemeClr val="bg1"/>
                </a:solidFill>
              </a:rPr>
              <a:t> directory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build</a:t>
            </a:r>
            <a:r>
              <a:rPr lang="de-DE" dirty="0">
                <a:solidFill>
                  <a:schemeClr val="bg1"/>
                </a:solidFill>
              </a:rPr>
              <a:t> creates a </a:t>
            </a:r>
            <a:r>
              <a:rPr lang="de-DE" dirty="0">
                <a:solidFill>
                  <a:srgbClr val="FFFF00"/>
                </a:solidFill>
              </a:rPr>
              <a:t>debug</a:t>
            </a:r>
            <a:r>
              <a:rPr lang="de-DE" dirty="0">
                <a:solidFill>
                  <a:schemeClr val="bg1"/>
                </a:solidFill>
              </a:rPr>
              <a:t> build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build --release</a:t>
            </a:r>
            <a:r>
              <a:rPr lang="de-DE" dirty="0">
                <a:solidFill>
                  <a:schemeClr val="bg1"/>
                </a:solidFill>
              </a:rPr>
              <a:t> creates a </a:t>
            </a:r>
            <a:r>
              <a:rPr lang="de-DE" dirty="0">
                <a:solidFill>
                  <a:srgbClr val="FFFF00"/>
                </a:solidFill>
              </a:rPr>
              <a:t>release</a:t>
            </a:r>
            <a:r>
              <a:rPr lang="de-DE" dirty="0">
                <a:solidFill>
                  <a:schemeClr val="bg1"/>
                </a:solidFill>
              </a:rPr>
              <a:t> build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cargo run [--release] </a:t>
            </a:r>
            <a:r>
              <a:rPr lang="de-DE" dirty="0">
                <a:solidFill>
                  <a:schemeClr val="bg1"/>
                </a:solidFill>
              </a:rPr>
              <a:t>builds the project and runs it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ECB5C7-0377-F31A-B857-12C5B756D314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8A6DB93-E449-422A-B540-2AE88F998A4E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736444-D0FD-4899-6540-B6A9741FF23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BBEDBE-EC6B-4515-25B0-4DA763569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1272908"/>
            <a:ext cx="2999100" cy="504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87533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99682-1698-0BAC-AABC-8F171E995E1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D7F1BEA8-4957-4A04-BD3D-CB24E43F2D9D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BB0A4C-9C0B-BA3F-7DE2-408BCD4ABDC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74612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is a statically typed language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Every variable and every value has exactly one type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Type must be known at compile time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You can‘t change that type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B2F279-5BB7-2268-426A-F6CA6B835071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D72A7D9-F848-4466-9CA5-58F0E384F518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217A1-B22C-466A-B0B6-AC395DC342F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9549546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is a statically typed language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compiler statically type checks your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457E4-51C9-264E-1E53-7C15397209F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B5A07C56-F983-48E5-99BD-4F6A9C2BD60C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04792-619F-8237-BEFA-6AA5B9CC1A09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826803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is a statically typed language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compiler statically type checks your code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Finds type errors such as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Assigning an </a:t>
            </a:r>
            <a:r>
              <a:rPr lang="de-DE" dirty="0">
                <a:solidFill>
                  <a:srgbClr val="00FF00"/>
                </a:solidFill>
              </a:rPr>
              <a:t>i32</a:t>
            </a:r>
            <a:r>
              <a:rPr lang="de-DE" dirty="0">
                <a:solidFill>
                  <a:schemeClr val="bg1"/>
                </a:solidFill>
              </a:rPr>
              <a:t> to an </a:t>
            </a:r>
            <a:r>
              <a:rPr lang="de-DE" dirty="0">
                <a:solidFill>
                  <a:srgbClr val="00FF00"/>
                </a:solidFill>
              </a:rPr>
              <a:t>u64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DDBB8F-7971-A364-7E51-E38B5AEA9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8247" y="4789522"/>
            <a:ext cx="3567797" cy="11821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A75F638-5B2A-8948-79C8-B36192F48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4286" y="4334338"/>
            <a:ext cx="5599942" cy="163733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57241A8-CF35-13C3-F2A9-AD0AC17F4AA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15B0D44-7132-41CC-820F-E2CADFA6FDE7}" type="datetime1">
              <a:rPr lang="de-DE" smtClean="0"/>
              <a:t>21.10.2025</a:t>
            </a:fld>
            <a:endParaRPr lang="de-DE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F490064-16A8-97BE-5A71-2F672D1BA4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2611703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is a statically typed language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compiler statically type checks your code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Finds type errors such as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Assigning an </a:t>
            </a:r>
            <a:r>
              <a:rPr lang="de-DE" dirty="0">
                <a:solidFill>
                  <a:srgbClr val="00FF00"/>
                </a:solidFill>
              </a:rPr>
              <a:t>i32</a:t>
            </a:r>
            <a:r>
              <a:rPr lang="de-DE" dirty="0">
                <a:solidFill>
                  <a:schemeClr val="bg1"/>
                </a:solidFill>
              </a:rPr>
              <a:t> to an </a:t>
            </a:r>
            <a:r>
              <a:rPr lang="de-DE" dirty="0">
                <a:solidFill>
                  <a:srgbClr val="00FF00"/>
                </a:solidFill>
              </a:rPr>
              <a:t>u64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Passing an </a:t>
            </a:r>
            <a:r>
              <a:rPr lang="de-DE" dirty="0">
                <a:solidFill>
                  <a:srgbClr val="00FF00"/>
                </a:solidFill>
              </a:rPr>
              <a:t>i32</a:t>
            </a:r>
            <a:r>
              <a:rPr lang="de-DE" dirty="0">
                <a:solidFill>
                  <a:schemeClr val="bg1"/>
                </a:solidFill>
              </a:rPr>
              <a:t> where a </a:t>
            </a:r>
            <a:r>
              <a:rPr lang="de-DE" dirty="0">
                <a:solidFill>
                  <a:srgbClr val="00FF00"/>
                </a:solidFill>
              </a:rPr>
              <a:t>u32</a:t>
            </a:r>
            <a:r>
              <a:rPr lang="de-DE" dirty="0">
                <a:solidFill>
                  <a:schemeClr val="bg1"/>
                </a:solidFill>
              </a:rPr>
              <a:t> was expected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8C0889-C352-80EB-5448-DB52C74EC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3828243"/>
            <a:ext cx="2900767" cy="214342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B0B9FAE-6D50-C806-669C-7697A00237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0767" y="3986334"/>
            <a:ext cx="3724863" cy="1985333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09FD323-8F3C-0DC7-2BEE-A6336F3D3172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9FDB698E-5C26-416C-A83E-62CA39F5ACC2}" type="datetime1">
              <a:rPr lang="de-DE" smtClean="0"/>
              <a:t>21.10.2025</a:t>
            </a:fld>
            <a:endParaRPr lang="de-D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E709D54A-02CC-E1DD-C3AF-91EFAA87BD3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804706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is a statically typed language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compiler statically type checks your code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Finds type errors such as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Assigning an </a:t>
            </a:r>
            <a:r>
              <a:rPr lang="de-DE" dirty="0">
                <a:solidFill>
                  <a:srgbClr val="00FF00"/>
                </a:solidFill>
              </a:rPr>
              <a:t>i32</a:t>
            </a:r>
            <a:r>
              <a:rPr lang="de-DE" dirty="0">
                <a:solidFill>
                  <a:schemeClr val="bg1"/>
                </a:solidFill>
              </a:rPr>
              <a:t> to an </a:t>
            </a:r>
            <a:r>
              <a:rPr lang="de-DE" dirty="0">
                <a:solidFill>
                  <a:srgbClr val="00FF00"/>
                </a:solidFill>
              </a:rPr>
              <a:t>u64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Passing an </a:t>
            </a:r>
            <a:r>
              <a:rPr lang="de-DE" dirty="0">
                <a:solidFill>
                  <a:srgbClr val="00FF00"/>
                </a:solidFill>
              </a:rPr>
              <a:t>i32</a:t>
            </a:r>
            <a:r>
              <a:rPr lang="de-DE" dirty="0">
                <a:solidFill>
                  <a:schemeClr val="bg1"/>
                </a:solidFill>
              </a:rPr>
              <a:t> where a </a:t>
            </a:r>
            <a:r>
              <a:rPr lang="de-DE" dirty="0">
                <a:solidFill>
                  <a:srgbClr val="00FF00"/>
                </a:solidFill>
              </a:rPr>
              <a:t>u32</a:t>
            </a:r>
            <a:r>
              <a:rPr lang="de-DE" dirty="0">
                <a:solidFill>
                  <a:schemeClr val="bg1"/>
                </a:solidFill>
              </a:rPr>
              <a:t> was expected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Inserting an </a:t>
            </a:r>
            <a:r>
              <a:rPr lang="de-DE" dirty="0">
                <a:solidFill>
                  <a:srgbClr val="00FF00"/>
                </a:solidFill>
              </a:rPr>
              <a:t>u8</a:t>
            </a:r>
            <a:r>
              <a:rPr lang="de-DE" dirty="0">
                <a:solidFill>
                  <a:schemeClr val="bg1"/>
                </a:solidFill>
              </a:rPr>
              <a:t> into an </a:t>
            </a:r>
            <a:r>
              <a:rPr lang="de-DE" dirty="0">
                <a:solidFill>
                  <a:srgbClr val="00FF00"/>
                </a:solidFill>
              </a:rPr>
              <a:t>array of f32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25328-1066-C3A7-01F5-1468632EBD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5123863"/>
            <a:ext cx="4902300" cy="84780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10FAE6F-E8BE-864B-5AF8-A1E6155256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2300" y="4357138"/>
            <a:ext cx="5181050" cy="1614529"/>
          </a:xfrm>
          <a:prstGeom prst="rect">
            <a:avLst/>
          </a:prstGeom>
        </p:spPr>
      </p:pic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ADC96363-CF70-833B-5D78-B76D041DC75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B831B7F-2D95-429D-8136-225A12F004BB}" type="datetime1">
              <a:rPr lang="de-DE" smtClean="0"/>
              <a:t>21.10.2025</a:t>
            </a:fld>
            <a:endParaRPr lang="de-DE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4C8E49-F4B7-D792-B28C-B3770D3DCDC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631714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is a statically typed language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The compiler statically type checks your code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Very useful, because we can easily reason about our code, and prevent many bugs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Types are always known, and not changeable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Contrast to variables in dynamic languages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Assign any value to any variable at any point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Hope it doesn‘t crash at runtime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56BC56-78C9-69AC-19F0-2299D35D0E8E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699678A-8121-40B6-A2F5-B1FEE92FBE7C}" type="datetime1">
              <a:rPr lang="de-DE" smtClean="0"/>
              <a:t>21.10.2025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0657CF-8FC1-0CD8-D9E4-B719FE4F646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0061223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77E121-B5A9-6160-2AAE-83256B9BA3A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D5683B0-64A3-461B-878A-E0BF0620368F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3A922D-5624-2E29-0877-D313374C238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3068602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Scalar</a:t>
            </a:r>
            <a:r>
              <a:rPr lang="de-DE" dirty="0">
                <a:solidFill>
                  <a:schemeClr val="bg1"/>
                </a:solidFill>
              </a:rPr>
              <a:t> types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Represent single values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8ED523-91CF-6507-0EDA-906FA7170913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B3171BB-B4ED-4F67-B03B-9E7B0A9318BB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3623A-6806-5415-545D-3F663C09773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322212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Scalar</a:t>
            </a:r>
            <a:r>
              <a:rPr lang="de-DE" dirty="0">
                <a:solidFill>
                  <a:schemeClr val="bg1"/>
                </a:solidFill>
              </a:rPr>
              <a:t> types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Represent single values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Integer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whole numbers,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or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unsigned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Floating Point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fractions, big numbers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boolean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either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true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or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false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character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Unicode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abcäøóáßð😊😍</a:t>
            </a:r>
            <a:endParaRPr lang="de-DE" dirty="0">
              <a:solidFill>
                <a:srgbClr val="FF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BFAB60-AD80-BC65-52D8-64B2F75E2D5F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5B027E3-CF61-4D3A-BCFB-2985202B1731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098F0-4D84-C2BF-9EA4-6AA53DD3121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265648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Scalar</a:t>
            </a:r>
            <a:r>
              <a:rPr lang="de-DE" dirty="0">
                <a:solidFill>
                  <a:schemeClr val="bg1"/>
                </a:solidFill>
              </a:rPr>
              <a:t> types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Represent single values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Composite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types  Combinations of types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702CF-1E1D-E086-AEA2-C8FBF1DDF7A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5CBBDB0D-F61D-42FF-AE37-382937E5D271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23196E-FA50-EB6E-C6AE-BEED77902E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46519853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</a:rPr>
              <a:t>Scalar</a:t>
            </a:r>
            <a:r>
              <a:rPr lang="de-DE" dirty="0">
                <a:solidFill>
                  <a:schemeClr val="bg1"/>
                </a:solidFill>
              </a:rPr>
              <a:t> types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Represent single values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Composite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 types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Combinations of types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array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Fixed length collection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of values of the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same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type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tuple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Fixed length collection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of values of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(possibly) different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types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struct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User-defined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collections 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of values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>
                <a:solidFill>
                  <a:srgbClr val="00FF00"/>
                </a:solidFill>
                <a:sym typeface="Wingdings" panose="05000000000000000000" pitchFamily="2" charset="2"/>
              </a:rPr>
              <a:t>enum</a:t>
            </a:r>
            <a:r>
              <a:rPr lang="de-DE">
                <a:solidFill>
                  <a:schemeClr val="bg1"/>
                </a:solidFill>
                <a:sym typeface="Wingdings" panose="05000000000000000000" pitchFamily="2" charset="2"/>
              </a:rPr>
              <a:t>  Value that </a:t>
            </a:r>
            <a:r>
              <a:rPr lang="de-DE">
                <a:solidFill>
                  <a:srgbClr val="FFFF00"/>
                </a:solidFill>
                <a:sym typeface="Wingdings" panose="05000000000000000000" pitchFamily="2" charset="2"/>
              </a:rPr>
              <a:t>can be one of several, but fixed types</a:t>
            </a:r>
            <a:endParaRPr lang="de-DE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0559151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Today we will only look at integers, other types will be introduced later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471646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Rust has clear names for integer types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6947484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Rust has clear names for integer types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Letter indicates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or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unsigned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Number indicates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size in bits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7353698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Rust has clear names for integer types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Letter indicates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or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unsigned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Number indicates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size in bits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u8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is an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unsigned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8bit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integer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i32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is 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32bit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integer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u16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is an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unsigned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16bit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integer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756934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Rust has clear names for integer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 bitsize shows how big a number can be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More bits, bigger numbers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32bits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can store numbers as big as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2^32-1 = 4.294.967.295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Bigger numbers require more space in memory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64165044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Rust has clear names for integer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 bitsize shows how big a number can be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means the number can be negative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one bit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needed to specify the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sign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so the number range is smaller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i32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can </a:t>
            </a:r>
            <a:r>
              <a:rPr lang="de-DE" dirty="0">
                <a:solidFill>
                  <a:srgbClr val="FF0000"/>
                </a:solidFill>
                <a:sym typeface="Wingdings" panose="05000000000000000000" pitchFamily="2" charset="2"/>
              </a:rPr>
              <a:t>not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represent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4.294.967.295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i32 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can represent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-420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9801361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has many different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Rust has clear names for integer types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 bitsize shows how big a number can be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signed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means the number can be negative</a:t>
            </a:r>
            <a:endParaRPr lang="de-DE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E220A4F-ED16-E336-F19F-D1B578026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544079"/>
              </p:ext>
            </p:extLst>
          </p:nvPr>
        </p:nvGraphicFramePr>
        <p:xfrm>
          <a:off x="2032000" y="3225202"/>
          <a:ext cx="8128000" cy="187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310349362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1918788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124555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67688053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Meaning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Min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Max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8980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signed 8bit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-(2^7) = -128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2^7-1 = 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9629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u8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unsigned 8bit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2^8-1 = 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083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i16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signed 16bit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-(2^15) = -32768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2^15-1 = 32767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89286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dirty="0"/>
                        <a:t>u16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unsigned 16bit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2^16-1 = 65535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714436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82753E7-457C-DF5B-FE59-2BBE175590EC}"/>
              </a:ext>
            </a:extLst>
          </p:cNvPr>
          <p:cNvSpPr txBox="1"/>
          <p:nvPr/>
        </p:nvSpPr>
        <p:spPr>
          <a:xfrm>
            <a:off x="2032000" y="5105122"/>
            <a:ext cx="64972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The pattern repeats up to </a:t>
            </a:r>
            <a:r>
              <a:rPr lang="de-DE" dirty="0">
                <a:solidFill>
                  <a:srgbClr val="FFFF00"/>
                </a:solidFill>
              </a:rPr>
              <a:t>i128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u128</a:t>
            </a:r>
            <a:r>
              <a:rPr lang="de-DE" dirty="0">
                <a:solidFill>
                  <a:schemeClr val="bg1"/>
                </a:solidFill>
              </a:rPr>
              <a:t>, doubling the amount of bits every time</a:t>
            </a:r>
          </a:p>
        </p:txBody>
      </p:sp>
    </p:spTree>
    <p:extLst>
      <p:ext uri="{BB962C8B-B14F-4D97-AF65-F5344CB8AC3E}">
        <p14:creationId xmlns:p14="http://schemas.microsoft.com/office/powerpoint/2010/main" val="25146550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also has types </a:t>
            </a:r>
            <a:r>
              <a:rPr lang="de-DE" dirty="0">
                <a:solidFill>
                  <a:srgbClr val="00FF00"/>
                </a:solidFill>
              </a:rPr>
              <a:t>isize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00FF00"/>
                </a:solidFill>
              </a:rPr>
              <a:t>usize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Target machine dependent size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64bit machine  64bit wide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32bit machine  32bit wide</a:t>
            </a:r>
            <a:endParaRPr lang="de-DE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42411302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also has types </a:t>
            </a:r>
            <a:r>
              <a:rPr lang="de-DE" dirty="0">
                <a:solidFill>
                  <a:srgbClr val="00FF00"/>
                </a:solidFill>
              </a:rPr>
              <a:t>isize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00FF00"/>
                </a:solidFill>
              </a:rPr>
              <a:t>usize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Target machine dependent size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64bit machine  64bit wide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32bit machine  32bit wide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Does anyone know why? </a:t>
            </a:r>
            <a:endParaRPr lang="de-DE" dirty="0">
              <a:solidFill>
                <a:srgbClr val="FFFF00"/>
              </a:solidFill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583B31-D52B-BC04-7053-A464ACE41181}"/>
              </a:ext>
            </a:extLst>
          </p:cNvPr>
          <p:cNvSpPr/>
          <p:nvPr/>
        </p:nvSpPr>
        <p:spPr>
          <a:xfrm>
            <a:off x="4660618" y="2968779"/>
            <a:ext cx="511579" cy="245720"/>
          </a:xfrm>
          <a:prstGeom prst="rect">
            <a:avLst/>
          </a:prstGeom>
          <a:solidFill>
            <a:srgbClr val="B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28841986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also has types </a:t>
            </a:r>
            <a:r>
              <a:rPr lang="de-DE" dirty="0">
                <a:solidFill>
                  <a:srgbClr val="00FF00"/>
                </a:solidFill>
              </a:rPr>
              <a:t>isize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00FF00"/>
                </a:solidFill>
              </a:rPr>
              <a:t>usize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Target machine dependent size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64bit machine  64bit wide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32bit machine  32bit wide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Does anyone know why?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Used for indexing, sizes, offsets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Everything involving memory and pointer arithmetics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32bit systems can‘t make use of 64bit memory addresses  Must be flexible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583B31-D52B-BC04-7053-A464ACE41181}"/>
              </a:ext>
            </a:extLst>
          </p:cNvPr>
          <p:cNvSpPr/>
          <p:nvPr/>
        </p:nvSpPr>
        <p:spPr>
          <a:xfrm>
            <a:off x="4660618" y="2968779"/>
            <a:ext cx="511579" cy="245720"/>
          </a:xfrm>
          <a:prstGeom prst="rect">
            <a:avLst/>
          </a:prstGeom>
          <a:solidFill>
            <a:srgbClr val="BF0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27553657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2"/>
            </a:pPr>
            <a:r>
              <a:rPr lang="de-DE" dirty="0"/>
              <a:t>Basic Types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</a:rPr>
              <a:t>Rust also has types </a:t>
            </a:r>
            <a:r>
              <a:rPr lang="de-DE" dirty="0">
                <a:solidFill>
                  <a:srgbClr val="00FF00"/>
                </a:solidFill>
              </a:rPr>
              <a:t>isize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00FF00"/>
                </a:solidFill>
              </a:rPr>
              <a:t>usize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Target machine dependent size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64bit machine  64bit wide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32bit machine  32bit wide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If you want to index into an array or vector, your index needs to be of type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usize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84469971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798821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They allow us to store values in memory for later use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48438823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  <a:endParaRPr lang="de-DE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58264303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652D0-D229-F297-3241-F161771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709509"/>
            <a:ext cx="3976309" cy="285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97537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652D0-D229-F297-3241-F161771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709509"/>
            <a:ext cx="3976309" cy="2853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78869-F00E-0633-C493-4432A958655C}"/>
              </a:ext>
            </a:extLst>
          </p:cNvPr>
          <p:cNvSpPr txBox="1"/>
          <p:nvPr/>
        </p:nvSpPr>
        <p:spPr>
          <a:xfrm>
            <a:off x="5706309" y="2709509"/>
            <a:ext cx="58868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Declarations always </a:t>
            </a:r>
            <a:r>
              <a:rPr lang="de-DE" dirty="0">
                <a:solidFill>
                  <a:schemeClr val="bg1"/>
                </a:solidFill>
              </a:rPr>
              <a:t>follow the </a:t>
            </a:r>
            <a:r>
              <a:rPr lang="de-DE">
                <a:solidFill>
                  <a:schemeClr val="bg1"/>
                </a:solidFill>
              </a:rPr>
              <a:t>same rule*:</a:t>
            </a:r>
            <a:endParaRPr lang="de-DE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24796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652D0-D229-F297-3241-F161771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709509"/>
            <a:ext cx="3976309" cy="2853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78869-F00E-0633-C493-4432A958655C}"/>
              </a:ext>
            </a:extLst>
          </p:cNvPr>
          <p:cNvSpPr txBox="1"/>
          <p:nvPr/>
        </p:nvSpPr>
        <p:spPr>
          <a:xfrm>
            <a:off x="5706309" y="2709509"/>
            <a:ext cx="5886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Declarations always </a:t>
            </a:r>
            <a:r>
              <a:rPr lang="de-DE" dirty="0">
                <a:solidFill>
                  <a:schemeClr val="bg1"/>
                </a:solidFill>
              </a:rPr>
              <a:t>follow the </a:t>
            </a:r>
            <a:r>
              <a:rPr lang="de-DE">
                <a:solidFill>
                  <a:schemeClr val="bg1"/>
                </a:solidFill>
              </a:rPr>
              <a:t>same rule*: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rgbClr val="00FF00"/>
                </a:solidFill>
              </a:rPr>
              <a:t>let</a:t>
            </a:r>
            <a:r>
              <a:rPr lang="de-DE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A485E-FFD6-7348-179B-77B174171B94}"/>
              </a:ext>
            </a:extLst>
          </p:cNvPr>
          <p:cNvSpPr/>
          <p:nvPr/>
        </p:nvSpPr>
        <p:spPr>
          <a:xfrm>
            <a:off x="2469283" y="3205435"/>
            <a:ext cx="684793" cy="447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72619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652D0-D229-F297-3241-F161771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709509"/>
            <a:ext cx="3976309" cy="2853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78869-F00E-0633-C493-4432A958655C}"/>
              </a:ext>
            </a:extLst>
          </p:cNvPr>
          <p:cNvSpPr txBox="1"/>
          <p:nvPr/>
        </p:nvSpPr>
        <p:spPr>
          <a:xfrm>
            <a:off x="5706309" y="2709509"/>
            <a:ext cx="5886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Declarations always </a:t>
            </a:r>
            <a:r>
              <a:rPr lang="de-DE" dirty="0">
                <a:solidFill>
                  <a:schemeClr val="bg1"/>
                </a:solidFill>
              </a:rPr>
              <a:t>follow the </a:t>
            </a:r>
            <a:r>
              <a:rPr lang="de-DE">
                <a:solidFill>
                  <a:schemeClr val="bg1"/>
                </a:solidFill>
              </a:rPr>
              <a:t>same rule*: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rgbClr val="00FF00"/>
                </a:solidFill>
              </a:rPr>
              <a:t>let [mut]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A485E-FFD6-7348-179B-77B174171B94}"/>
              </a:ext>
            </a:extLst>
          </p:cNvPr>
          <p:cNvSpPr/>
          <p:nvPr/>
        </p:nvSpPr>
        <p:spPr>
          <a:xfrm>
            <a:off x="2469283" y="4608253"/>
            <a:ext cx="1434037" cy="447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817681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652D0-D229-F297-3241-F161771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709509"/>
            <a:ext cx="3976309" cy="2853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78869-F00E-0633-C493-4432A958655C}"/>
              </a:ext>
            </a:extLst>
          </p:cNvPr>
          <p:cNvSpPr txBox="1"/>
          <p:nvPr/>
        </p:nvSpPr>
        <p:spPr>
          <a:xfrm>
            <a:off x="5706309" y="2709509"/>
            <a:ext cx="5886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Declarations always </a:t>
            </a:r>
            <a:r>
              <a:rPr lang="de-DE" dirty="0">
                <a:solidFill>
                  <a:schemeClr val="bg1"/>
                </a:solidFill>
              </a:rPr>
              <a:t>follow the </a:t>
            </a:r>
            <a:r>
              <a:rPr lang="de-DE">
                <a:solidFill>
                  <a:schemeClr val="bg1"/>
                </a:solidFill>
              </a:rPr>
              <a:t>same rule*: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rgbClr val="00FF00"/>
                </a:solidFill>
              </a:rPr>
              <a:t>let [mut] name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A485E-FFD6-7348-179B-77B174171B94}"/>
              </a:ext>
            </a:extLst>
          </p:cNvPr>
          <p:cNvSpPr/>
          <p:nvPr/>
        </p:nvSpPr>
        <p:spPr>
          <a:xfrm>
            <a:off x="2481368" y="3205435"/>
            <a:ext cx="1031217" cy="447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31155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652D0-D229-F297-3241-F161771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709509"/>
            <a:ext cx="3976309" cy="2853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78869-F00E-0633-C493-4432A958655C}"/>
              </a:ext>
            </a:extLst>
          </p:cNvPr>
          <p:cNvSpPr txBox="1"/>
          <p:nvPr/>
        </p:nvSpPr>
        <p:spPr>
          <a:xfrm>
            <a:off x="5706309" y="2709509"/>
            <a:ext cx="5886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Declarations always </a:t>
            </a:r>
            <a:r>
              <a:rPr lang="de-DE" dirty="0">
                <a:solidFill>
                  <a:schemeClr val="bg1"/>
                </a:solidFill>
              </a:rPr>
              <a:t>follow the </a:t>
            </a:r>
            <a:r>
              <a:rPr lang="de-DE">
                <a:solidFill>
                  <a:schemeClr val="bg1"/>
                </a:solidFill>
              </a:rPr>
              <a:t>same rule*: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rgbClr val="00FF00"/>
                </a:solidFill>
              </a:rPr>
              <a:t>let [mut] name [:Type]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A485E-FFD6-7348-179B-77B174171B94}"/>
              </a:ext>
            </a:extLst>
          </p:cNvPr>
          <p:cNvSpPr/>
          <p:nvPr/>
        </p:nvSpPr>
        <p:spPr>
          <a:xfrm>
            <a:off x="2481368" y="3205435"/>
            <a:ext cx="1788517" cy="447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84149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652D0-D229-F297-3241-F161771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709509"/>
            <a:ext cx="3976309" cy="2853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78869-F00E-0633-C493-4432A958655C}"/>
              </a:ext>
            </a:extLst>
          </p:cNvPr>
          <p:cNvSpPr txBox="1"/>
          <p:nvPr/>
        </p:nvSpPr>
        <p:spPr>
          <a:xfrm>
            <a:off x="5706309" y="2709509"/>
            <a:ext cx="58868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Declarations always </a:t>
            </a:r>
            <a:r>
              <a:rPr lang="de-DE" dirty="0">
                <a:solidFill>
                  <a:schemeClr val="bg1"/>
                </a:solidFill>
              </a:rPr>
              <a:t>follow the </a:t>
            </a:r>
            <a:r>
              <a:rPr lang="de-DE">
                <a:solidFill>
                  <a:schemeClr val="bg1"/>
                </a:solidFill>
              </a:rPr>
              <a:t>same rule*: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rgbClr val="00FF00"/>
                </a:solidFill>
              </a:rPr>
              <a:t>let [mut] name [:Type] = Expression;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A485E-FFD6-7348-179B-77B174171B94}"/>
              </a:ext>
            </a:extLst>
          </p:cNvPr>
          <p:cNvSpPr/>
          <p:nvPr/>
        </p:nvSpPr>
        <p:spPr>
          <a:xfrm>
            <a:off x="2481368" y="3205435"/>
            <a:ext cx="3224941" cy="447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36635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652D0-D229-F297-3241-F161771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709509"/>
            <a:ext cx="3976309" cy="2853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78869-F00E-0633-C493-4432A958655C}"/>
              </a:ext>
            </a:extLst>
          </p:cNvPr>
          <p:cNvSpPr txBox="1"/>
          <p:nvPr/>
        </p:nvSpPr>
        <p:spPr>
          <a:xfrm>
            <a:off x="5706309" y="2709509"/>
            <a:ext cx="58868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Declarations always </a:t>
            </a:r>
            <a:r>
              <a:rPr lang="de-DE" dirty="0">
                <a:solidFill>
                  <a:schemeClr val="bg1"/>
                </a:solidFill>
              </a:rPr>
              <a:t>follow the </a:t>
            </a:r>
            <a:r>
              <a:rPr lang="de-DE">
                <a:solidFill>
                  <a:schemeClr val="bg1"/>
                </a:solidFill>
              </a:rPr>
              <a:t>same rule*: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rgbClr val="00FF00"/>
                </a:solidFill>
              </a:rPr>
              <a:t>let [mut] name [:Type] = Expression;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mut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indicates the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mutability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of a variable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A485E-FFD6-7348-179B-77B174171B94}"/>
              </a:ext>
            </a:extLst>
          </p:cNvPr>
          <p:cNvSpPr/>
          <p:nvPr/>
        </p:nvSpPr>
        <p:spPr>
          <a:xfrm>
            <a:off x="3197659" y="4611275"/>
            <a:ext cx="705661" cy="447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840787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652D0-D229-F297-3241-F161771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709509"/>
            <a:ext cx="3976309" cy="2853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78869-F00E-0633-C493-4432A958655C}"/>
              </a:ext>
            </a:extLst>
          </p:cNvPr>
          <p:cNvSpPr txBox="1"/>
          <p:nvPr/>
        </p:nvSpPr>
        <p:spPr>
          <a:xfrm>
            <a:off x="5706309" y="2709509"/>
            <a:ext cx="648569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>
                <a:solidFill>
                  <a:schemeClr val="bg1"/>
                </a:solidFill>
              </a:rPr>
              <a:t>Declarations always </a:t>
            </a:r>
            <a:r>
              <a:rPr lang="de-DE" dirty="0">
                <a:solidFill>
                  <a:schemeClr val="bg1"/>
                </a:solidFill>
              </a:rPr>
              <a:t>follow the </a:t>
            </a:r>
            <a:r>
              <a:rPr lang="de-DE">
                <a:solidFill>
                  <a:schemeClr val="bg1"/>
                </a:solidFill>
              </a:rPr>
              <a:t>same rule*:</a:t>
            </a:r>
            <a:endParaRPr lang="de-DE" dirty="0">
              <a:solidFill>
                <a:schemeClr val="bg1"/>
              </a:solidFill>
            </a:endParaRPr>
          </a:p>
          <a:p>
            <a:r>
              <a:rPr lang="de-DE" dirty="0">
                <a:solidFill>
                  <a:srgbClr val="00FF00"/>
                </a:solidFill>
              </a:rPr>
              <a:t>let [mut] name [:Type] = Expression;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mut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indicates the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mutability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of a variable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Type Inference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infers the type based on the context in which the variable is used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84A485E-FFD6-7348-179B-77B174171B94}"/>
              </a:ext>
            </a:extLst>
          </p:cNvPr>
          <p:cNvSpPr/>
          <p:nvPr/>
        </p:nvSpPr>
        <p:spPr>
          <a:xfrm>
            <a:off x="3419341" y="4176230"/>
            <a:ext cx="298813" cy="44713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13339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68652D0-D229-F297-3241-F1617711AC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709509"/>
            <a:ext cx="3976309" cy="28530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6978869-F00E-0633-C493-4432A958655C}"/>
              </a:ext>
            </a:extLst>
          </p:cNvPr>
          <p:cNvSpPr txBox="1"/>
          <p:nvPr/>
        </p:nvSpPr>
        <p:spPr>
          <a:xfrm>
            <a:off x="5957699" y="2709509"/>
            <a:ext cx="4102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This code snippet creates four variables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98688857-53D7-E078-1B1A-237F34122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0531575"/>
              </p:ext>
            </p:extLst>
          </p:nvPr>
        </p:nvGraphicFramePr>
        <p:xfrm>
          <a:off x="5957698" y="3017286"/>
          <a:ext cx="5687809" cy="20340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6767">
                  <a:extLst>
                    <a:ext uri="{9D8B030D-6E8A-4147-A177-3AD203B41FA5}">
                      <a16:colId xmlns:a16="http://schemas.microsoft.com/office/drawing/2014/main" val="866316801"/>
                    </a:ext>
                  </a:extLst>
                </a:gridCol>
                <a:gridCol w="1091641">
                  <a:extLst>
                    <a:ext uri="{9D8B030D-6E8A-4147-A177-3AD203B41FA5}">
                      <a16:colId xmlns:a16="http://schemas.microsoft.com/office/drawing/2014/main" val="2980067185"/>
                    </a:ext>
                  </a:extLst>
                </a:gridCol>
                <a:gridCol w="2152647">
                  <a:extLst>
                    <a:ext uri="{9D8B030D-6E8A-4147-A177-3AD203B41FA5}">
                      <a16:colId xmlns:a16="http://schemas.microsoft.com/office/drawing/2014/main" val="1539520001"/>
                    </a:ext>
                  </a:extLst>
                </a:gridCol>
                <a:gridCol w="1476754">
                  <a:extLst>
                    <a:ext uri="{9D8B030D-6E8A-4147-A177-3AD203B41FA5}">
                      <a16:colId xmlns:a16="http://schemas.microsoft.com/office/drawing/2014/main" val="1907675348"/>
                    </a:ext>
                  </a:extLst>
                </a:gridCol>
              </a:tblGrid>
              <a:tr h="40681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Mutable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9560284"/>
                  </a:ext>
                </a:extLst>
              </a:tr>
              <a:tr h="40681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-128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775044"/>
                  </a:ext>
                </a:extLst>
              </a:tr>
              <a:tr h="40681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u8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085115"/>
                  </a:ext>
                </a:extLst>
              </a:tr>
              <a:tr h="40681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 (inferred)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7629773"/>
                  </a:ext>
                </a:extLst>
              </a:tr>
              <a:tr h="40681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 (inferred)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2841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51796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mut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we can make our variables mutable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489C9-6820-3D48-8D3E-C5D200E6F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956473"/>
            <a:ext cx="5353470" cy="316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50591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mut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we can make our variables mutable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489C9-6820-3D48-8D3E-C5D200E6F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956473"/>
            <a:ext cx="5353470" cy="31640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157689-EE88-1040-646C-2AEB645A284C}"/>
              </a:ext>
            </a:extLst>
          </p:cNvPr>
          <p:cNvSpPr/>
          <p:nvPr/>
        </p:nvSpPr>
        <p:spPr>
          <a:xfrm>
            <a:off x="2549847" y="3480359"/>
            <a:ext cx="3770389" cy="1063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018A2F-908A-C016-788D-F711EDFE01A0}"/>
              </a:ext>
            </a:extLst>
          </p:cNvPr>
          <p:cNvSpPr txBox="1"/>
          <p:nvPr/>
        </p:nvSpPr>
        <p:spPr>
          <a:xfrm>
            <a:off x="6320236" y="3480359"/>
            <a:ext cx="38912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Immutable</a:t>
            </a:r>
            <a:r>
              <a:rPr lang="de-DE" dirty="0">
                <a:solidFill>
                  <a:schemeClr val="bg1"/>
                </a:solidFill>
              </a:rPr>
              <a:t>, we can‘t re-assign to the variable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40B4894-9350-6A13-B0CF-555666E9D2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3470" y="3824609"/>
            <a:ext cx="4735985" cy="1580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1166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mut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we can make our variables mutable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489C9-6820-3D48-8D3E-C5D200E6F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956473"/>
            <a:ext cx="5353470" cy="316403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157689-EE88-1040-646C-2AEB645A284C}"/>
              </a:ext>
            </a:extLst>
          </p:cNvPr>
          <p:cNvSpPr/>
          <p:nvPr/>
        </p:nvSpPr>
        <p:spPr>
          <a:xfrm>
            <a:off x="2521540" y="4538492"/>
            <a:ext cx="4561930" cy="10634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28D058-A055-0465-46EC-111CA1E30CA0}"/>
              </a:ext>
            </a:extLst>
          </p:cNvPr>
          <p:cNvSpPr txBox="1"/>
          <p:nvPr/>
        </p:nvSpPr>
        <p:spPr>
          <a:xfrm>
            <a:off x="7083470" y="4637649"/>
            <a:ext cx="43302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dirty="0">
                <a:solidFill>
                  <a:srgbClr val="FFFF00"/>
                </a:solidFill>
              </a:rPr>
              <a:t>Mutable</a:t>
            </a:r>
            <a:r>
              <a:rPr lang="de-DE" dirty="0">
                <a:solidFill>
                  <a:schemeClr val="bg1"/>
                </a:solidFill>
              </a:rPr>
              <a:t>, we can re-assign to the variable</a:t>
            </a:r>
          </a:p>
        </p:txBody>
      </p:sp>
    </p:spTree>
    <p:extLst>
      <p:ext uri="{BB962C8B-B14F-4D97-AF65-F5344CB8AC3E}">
        <p14:creationId xmlns:p14="http://schemas.microsoft.com/office/powerpoint/2010/main" val="54026774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mut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we can make our variables mutable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B489C9-6820-3D48-8D3E-C5D200E6F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000" y="2956473"/>
            <a:ext cx="5353470" cy="31640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1BFCA59-965A-4741-E439-0E7D3DA81B00}"/>
              </a:ext>
            </a:extLst>
          </p:cNvPr>
          <p:cNvSpPr/>
          <p:nvPr/>
        </p:nvSpPr>
        <p:spPr>
          <a:xfrm>
            <a:off x="4555887" y="4580055"/>
            <a:ext cx="1160120" cy="443103"/>
          </a:xfrm>
          <a:prstGeom prst="rect">
            <a:avLst/>
          </a:prstGeom>
          <a:noFill/>
          <a:ln>
            <a:solidFill>
              <a:srgbClr val="00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AFB527-8149-1F26-FA56-A4C6897BA2B6}"/>
              </a:ext>
            </a:extLst>
          </p:cNvPr>
          <p:cNvSpPr txBox="1"/>
          <p:nvPr/>
        </p:nvSpPr>
        <p:spPr>
          <a:xfrm>
            <a:off x="4038600" y="5023158"/>
            <a:ext cx="314861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rust-analyzer shows us inferred types</a:t>
            </a:r>
          </a:p>
        </p:txBody>
      </p:sp>
    </p:spTree>
    <p:extLst>
      <p:ext uri="{BB962C8B-B14F-4D97-AF65-F5344CB8AC3E}">
        <p14:creationId xmlns:p14="http://schemas.microsoft.com/office/powerpoint/2010/main" val="1885312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mut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we can make our variables mutable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Why does Rust have that system? What do we gain from making variables [im]mutable?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28E9A4-0010-9764-BB68-8C4DD7B99ACC}"/>
              </a:ext>
            </a:extLst>
          </p:cNvPr>
          <p:cNvSpPr/>
          <p:nvPr/>
        </p:nvSpPr>
        <p:spPr>
          <a:xfrm>
            <a:off x="8535744" y="2823764"/>
            <a:ext cx="507552" cy="281973"/>
          </a:xfrm>
          <a:prstGeom prst="rect">
            <a:avLst/>
          </a:prstGeom>
          <a:solidFill>
            <a:srgbClr val="B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27511769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mut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we can make our variables mutable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Why does Rust have that system? What do we gain from making variables [im]mutable?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Easier to reason your code, make it explicit what you‘re expecting to change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Very useful when we get to references and the borrow checker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Prevents a lot of bugs and oversights</a:t>
            </a:r>
          </a:p>
          <a:p>
            <a:pPr lvl="2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TLDR: More control over what is happening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28E9A4-0010-9764-BB68-8C4DD7B99ACC}"/>
              </a:ext>
            </a:extLst>
          </p:cNvPr>
          <p:cNvSpPr/>
          <p:nvPr/>
        </p:nvSpPr>
        <p:spPr>
          <a:xfrm>
            <a:off x="8535744" y="2823764"/>
            <a:ext cx="507552" cy="281973"/>
          </a:xfrm>
          <a:prstGeom prst="rect">
            <a:avLst/>
          </a:prstGeom>
          <a:solidFill>
            <a:srgbClr val="BF00F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3/3</a:t>
            </a:r>
          </a:p>
        </p:txBody>
      </p:sp>
    </p:spTree>
    <p:extLst>
      <p:ext uri="{BB962C8B-B14F-4D97-AF65-F5344CB8AC3E}">
        <p14:creationId xmlns:p14="http://schemas.microsoft.com/office/powerpoint/2010/main" val="272348235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3"/>
            </a:pPr>
            <a:r>
              <a:rPr lang="de-DE" dirty="0"/>
              <a:t>Variables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a very fundamental part in programming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Variables are declared 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let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Using the keyword </a:t>
            </a:r>
            <a:r>
              <a:rPr lang="de-DE" dirty="0">
                <a:solidFill>
                  <a:srgbClr val="00FF00"/>
                </a:solidFill>
                <a:sym typeface="Wingdings" panose="05000000000000000000" pitchFamily="2" charset="2"/>
              </a:rPr>
              <a:t>mut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we can make our variables mutable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When we assign values to variables, two things can happen: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 value is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copied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The value is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moved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Will be covered when we talk about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Ownership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4462155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5522038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Understanding how a computer executes code helps with writing better programs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We‘ll skip over all technical details, and how the source code turns into machine code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1417132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Understanding how a computer executes code helps with writing better programs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Computers process instructions sequentially, one after the other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Fetch  Decode  Execute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8278650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Understanding how a computer executes code helps with writing better programs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Computers process instructions sequentially, one after the other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On a high level, we specify what these instructions should be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All the fancy steps in the middle just turn human-readable into machine-executable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82315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7241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5FADC0-0781-D3EA-0FB0-DC18D42E3CEF}"/>
              </a:ext>
            </a:extLst>
          </p:cNvPr>
          <p:cNvSpPr/>
          <p:nvPr/>
        </p:nvSpPr>
        <p:spPr>
          <a:xfrm>
            <a:off x="1357501" y="2404832"/>
            <a:ext cx="3452162" cy="511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2B7E63-F096-1477-B912-0859DC92C523}"/>
              </a:ext>
            </a:extLst>
          </p:cNvPr>
          <p:cNvSpPr txBox="1"/>
          <p:nvPr/>
        </p:nvSpPr>
        <p:spPr>
          <a:xfrm>
            <a:off x="6867818" y="1862365"/>
            <a:ext cx="196239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First, store </a:t>
            </a:r>
            <a:r>
              <a:rPr lang="de-DE" dirty="0">
                <a:solidFill>
                  <a:srgbClr val="FFFF00"/>
                </a:solidFill>
              </a:rPr>
              <a:t>69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224871544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5FADC0-0781-D3EA-0FB0-DC18D42E3CEF}"/>
              </a:ext>
            </a:extLst>
          </p:cNvPr>
          <p:cNvSpPr/>
          <p:nvPr/>
        </p:nvSpPr>
        <p:spPr>
          <a:xfrm>
            <a:off x="1381670" y="2917420"/>
            <a:ext cx="3568980" cy="511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426B73-EC69-6A33-C724-4AEE0D875975}"/>
              </a:ext>
            </a:extLst>
          </p:cNvPr>
          <p:cNvSpPr txBox="1"/>
          <p:nvPr/>
        </p:nvSpPr>
        <p:spPr>
          <a:xfrm>
            <a:off x="6867818" y="1862365"/>
            <a:ext cx="2121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First, store </a:t>
            </a:r>
            <a:r>
              <a:rPr lang="de-DE" dirty="0">
                <a:solidFill>
                  <a:srgbClr val="FFFF00"/>
                </a:solidFill>
              </a:rPr>
              <a:t>69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a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Then, store </a:t>
            </a:r>
            <a:r>
              <a:rPr lang="de-DE" dirty="0">
                <a:solidFill>
                  <a:srgbClr val="FFFF00"/>
                </a:solidFill>
              </a:rPr>
              <a:t>420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519690635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5FADC0-0781-D3EA-0FB0-DC18D42E3CEF}"/>
              </a:ext>
            </a:extLst>
          </p:cNvPr>
          <p:cNvSpPr/>
          <p:nvPr/>
        </p:nvSpPr>
        <p:spPr>
          <a:xfrm>
            <a:off x="4038600" y="3428999"/>
            <a:ext cx="1826450" cy="511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487D2-6692-6BC6-49AC-BCB4E3C3FA04}"/>
              </a:ext>
            </a:extLst>
          </p:cNvPr>
          <p:cNvSpPr txBox="1"/>
          <p:nvPr/>
        </p:nvSpPr>
        <p:spPr>
          <a:xfrm>
            <a:off x="6867818" y="1862365"/>
            <a:ext cx="3207929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First, store </a:t>
            </a:r>
            <a:r>
              <a:rPr lang="de-DE" dirty="0">
                <a:solidFill>
                  <a:srgbClr val="FFFF00"/>
                </a:solidFill>
              </a:rPr>
              <a:t>69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a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Then, store </a:t>
            </a:r>
            <a:r>
              <a:rPr lang="de-DE" dirty="0">
                <a:solidFill>
                  <a:srgbClr val="FFFF00"/>
                </a:solidFill>
              </a:rPr>
              <a:t>420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b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Read</a:t>
            </a:r>
            <a:r>
              <a:rPr lang="de-DE" dirty="0">
                <a:solidFill>
                  <a:srgbClr val="FFFF00"/>
                </a:solidFill>
              </a:rPr>
              <a:t> a</a:t>
            </a:r>
            <a:r>
              <a:rPr lang="de-DE" dirty="0">
                <a:solidFill>
                  <a:schemeClr val="bg1"/>
                </a:solidFill>
              </a:rPr>
              <a:t>, multiply its value by </a:t>
            </a:r>
            <a:r>
              <a:rPr lang="de-DE" dirty="0">
                <a:solidFill>
                  <a:srgbClr val="FFFF00"/>
                </a:solidFill>
              </a:rPr>
              <a:t>1000</a:t>
            </a:r>
          </a:p>
        </p:txBody>
      </p:sp>
    </p:spTree>
    <p:extLst>
      <p:ext uri="{BB962C8B-B14F-4D97-AF65-F5344CB8AC3E}">
        <p14:creationId xmlns:p14="http://schemas.microsoft.com/office/powerpoint/2010/main" val="343978832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5FADC0-0781-D3EA-0FB0-DC18D42E3CEF}"/>
              </a:ext>
            </a:extLst>
          </p:cNvPr>
          <p:cNvSpPr/>
          <p:nvPr/>
        </p:nvSpPr>
        <p:spPr>
          <a:xfrm>
            <a:off x="4038600" y="3428999"/>
            <a:ext cx="2607920" cy="511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487D2-6692-6BC6-49AC-BCB4E3C3FA04}"/>
              </a:ext>
            </a:extLst>
          </p:cNvPr>
          <p:cNvSpPr txBox="1"/>
          <p:nvPr/>
        </p:nvSpPr>
        <p:spPr>
          <a:xfrm>
            <a:off x="6867818" y="1862365"/>
            <a:ext cx="40606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First, store </a:t>
            </a:r>
            <a:r>
              <a:rPr lang="de-DE" dirty="0">
                <a:solidFill>
                  <a:srgbClr val="FFFF00"/>
                </a:solidFill>
              </a:rPr>
              <a:t>69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a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Then, store </a:t>
            </a:r>
            <a:r>
              <a:rPr lang="de-DE" dirty="0">
                <a:solidFill>
                  <a:srgbClr val="FFFF00"/>
                </a:solidFill>
              </a:rPr>
              <a:t>420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b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Read</a:t>
            </a:r>
            <a:r>
              <a:rPr lang="de-DE" dirty="0">
                <a:solidFill>
                  <a:srgbClr val="FFFF00"/>
                </a:solidFill>
              </a:rPr>
              <a:t> a</a:t>
            </a:r>
            <a:r>
              <a:rPr lang="de-DE" dirty="0">
                <a:solidFill>
                  <a:schemeClr val="bg1"/>
                </a:solidFill>
              </a:rPr>
              <a:t>, multiply its value by </a:t>
            </a:r>
            <a:r>
              <a:rPr lang="de-DE" dirty="0">
                <a:solidFill>
                  <a:srgbClr val="FFFF00"/>
                </a:solidFill>
              </a:rPr>
              <a:t>1000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Read</a:t>
            </a:r>
            <a:r>
              <a:rPr lang="de-DE" dirty="0">
                <a:solidFill>
                  <a:srgbClr val="FFFF00"/>
                </a:solidFill>
              </a:rPr>
              <a:t> b</a:t>
            </a:r>
            <a:r>
              <a:rPr lang="de-DE" dirty="0">
                <a:solidFill>
                  <a:schemeClr val="bg1"/>
                </a:solidFill>
              </a:rPr>
              <a:t>, add its value to the result of </a:t>
            </a:r>
            <a:r>
              <a:rPr lang="de-DE" dirty="0">
                <a:solidFill>
                  <a:srgbClr val="FFFF00"/>
                </a:solidFill>
              </a:rPr>
              <a:t>step 3</a:t>
            </a:r>
          </a:p>
        </p:txBody>
      </p:sp>
    </p:spTree>
    <p:extLst>
      <p:ext uri="{BB962C8B-B14F-4D97-AF65-F5344CB8AC3E}">
        <p14:creationId xmlns:p14="http://schemas.microsoft.com/office/powerpoint/2010/main" val="38683711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5FADC0-0781-D3EA-0FB0-DC18D42E3CEF}"/>
              </a:ext>
            </a:extLst>
          </p:cNvPr>
          <p:cNvSpPr/>
          <p:nvPr/>
        </p:nvSpPr>
        <p:spPr>
          <a:xfrm>
            <a:off x="1341389" y="3428999"/>
            <a:ext cx="5305131" cy="511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487D2-6692-6BC6-49AC-BCB4E3C3FA04}"/>
              </a:ext>
            </a:extLst>
          </p:cNvPr>
          <p:cNvSpPr txBox="1"/>
          <p:nvPr/>
        </p:nvSpPr>
        <p:spPr>
          <a:xfrm>
            <a:off x="6867818" y="1862365"/>
            <a:ext cx="406067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First, store </a:t>
            </a:r>
            <a:r>
              <a:rPr lang="de-DE" dirty="0">
                <a:solidFill>
                  <a:srgbClr val="FFFF00"/>
                </a:solidFill>
              </a:rPr>
              <a:t>69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a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Then, store </a:t>
            </a:r>
            <a:r>
              <a:rPr lang="de-DE" dirty="0">
                <a:solidFill>
                  <a:srgbClr val="FFFF00"/>
                </a:solidFill>
              </a:rPr>
              <a:t>420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b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Read</a:t>
            </a:r>
            <a:r>
              <a:rPr lang="de-DE" dirty="0">
                <a:solidFill>
                  <a:srgbClr val="FFFF00"/>
                </a:solidFill>
              </a:rPr>
              <a:t> a</a:t>
            </a:r>
            <a:r>
              <a:rPr lang="de-DE" dirty="0">
                <a:solidFill>
                  <a:schemeClr val="bg1"/>
                </a:solidFill>
              </a:rPr>
              <a:t>, multiply its value by </a:t>
            </a:r>
            <a:r>
              <a:rPr lang="de-DE" dirty="0">
                <a:solidFill>
                  <a:srgbClr val="FFFF00"/>
                </a:solidFill>
              </a:rPr>
              <a:t>1000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Read</a:t>
            </a:r>
            <a:r>
              <a:rPr lang="de-DE" dirty="0">
                <a:solidFill>
                  <a:srgbClr val="FFFF00"/>
                </a:solidFill>
              </a:rPr>
              <a:t> b</a:t>
            </a:r>
            <a:r>
              <a:rPr lang="de-DE" dirty="0">
                <a:solidFill>
                  <a:schemeClr val="bg1"/>
                </a:solidFill>
              </a:rPr>
              <a:t>, add its value to the result of </a:t>
            </a:r>
            <a:r>
              <a:rPr lang="de-DE" dirty="0">
                <a:solidFill>
                  <a:srgbClr val="FFFF00"/>
                </a:solidFill>
              </a:rPr>
              <a:t>step 3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Store the result of </a:t>
            </a:r>
            <a:r>
              <a:rPr lang="de-DE" dirty="0">
                <a:solidFill>
                  <a:srgbClr val="FFFF00"/>
                </a:solidFill>
              </a:rPr>
              <a:t>step 4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4220057942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475FADC0-0781-D3EA-0FB0-DC18D42E3CEF}"/>
              </a:ext>
            </a:extLst>
          </p:cNvPr>
          <p:cNvSpPr/>
          <p:nvPr/>
        </p:nvSpPr>
        <p:spPr>
          <a:xfrm>
            <a:off x="1345418" y="3968050"/>
            <a:ext cx="3794558" cy="5115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0487D2-6692-6BC6-49AC-BCB4E3C3FA04}"/>
              </a:ext>
            </a:extLst>
          </p:cNvPr>
          <p:cNvSpPr txBox="1"/>
          <p:nvPr/>
        </p:nvSpPr>
        <p:spPr>
          <a:xfrm>
            <a:off x="6867818" y="1862365"/>
            <a:ext cx="406067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First, store </a:t>
            </a:r>
            <a:r>
              <a:rPr lang="de-DE" dirty="0">
                <a:solidFill>
                  <a:srgbClr val="FFFF00"/>
                </a:solidFill>
              </a:rPr>
              <a:t>69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a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Then, store </a:t>
            </a:r>
            <a:r>
              <a:rPr lang="de-DE" dirty="0">
                <a:solidFill>
                  <a:srgbClr val="FFFF00"/>
                </a:solidFill>
              </a:rPr>
              <a:t>420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b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Read</a:t>
            </a:r>
            <a:r>
              <a:rPr lang="de-DE" dirty="0">
                <a:solidFill>
                  <a:srgbClr val="FFFF00"/>
                </a:solidFill>
              </a:rPr>
              <a:t> a</a:t>
            </a:r>
            <a:r>
              <a:rPr lang="de-DE" dirty="0">
                <a:solidFill>
                  <a:schemeClr val="bg1"/>
                </a:solidFill>
              </a:rPr>
              <a:t>, multiply its value by </a:t>
            </a:r>
            <a:r>
              <a:rPr lang="de-DE" dirty="0">
                <a:solidFill>
                  <a:srgbClr val="FFFF00"/>
                </a:solidFill>
              </a:rPr>
              <a:t>1000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Read</a:t>
            </a:r>
            <a:r>
              <a:rPr lang="de-DE" dirty="0">
                <a:solidFill>
                  <a:srgbClr val="FFFF00"/>
                </a:solidFill>
              </a:rPr>
              <a:t> b</a:t>
            </a:r>
            <a:r>
              <a:rPr lang="de-DE" dirty="0">
                <a:solidFill>
                  <a:schemeClr val="bg1"/>
                </a:solidFill>
              </a:rPr>
              <a:t>, add its value to the result of </a:t>
            </a:r>
            <a:r>
              <a:rPr lang="de-DE" dirty="0">
                <a:solidFill>
                  <a:srgbClr val="FFFF00"/>
                </a:solidFill>
              </a:rPr>
              <a:t>step 3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Store the result of </a:t>
            </a:r>
            <a:r>
              <a:rPr lang="de-DE" dirty="0">
                <a:solidFill>
                  <a:srgbClr val="FFFF00"/>
                </a:solidFill>
              </a:rPr>
              <a:t>step 4</a:t>
            </a:r>
            <a:r>
              <a:rPr lang="de-DE" dirty="0">
                <a:solidFill>
                  <a:schemeClr val="bg1"/>
                </a:solidFill>
              </a:rPr>
              <a:t> in </a:t>
            </a:r>
            <a:r>
              <a:rPr lang="de-DE" dirty="0">
                <a:solidFill>
                  <a:srgbClr val="FFFF00"/>
                </a:solidFill>
              </a:rPr>
              <a:t>c</a:t>
            </a:r>
          </a:p>
          <a:p>
            <a:pPr marL="342900" indent="-342900">
              <a:buClr>
                <a:schemeClr val="bg1"/>
              </a:buClr>
              <a:buFont typeface="+mj-lt"/>
              <a:buAutoNum type="arabicPeriod"/>
            </a:pPr>
            <a:r>
              <a:rPr lang="de-DE" dirty="0">
                <a:solidFill>
                  <a:schemeClr val="bg1"/>
                </a:solidFill>
              </a:rPr>
              <a:t>Read </a:t>
            </a:r>
            <a:r>
              <a:rPr lang="de-DE" dirty="0">
                <a:solidFill>
                  <a:srgbClr val="FFFF00"/>
                </a:solidFill>
              </a:rPr>
              <a:t>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>
                <a:solidFill>
                  <a:srgbClr val="FFFF00"/>
                </a:solidFill>
              </a:rPr>
              <a:t>print</a:t>
            </a:r>
            <a:r>
              <a:rPr lang="de-DE" dirty="0">
                <a:solidFill>
                  <a:schemeClr val="bg1"/>
                </a:solidFill>
              </a:rPr>
              <a:t> its value </a:t>
            </a:r>
            <a:r>
              <a:rPr lang="de-DE" dirty="0">
                <a:solidFill>
                  <a:srgbClr val="FFFF00"/>
                </a:solidFill>
              </a:rPr>
              <a:t>to the console</a:t>
            </a:r>
          </a:p>
        </p:txBody>
      </p:sp>
    </p:spTree>
    <p:extLst>
      <p:ext uri="{BB962C8B-B14F-4D97-AF65-F5344CB8AC3E}">
        <p14:creationId xmlns:p14="http://schemas.microsoft.com/office/powerpoint/2010/main" val="130161603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Understanding how a computer executes code helps with writing better programs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Computers process instructions sequentially, one after the other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On a high level, we specify what these instructions should be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memory table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can help understand what the computer does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709100026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7DBA1BE-0226-DEAA-E1E4-4BC13CBDD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6496650"/>
              </p:ext>
            </p:extLst>
          </p:nvPr>
        </p:nvGraphicFramePr>
        <p:xfrm>
          <a:off x="6867817" y="1862365"/>
          <a:ext cx="4776350" cy="187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544">
                  <a:extLst>
                    <a:ext uri="{9D8B030D-6E8A-4147-A177-3AD203B41FA5}">
                      <a16:colId xmlns:a16="http://schemas.microsoft.com/office/drawing/2014/main" val="3578500302"/>
                    </a:ext>
                  </a:extLst>
                </a:gridCol>
                <a:gridCol w="1053027">
                  <a:extLst>
                    <a:ext uri="{9D8B030D-6E8A-4147-A177-3AD203B41FA5}">
                      <a16:colId xmlns:a16="http://schemas.microsoft.com/office/drawing/2014/main" val="1582214629"/>
                    </a:ext>
                  </a:extLst>
                </a:gridCol>
                <a:gridCol w="2493779">
                  <a:extLst>
                    <a:ext uri="{9D8B030D-6E8A-4147-A177-3AD203B41FA5}">
                      <a16:colId xmlns:a16="http://schemas.microsoft.com/office/drawing/2014/main" val="2313062455"/>
                    </a:ext>
                  </a:extLst>
                </a:gridCol>
              </a:tblGrid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83593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009735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44142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35290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temp*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011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416283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FFA801-8D0D-B237-BD52-B1CF256D0E81}"/>
              </a:ext>
            </a:extLst>
          </p:cNvPr>
          <p:cNvSpPr/>
          <p:nvPr/>
        </p:nvSpPr>
        <p:spPr>
          <a:xfrm>
            <a:off x="1333332" y="2400804"/>
            <a:ext cx="3436049" cy="527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9BC0557-A39B-939A-8C7F-D0FB14A51E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0041470"/>
              </p:ext>
            </p:extLst>
          </p:nvPr>
        </p:nvGraphicFramePr>
        <p:xfrm>
          <a:off x="6867817" y="1862365"/>
          <a:ext cx="4776350" cy="187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544">
                  <a:extLst>
                    <a:ext uri="{9D8B030D-6E8A-4147-A177-3AD203B41FA5}">
                      <a16:colId xmlns:a16="http://schemas.microsoft.com/office/drawing/2014/main" val="3578500302"/>
                    </a:ext>
                  </a:extLst>
                </a:gridCol>
                <a:gridCol w="1053027">
                  <a:extLst>
                    <a:ext uri="{9D8B030D-6E8A-4147-A177-3AD203B41FA5}">
                      <a16:colId xmlns:a16="http://schemas.microsoft.com/office/drawing/2014/main" val="1582214629"/>
                    </a:ext>
                  </a:extLst>
                </a:gridCol>
                <a:gridCol w="2493779">
                  <a:extLst>
                    <a:ext uri="{9D8B030D-6E8A-4147-A177-3AD203B41FA5}">
                      <a16:colId xmlns:a16="http://schemas.microsoft.com/office/drawing/2014/main" val="2313062455"/>
                    </a:ext>
                  </a:extLst>
                </a:gridCol>
              </a:tblGrid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83593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>
                          <a:solidFill>
                            <a:schemeClr val="tx1"/>
                          </a:solidFill>
                        </a:rPr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009735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44142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35290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temp*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011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415152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CFFA801-8D0D-B237-BD52-B1CF256D0E81}"/>
              </a:ext>
            </a:extLst>
          </p:cNvPr>
          <p:cNvSpPr/>
          <p:nvPr/>
        </p:nvSpPr>
        <p:spPr>
          <a:xfrm>
            <a:off x="1373614" y="2901306"/>
            <a:ext cx="3564952" cy="527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0030AA-4F3B-D652-885C-3AC94FC4DA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8066159"/>
              </p:ext>
            </p:extLst>
          </p:nvPr>
        </p:nvGraphicFramePr>
        <p:xfrm>
          <a:off x="6867817" y="1862365"/>
          <a:ext cx="4776350" cy="187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544">
                  <a:extLst>
                    <a:ext uri="{9D8B030D-6E8A-4147-A177-3AD203B41FA5}">
                      <a16:colId xmlns:a16="http://schemas.microsoft.com/office/drawing/2014/main" val="3578500302"/>
                    </a:ext>
                  </a:extLst>
                </a:gridCol>
                <a:gridCol w="1053027">
                  <a:extLst>
                    <a:ext uri="{9D8B030D-6E8A-4147-A177-3AD203B41FA5}">
                      <a16:colId xmlns:a16="http://schemas.microsoft.com/office/drawing/2014/main" val="1582214629"/>
                    </a:ext>
                  </a:extLst>
                </a:gridCol>
                <a:gridCol w="2493779">
                  <a:extLst>
                    <a:ext uri="{9D8B030D-6E8A-4147-A177-3AD203B41FA5}">
                      <a16:colId xmlns:a16="http://schemas.microsoft.com/office/drawing/2014/main" val="2313062455"/>
                    </a:ext>
                  </a:extLst>
                </a:gridCol>
              </a:tblGrid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83593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009735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44142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35290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temp*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011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950137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9929AB-C2C7-23BE-1212-7FA841E3E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2425262"/>
              </p:ext>
            </p:extLst>
          </p:nvPr>
        </p:nvGraphicFramePr>
        <p:xfrm>
          <a:off x="6867817" y="1862365"/>
          <a:ext cx="4776350" cy="187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544">
                  <a:extLst>
                    <a:ext uri="{9D8B030D-6E8A-4147-A177-3AD203B41FA5}">
                      <a16:colId xmlns:a16="http://schemas.microsoft.com/office/drawing/2014/main" val="3578500302"/>
                    </a:ext>
                  </a:extLst>
                </a:gridCol>
                <a:gridCol w="1053027">
                  <a:extLst>
                    <a:ext uri="{9D8B030D-6E8A-4147-A177-3AD203B41FA5}">
                      <a16:colId xmlns:a16="http://schemas.microsoft.com/office/drawing/2014/main" val="1582214629"/>
                    </a:ext>
                  </a:extLst>
                </a:gridCol>
                <a:gridCol w="2493779">
                  <a:extLst>
                    <a:ext uri="{9D8B030D-6E8A-4147-A177-3AD203B41FA5}">
                      <a16:colId xmlns:a16="http://schemas.microsoft.com/office/drawing/2014/main" val="2313062455"/>
                    </a:ext>
                  </a:extLst>
                </a:gridCol>
              </a:tblGrid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83593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009735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44142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???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35290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temp*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69*1000=69.000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01144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CFFA801-8D0D-B237-BD52-B1CF256D0E81}"/>
              </a:ext>
            </a:extLst>
          </p:cNvPr>
          <p:cNvSpPr/>
          <p:nvPr/>
        </p:nvSpPr>
        <p:spPr>
          <a:xfrm>
            <a:off x="4038600" y="3428999"/>
            <a:ext cx="1838535" cy="527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7023693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9929AB-C2C7-23BE-1212-7FA841E3E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6225000"/>
              </p:ext>
            </p:extLst>
          </p:nvPr>
        </p:nvGraphicFramePr>
        <p:xfrm>
          <a:off x="6867817" y="1862365"/>
          <a:ext cx="4776350" cy="187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544">
                  <a:extLst>
                    <a:ext uri="{9D8B030D-6E8A-4147-A177-3AD203B41FA5}">
                      <a16:colId xmlns:a16="http://schemas.microsoft.com/office/drawing/2014/main" val="3578500302"/>
                    </a:ext>
                  </a:extLst>
                </a:gridCol>
                <a:gridCol w="1053027">
                  <a:extLst>
                    <a:ext uri="{9D8B030D-6E8A-4147-A177-3AD203B41FA5}">
                      <a16:colId xmlns:a16="http://schemas.microsoft.com/office/drawing/2014/main" val="1582214629"/>
                    </a:ext>
                  </a:extLst>
                </a:gridCol>
                <a:gridCol w="2493779">
                  <a:extLst>
                    <a:ext uri="{9D8B030D-6E8A-4147-A177-3AD203B41FA5}">
                      <a16:colId xmlns:a16="http://schemas.microsoft.com/office/drawing/2014/main" val="2313062455"/>
                    </a:ext>
                  </a:extLst>
                </a:gridCol>
              </a:tblGrid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83593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009735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44142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69.000+420=69.420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35290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temp*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69.000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01144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CFFA801-8D0D-B237-BD52-B1CF256D0E81}"/>
              </a:ext>
            </a:extLst>
          </p:cNvPr>
          <p:cNvSpPr/>
          <p:nvPr/>
        </p:nvSpPr>
        <p:spPr>
          <a:xfrm>
            <a:off x="1321248" y="3428999"/>
            <a:ext cx="5474315" cy="527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841103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B45C7C-55F3-3664-3798-5FF9FF365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834" y="1862365"/>
            <a:ext cx="6319984" cy="3133269"/>
          </a:xfrm>
          <a:prstGeom prst="rect">
            <a:avLst/>
          </a:prstGeom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D9929AB-C2C7-23BE-1212-7FA841E3EA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6899868"/>
              </p:ext>
            </p:extLst>
          </p:nvPr>
        </p:nvGraphicFramePr>
        <p:xfrm>
          <a:off x="6867817" y="1862365"/>
          <a:ext cx="4776350" cy="1879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9544">
                  <a:extLst>
                    <a:ext uri="{9D8B030D-6E8A-4147-A177-3AD203B41FA5}">
                      <a16:colId xmlns:a16="http://schemas.microsoft.com/office/drawing/2014/main" val="3578500302"/>
                    </a:ext>
                  </a:extLst>
                </a:gridCol>
                <a:gridCol w="1053027">
                  <a:extLst>
                    <a:ext uri="{9D8B030D-6E8A-4147-A177-3AD203B41FA5}">
                      <a16:colId xmlns:a16="http://schemas.microsoft.com/office/drawing/2014/main" val="1582214629"/>
                    </a:ext>
                  </a:extLst>
                </a:gridCol>
                <a:gridCol w="2493779">
                  <a:extLst>
                    <a:ext uri="{9D8B030D-6E8A-4147-A177-3AD203B41FA5}">
                      <a16:colId xmlns:a16="http://schemas.microsoft.com/office/drawing/2014/main" val="2313062455"/>
                    </a:ext>
                  </a:extLst>
                </a:gridCol>
              </a:tblGrid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0483593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3009735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9244142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69.420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2335290"/>
                  </a:ext>
                </a:extLst>
              </a:tr>
              <a:tr h="361464"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temp*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i32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dirty="0"/>
                        <a:t>69.000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801144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3CFFA801-8D0D-B237-BD52-B1CF256D0E81}"/>
              </a:ext>
            </a:extLst>
          </p:cNvPr>
          <p:cNvSpPr/>
          <p:nvPr/>
        </p:nvSpPr>
        <p:spPr>
          <a:xfrm>
            <a:off x="1301443" y="3972805"/>
            <a:ext cx="3894928" cy="52769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3987CC-8E8C-4EAB-7936-FCF61E5E25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817" y="3777553"/>
            <a:ext cx="2762636" cy="847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038066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Understanding how a computer executes code helps with writing better programs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Computers process instructions sequentially, one after the other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On a high level, we specify what these instructions should be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memory table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can help understand what the computer does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very helpful to create one for exercises that compile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go step by step through the program, do you get the same output as the computer?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16144404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Understanding how a computer executes code helps with writing better programs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Computers process instructions sequentially, one after the other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On a high level, we specify what these instructions should be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memory table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can help understand what the computer does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Best debugging advice: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Go through your program, step by step, and pretend you‘re the computer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if something doesn‘t make sense to you, that‘s usually where the bug is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77908578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Understanding how a computer executes code helps with writing better programs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Computers process instructions sequentially, one after the other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On a high level, we specify what these instructions should be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memory table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can help understand what the computer does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Best debugging advice: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Go through your program, step by step, and pretend you‘re the computer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if something doesn‘t make sense to you, that‘s usually where the bug is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🦆: </a:t>
            </a:r>
            <a:r>
              <a:rPr lang="de-DE" dirty="0">
                <a:hlinkClick r:id="rId2"/>
              </a:rPr>
              <a:t>https://en.wikipedia.org/wiki/Rubber_duck_debugging</a:t>
            </a:r>
            <a:endParaRPr lang="de-DE" dirty="0"/>
          </a:p>
          <a:p>
            <a:pPr>
              <a:buFont typeface="Symbol" panose="05050102010706020507" pitchFamily="18" charset="2"/>
              <a:buChar char="-"/>
            </a:pPr>
            <a:endParaRPr lang="de-DE" dirty="0">
              <a:solidFill>
                <a:schemeClr val="bg1"/>
              </a:solidFill>
              <a:sym typeface="Wingdings" panose="05000000000000000000" pitchFamily="2" charset="2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43562285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Understanding how a computer executes code helps with writing better programs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Computers process instructions sequentially, one after the other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On a high level, we specify what these instructions should be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memory table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can help understand what the computer does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Best debugging advice: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Go through your program, step by step, and pretend you‘re the computer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if something doesn‘t make sense to you, that‘s usually where the bug is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🦆: </a:t>
            </a:r>
            <a:r>
              <a:rPr lang="de-DE" dirty="0">
                <a:hlinkClick r:id="rId2"/>
              </a:rPr>
              <a:t>https://en.wikipedia.org/wiki/Rubber_duck_debugging</a:t>
            </a:r>
            <a:endParaRPr lang="de-DE" dirty="0"/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Programming involves a lot of logic and reasoning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in theory  How computers work, how programming languages work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in practice  What I want my computer to do, and when, and how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06622661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How a program is executed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Understanding how a computer executes code helps with writing better programs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Computers process instructions sequentially, one after the other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On a high level, we specify what these instructions should be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A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memory table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can help understand what the computer does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Best debugging advice: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Go through your program, step by step, and pretend you‘re the computer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if something doesn‘t make sense to you, that‘s usually where the bug is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🦆: </a:t>
            </a:r>
            <a:r>
              <a:rPr lang="de-DE" dirty="0">
                <a:hlinkClick r:id="rId2"/>
              </a:rPr>
              <a:t>https://en.wikipedia.org/wiki/Rubber_duck_debugging</a:t>
            </a:r>
            <a:endParaRPr lang="de-DE" dirty="0"/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Programming involves a lot of logic and reasoning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in theory  How computers work, how programming languages work</a:t>
            </a:r>
          </a:p>
          <a:p>
            <a:pPr lvl="1"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in practice  What I want my computer to do, and when, and how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Better programming skills  Better logical thinking and reasoning skills, and vice versa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333315776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36BBC-4DBE-A972-869E-9847B25D50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Time for exercises!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2008249588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DA381F-5D71-2843-C559-A299D5B88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670" y="1429238"/>
            <a:ext cx="6110305" cy="42456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79F8BE-889B-3415-1B07-56C4E6C132D5}"/>
              </a:ext>
            </a:extLst>
          </p:cNvPr>
          <p:cNvSpPr/>
          <p:nvPr/>
        </p:nvSpPr>
        <p:spPr>
          <a:xfrm>
            <a:off x="777440" y="1429238"/>
            <a:ext cx="604229" cy="41164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1/3</a:t>
            </a:r>
          </a:p>
        </p:txBody>
      </p:sp>
    </p:spTree>
    <p:extLst>
      <p:ext uri="{BB962C8B-B14F-4D97-AF65-F5344CB8AC3E}">
        <p14:creationId xmlns:p14="http://schemas.microsoft.com/office/powerpoint/2010/main" val="293255758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6DA381F-5D71-2843-C559-A299D5B888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670" y="1429238"/>
            <a:ext cx="6110305" cy="42456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79F8BE-889B-3415-1B07-56C4E6C132D5}"/>
              </a:ext>
            </a:extLst>
          </p:cNvPr>
          <p:cNvSpPr/>
          <p:nvPr/>
        </p:nvSpPr>
        <p:spPr>
          <a:xfrm>
            <a:off x="777440" y="1429238"/>
            <a:ext cx="604229" cy="41164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64CB0C-C66B-4711-F7B2-B35AE86D5D75}"/>
              </a:ext>
            </a:extLst>
          </p:cNvPr>
          <p:cNvSpPr txBox="1"/>
          <p:nvPr/>
        </p:nvSpPr>
        <p:spPr>
          <a:xfrm>
            <a:off x="7491975" y="1429238"/>
            <a:ext cx="21643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code compile?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If yes, what does it print?</a:t>
            </a:r>
          </a:p>
        </p:txBody>
      </p:sp>
    </p:spTree>
    <p:extLst>
      <p:ext uri="{BB962C8B-B14F-4D97-AF65-F5344CB8AC3E}">
        <p14:creationId xmlns:p14="http://schemas.microsoft.com/office/powerpoint/2010/main" val="34079681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06EFD22-A88A-1ACB-4558-44F5A4CD79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669" y="1429238"/>
            <a:ext cx="6127839" cy="42456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79F8BE-889B-3415-1B07-56C4E6C132D5}"/>
              </a:ext>
            </a:extLst>
          </p:cNvPr>
          <p:cNvSpPr/>
          <p:nvPr/>
        </p:nvSpPr>
        <p:spPr>
          <a:xfrm>
            <a:off x="777440" y="1429238"/>
            <a:ext cx="604229" cy="411647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1/3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64CB0C-C66B-4711-F7B2-B35AE86D5D75}"/>
              </a:ext>
            </a:extLst>
          </p:cNvPr>
          <p:cNvSpPr txBox="1"/>
          <p:nvPr/>
        </p:nvSpPr>
        <p:spPr>
          <a:xfrm>
            <a:off x="7491975" y="1429238"/>
            <a:ext cx="21643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code compile?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If yes, what does it print?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303859A-06C5-F46D-1542-142D41044B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9508" y="3837908"/>
            <a:ext cx="4473709" cy="1836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A377CDE-0F67-4984-5515-C129E94F022E}"/>
              </a:ext>
            </a:extLst>
          </p:cNvPr>
          <p:cNvSpPr/>
          <p:nvPr/>
        </p:nvSpPr>
        <p:spPr>
          <a:xfrm>
            <a:off x="4511577" y="3770389"/>
            <a:ext cx="1305135" cy="5478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F3F4C1B-138D-CD11-A6A0-38137E96C6F3}"/>
              </a:ext>
            </a:extLst>
          </p:cNvPr>
          <p:cNvSpPr txBox="1"/>
          <p:nvPr/>
        </p:nvSpPr>
        <p:spPr>
          <a:xfrm>
            <a:off x="7491975" y="3002537"/>
            <a:ext cx="30043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Nope, you can‘t add </a:t>
            </a:r>
            <a:r>
              <a:rPr lang="de-DE" dirty="0">
                <a:solidFill>
                  <a:srgbClr val="FFFF00"/>
                </a:solidFill>
              </a:rPr>
              <a:t>i32</a:t>
            </a:r>
            <a:r>
              <a:rPr lang="de-DE" dirty="0">
                <a:solidFill>
                  <a:schemeClr val="bg1"/>
                </a:solidFill>
              </a:rPr>
              <a:t> and </a:t>
            </a:r>
            <a:r>
              <a:rPr lang="de-DE" dirty="0">
                <a:solidFill>
                  <a:srgbClr val="FFFF00"/>
                </a:solidFill>
              </a:rPr>
              <a:t>u32 </a:t>
            </a:r>
            <a:r>
              <a:rPr lang="de-DE" dirty="0">
                <a:solidFill>
                  <a:schemeClr val="bg1"/>
                </a:solidFill>
              </a:rPr>
              <a:t>:^)</a:t>
            </a:r>
          </a:p>
        </p:txBody>
      </p:sp>
    </p:spTree>
    <p:extLst>
      <p:ext uri="{BB962C8B-B14F-4D97-AF65-F5344CB8AC3E}">
        <p14:creationId xmlns:p14="http://schemas.microsoft.com/office/powerpoint/2010/main" val="839884367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9CE577-782E-E643-7C13-1D5D9D6CD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669" y="1429238"/>
            <a:ext cx="6370822" cy="40370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79F8BE-889B-3415-1B07-56C4E6C132D5}"/>
              </a:ext>
            </a:extLst>
          </p:cNvPr>
          <p:cNvSpPr/>
          <p:nvPr/>
        </p:nvSpPr>
        <p:spPr>
          <a:xfrm>
            <a:off x="777440" y="1429238"/>
            <a:ext cx="604229" cy="411647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2/3</a:t>
            </a:r>
          </a:p>
        </p:txBody>
      </p:sp>
    </p:spTree>
    <p:extLst>
      <p:ext uri="{BB962C8B-B14F-4D97-AF65-F5344CB8AC3E}">
        <p14:creationId xmlns:p14="http://schemas.microsoft.com/office/powerpoint/2010/main" val="16803900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9CE577-782E-E643-7C13-1D5D9D6CD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669" y="1429238"/>
            <a:ext cx="6370822" cy="40370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79F8BE-889B-3415-1B07-56C4E6C132D5}"/>
              </a:ext>
            </a:extLst>
          </p:cNvPr>
          <p:cNvSpPr/>
          <p:nvPr/>
        </p:nvSpPr>
        <p:spPr>
          <a:xfrm>
            <a:off x="777440" y="1429238"/>
            <a:ext cx="604229" cy="411647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2/3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B16E95-A0FD-D91B-C9C9-16FA92A5939F}"/>
              </a:ext>
            </a:extLst>
          </p:cNvPr>
          <p:cNvSpPr txBox="1"/>
          <p:nvPr/>
        </p:nvSpPr>
        <p:spPr>
          <a:xfrm>
            <a:off x="7752491" y="1429238"/>
            <a:ext cx="21355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code compile?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a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d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e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</p:txBody>
      </p:sp>
    </p:spTree>
    <p:extLst>
      <p:ext uri="{BB962C8B-B14F-4D97-AF65-F5344CB8AC3E}">
        <p14:creationId xmlns:p14="http://schemas.microsoft.com/office/powerpoint/2010/main" val="1500829466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A9CE577-782E-E643-7C13-1D5D9D6CD6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669" y="1429238"/>
            <a:ext cx="6370822" cy="40370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79F8BE-889B-3415-1B07-56C4E6C132D5}"/>
              </a:ext>
            </a:extLst>
          </p:cNvPr>
          <p:cNvSpPr/>
          <p:nvPr/>
        </p:nvSpPr>
        <p:spPr>
          <a:xfrm>
            <a:off x="777440" y="1429238"/>
            <a:ext cx="604229" cy="411647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2/3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B16E95-A0FD-D91B-C9C9-16FA92A5939F}"/>
              </a:ext>
            </a:extLst>
          </p:cNvPr>
          <p:cNvSpPr txBox="1"/>
          <p:nvPr/>
        </p:nvSpPr>
        <p:spPr>
          <a:xfrm>
            <a:off x="7752491" y="1429238"/>
            <a:ext cx="21355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code compile?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a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d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e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C73885-6035-ADB6-4AA8-E236F8B5142E}"/>
              </a:ext>
            </a:extLst>
          </p:cNvPr>
          <p:cNvSpPr txBox="1"/>
          <p:nvPr/>
        </p:nvSpPr>
        <p:spPr>
          <a:xfrm>
            <a:off x="7752490" y="3139971"/>
            <a:ext cx="38084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It does compile!</a:t>
            </a:r>
          </a:p>
          <a:p>
            <a:r>
              <a:rPr lang="de-DE" dirty="0">
                <a:solidFill>
                  <a:schemeClr val="bg1"/>
                </a:solidFill>
              </a:rPr>
              <a:t>The compiler was able to figure out the types for all variables!</a:t>
            </a:r>
            <a:endParaRPr lang="de-D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197682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E332DD7-060D-3585-AE8C-A8A8A18010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669" y="1429238"/>
            <a:ext cx="6384978" cy="39995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9482DF-224B-FF67-1BB6-90C91E952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Intermission - Exercise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21E07-F4BA-B693-5680-AE9D83D1BCF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CD184715-D7CD-446C-A3BE-B84B6040B86E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F118B-3BC5-B4BE-5D16-8D09ABFCAC5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A79F8BE-889B-3415-1B07-56C4E6C132D5}"/>
              </a:ext>
            </a:extLst>
          </p:cNvPr>
          <p:cNvSpPr/>
          <p:nvPr/>
        </p:nvSpPr>
        <p:spPr>
          <a:xfrm>
            <a:off x="777440" y="1429238"/>
            <a:ext cx="604229" cy="411647"/>
          </a:xfrm>
          <a:prstGeom prst="rect">
            <a:avLst/>
          </a:prstGeom>
          <a:solidFill>
            <a:srgbClr val="FF0000"/>
          </a:solidFill>
          <a:ln>
            <a:solidFill>
              <a:srgbClr val="B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>
                <a:solidFill>
                  <a:schemeClr val="tx1"/>
                </a:solidFill>
              </a:rPr>
              <a:t>2/3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B16E95-A0FD-D91B-C9C9-16FA92A5939F}"/>
              </a:ext>
            </a:extLst>
          </p:cNvPr>
          <p:cNvSpPr txBox="1"/>
          <p:nvPr/>
        </p:nvSpPr>
        <p:spPr>
          <a:xfrm>
            <a:off x="7752491" y="1429238"/>
            <a:ext cx="2135521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Does this code compile?</a:t>
            </a:r>
            <a:br>
              <a:rPr lang="de-DE" dirty="0">
                <a:solidFill>
                  <a:schemeClr val="bg1"/>
                </a:solidFill>
              </a:rPr>
            </a:br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a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d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  <a:p>
            <a:r>
              <a:rPr lang="de-DE" dirty="0">
                <a:solidFill>
                  <a:schemeClr val="bg1"/>
                </a:solidFill>
              </a:rPr>
              <a:t>What type does </a:t>
            </a:r>
            <a:r>
              <a:rPr lang="de-DE" dirty="0">
                <a:solidFill>
                  <a:srgbClr val="FFFF00"/>
                </a:solidFill>
              </a:rPr>
              <a:t>e</a:t>
            </a:r>
            <a:r>
              <a:rPr lang="de-DE" dirty="0">
                <a:solidFill>
                  <a:schemeClr val="bg1"/>
                </a:solidFill>
              </a:rPr>
              <a:t> have?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3C1699-9B6F-BB67-D71F-417B7B7C2310}"/>
              </a:ext>
            </a:extLst>
          </p:cNvPr>
          <p:cNvSpPr txBox="1"/>
          <p:nvPr/>
        </p:nvSpPr>
        <p:spPr>
          <a:xfrm>
            <a:off x="7752490" y="3139971"/>
            <a:ext cx="380842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>
                <a:solidFill>
                  <a:schemeClr val="bg1"/>
                </a:solidFill>
              </a:rPr>
              <a:t>It does compile!</a:t>
            </a:r>
          </a:p>
          <a:p>
            <a:r>
              <a:rPr lang="de-DE" dirty="0">
                <a:solidFill>
                  <a:schemeClr val="bg1"/>
                </a:solidFill>
              </a:rPr>
              <a:t>The compiler was able to figure out the types for all variables!</a:t>
            </a:r>
          </a:p>
          <a:p>
            <a:r>
              <a:rPr lang="de-DE" dirty="0">
                <a:solidFill>
                  <a:schemeClr val="bg1"/>
                </a:solidFill>
              </a:rPr>
              <a:t>Variable </a:t>
            </a:r>
            <a:r>
              <a:rPr lang="de-DE" dirty="0">
                <a:solidFill>
                  <a:srgbClr val="FFFF00"/>
                </a:solidFill>
              </a:rPr>
              <a:t>a</a:t>
            </a:r>
            <a:r>
              <a:rPr lang="de-DE" dirty="0">
                <a:solidFill>
                  <a:schemeClr val="bg1"/>
                </a:solidFill>
              </a:rPr>
              <a:t> is of type </a:t>
            </a:r>
            <a:r>
              <a:rPr lang="de-DE" dirty="0">
                <a:solidFill>
                  <a:srgbClr val="FFFF00"/>
                </a:solidFill>
              </a:rPr>
              <a:t>i32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used in the context of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b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d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is of type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usize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Read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a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, take its value, interpret as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usize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Variable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e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is of type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i32</a:t>
            </a:r>
          </a:p>
          <a:p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 Arrays will be covered next time, but all elements of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arr</a:t>
            </a:r>
            <a:r>
              <a:rPr lang="de-DE" dirty="0">
                <a:solidFill>
                  <a:schemeClr val="bg1"/>
                </a:solidFill>
                <a:sym typeface="Wingdings" panose="05000000000000000000" pitchFamily="2" charset="2"/>
              </a:rPr>
              <a:t> are of type </a:t>
            </a:r>
            <a:r>
              <a:rPr lang="de-DE" dirty="0">
                <a:solidFill>
                  <a:srgbClr val="FFFF00"/>
                </a:solidFill>
                <a:sym typeface="Wingdings" panose="05000000000000000000" pitchFamily="2" charset="2"/>
              </a:rPr>
              <a:t>i32</a:t>
            </a:r>
            <a:endParaRPr lang="de-DE" dirty="0">
              <a:solidFill>
                <a:srgbClr val="FFFF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330527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1E4F6-F9C6-6437-1DBD-9CC525A43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 startAt="4"/>
            </a:pPr>
            <a:r>
              <a:rPr lang="de-DE" dirty="0"/>
              <a:t>Next time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9E734-8D18-46CD-590F-33FD3194B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Arrays</a:t>
            </a:r>
          </a:p>
          <a:p>
            <a:pPr>
              <a:buFont typeface="Symbol" panose="05050102010706020507" pitchFamily="18" charset="2"/>
              <a:buChar char="-"/>
            </a:pPr>
            <a:r>
              <a:rPr lang="de-DE" dirty="0"/>
              <a:t>Vectors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1A82CF-E3ED-0D91-A44C-B555FA3902C5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7ECAC185-C8C9-4DB8-912D-5CF042A71D39}" type="datetime1">
              <a:rPr lang="de-DE" smtClean="0"/>
              <a:t>21.10.2025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C5E42-E2D3-E3C6-2841-6A851535E53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RUSTikales Rust for beginners</a:t>
            </a:r>
          </a:p>
        </p:txBody>
      </p:sp>
    </p:spTree>
    <p:extLst>
      <p:ext uri="{BB962C8B-B14F-4D97-AF65-F5344CB8AC3E}">
        <p14:creationId xmlns:p14="http://schemas.microsoft.com/office/powerpoint/2010/main" val="1511752460"/>
      </p:ext>
    </p:extLst>
  </p:cSld>
  <p:clrMapOvr>
    <a:masterClrMapping/>
  </p:clrMapOvr>
</p:sld>
</file>

<file path=ppt/theme/theme1.xml><?xml version="1.0" encoding="utf-8"?>
<a:theme xmlns:a="http://schemas.openxmlformats.org/drawingml/2006/main" name="course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8" id="{DBFD8670-388A-45DB-B6D8-A4419426ACB6}" vid="{3722A3BE-AE64-47AA-9AAF-C7F0BEC6202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courses</Template>
  <TotalTime>0</TotalTime>
  <Words>3780</Words>
  <Application>Microsoft Office PowerPoint</Application>
  <PresentationFormat>Widescreen</PresentationFormat>
  <Paragraphs>766</Paragraphs>
  <Slides>93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93</vt:i4>
      </vt:variant>
    </vt:vector>
  </HeadingPairs>
  <TitlesOfParts>
    <vt:vector size="100" baseType="lpstr">
      <vt:lpstr>Arial</vt:lpstr>
      <vt:lpstr>Calibri</vt:lpstr>
      <vt:lpstr>Lato</vt:lpstr>
      <vt:lpstr>Montserrat</vt:lpstr>
      <vt:lpstr>Symbol</vt:lpstr>
      <vt:lpstr>Wingdings</vt:lpstr>
      <vt:lpstr>courses</vt:lpstr>
      <vt:lpstr>RUSTikales Rust for beginners</vt:lpstr>
      <vt:lpstr>Plan for today</vt:lpstr>
      <vt:lpstr>Plan for today</vt:lpstr>
      <vt:lpstr>Plan for today</vt:lpstr>
      <vt:lpstr>Plan for today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Recap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Basic Types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Variables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How a program is executed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Intermission - Exercise</vt:lpstr>
      <vt:lpstr>Next time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RUSTikales Rust for beginners</dc:title>
  <dc:creator>Philippe Felix Haupt</dc:creator>
  <cp:lastModifiedBy>Philippe Felix Haupt</cp:lastModifiedBy>
  <cp:revision>8</cp:revision>
  <dcterms:created xsi:type="dcterms:W3CDTF">2024-05-01T13:15:26Z</dcterms:created>
  <dcterms:modified xsi:type="dcterms:W3CDTF">2025-10-21T17:07:36Z</dcterms:modified>
</cp:coreProperties>
</file>